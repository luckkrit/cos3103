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6" r:id="rId2"/>
    <p:sldId id="259" r:id="rId3"/>
    <p:sldId id="260" r:id="rId4"/>
    <p:sldId id="258" r:id="rId5"/>
    <p:sldId id="262" r:id="rId6"/>
    <p:sldId id="261" r:id="rId7"/>
    <p:sldId id="265" r:id="rId8"/>
    <p:sldId id="263" r:id="rId9"/>
    <p:sldId id="257" r:id="rId10"/>
    <p:sldId id="266" r:id="rId11"/>
    <p:sldId id="267" r:id="rId12"/>
    <p:sldId id="268" r:id="rId13"/>
    <p:sldId id="269" r:id="rId14"/>
    <p:sldId id="270" r:id="rId15"/>
    <p:sldId id="296" r:id="rId16"/>
    <p:sldId id="523" r:id="rId17"/>
    <p:sldId id="300" r:id="rId18"/>
    <p:sldId id="307" r:id="rId19"/>
    <p:sldId id="524" r:id="rId20"/>
    <p:sldId id="310" r:id="rId21"/>
    <p:sldId id="740" r:id="rId22"/>
    <p:sldId id="299" r:id="rId23"/>
    <p:sldId id="302" r:id="rId24"/>
    <p:sldId id="419" r:id="rId25"/>
    <p:sldId id="301" r:id="rId26"/>
    <p:sldId id="303" r:id="rId27"/>
    <p:sldId id="304" r:id="rId28"/>
    <p:sldId id="305" r:id="rId29"/>
    <p:sldId id="306" r:id="rId30"/>
    <p:sldId id="768" r:id="rId31"/>
    <p:sldId id="769" r:id="rId32"/>
    <p:sldId id="770" r:id="rId33"/>
    <p:sldId id="771" r:id="rId34"/>
    <p:sldId id="772" r:id="rId35"/>
    <p:sldId id="774" r:id="rId36"/>
    <p:sldId id="773" r:id="rId37"/>
    <p:sldId id="775" r:id="rId38"/>
    <p:sldId id="776" r:id="rId39"/>
    <p:sldId id="777" r:id="rId40"/>
    <p:sldId id="778" r:id="rId41"/>
    <p:sldId id="779" r:id="rId42"/>
    <p:sldId id="780" r:id="rId43"/>
    <p:sldId id="765" r:id="rId44"/>
    <p:sldId id="741" r:id="rId45"/>
    <p:sldId id="766" r:id="rId46"/>
    <p:sldId id="743" r:id="rId47"/>
    <p:sldId id="767"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719" autoAdjust="0"/>
  </p:normalViewPr>
  <p:slideViewPr>
    <p:cSldViewPr snapToGrid="0">
      <p:cViewPr varScale="1">
        <p:scale>
          <a:sx n="78" d="100"/>
          <a:sy n="78" d="100"/>
        </p:scale>
        <p:origin x="350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66AAE4-5562-4B74-8739-FD83D841566F}" type="datetimeFigureOut">
              <a:rPr lang="en-US" smtClean="0"/>
              <a:t>25/08/2026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365982-E270-4D76-B330-4BD640934B0E}" type="slidenum">
              <a:rPr lang="en-US" smtClean="0"/>
              <a:t>‹#›</a:t>
            </a:fld>
            <a:endParaRPr lang="en-US"/>
          </a:p>
        </p:txBody>
      </p:sp>
    </p:spTree>
    <p:extLst>
      <p:ext uri="{BB962C8B-B14F-4D97-AF65-F5344CB8AC3E}">
        <p14:creationId xmlns:p14="http://schemas.microsoft.com/office/powerpoint/2010/main" val="23770431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อันนี้อธิบายว่าคือ </a:t>
            </a:r>
            <a:r>
              <a:rPr lang="en-US" dirty="0"/>
              <a:t>Set </a:t>
            </a:r>
            <a:r>
              <a:rPr lang="th-TH" dirty="0"/>
              <a:t>ของแต่ละ </a:t>
            </a:r>
            <a:r>
              <a:rPr lang="en-US" dirty="0"/>
              <a:t>Attributes</a:t>
            </a:r>
          </a:p>
          <a:p>
            <a:endParaRPr lang="en-US" dirty="0"/>
          </a:p>
          <a:p>
            <a:pPr rtl="0"/>
            <a:r>
              <a:rPr lang="en-US" sz="1200" kern="1200" dirty="0">
                <a:solidFill>
                  <a:schemeClr val="tx1"/>
                </a:solidFill>
                <a:latin typeface="+mn-lt"/>
                <a:ea typeface="+mn-ea"/>
                <a:cs typeface="+mn-cs"/>
              </a:rPr>
              <a:t>{ }</a:t>
            </a:r>
            <a:r>
              <a:rPr lang="en-US" dirty="0"/>
              <a:t> </a:t>
            </a:r>
            <a:r>
              <a:rPr lang="en-US" dirty="0" err="1"/>
              <a:t>คือสัญลักษณ์ทางคณิตศาสตร์ของ</a:t>
            </a:r>
            <a:r>
              <a:rPr lang="en-US" dirty="0"/>
              <a:t> </a:t>
            </a:r>
            <a:r>
              <a:rPr lang="en-US" b="1" dirty="0" err="1"/>
              <a:t>เซต</a:t>
            </a:r>
            <a:r>
              <a:rPr lang="en-US" dirty="0"/>
              <a:t> (set) </a:t>
            </a:r>
            <a:r>
              <a:rPr lang="en-US" dirty="0" err="1"/>
              <a:t>แปลว่า</a:t>
            </a:r>
            <a:r>
              <a:rPr lang="en-US" dirty="0"/>
              <a:t> "</a:t>
            </a:r>
            <a:r>
              <a:rPr lang="en-US" dirty="0" err="1"/>
              <a:t>กลุ่มของค่าที่เป็นไปได้</a:t>
            </a:r>
            <a:r>
              <a:rPr lang="en-US" dirty="0"/>
              <a:t>" — </a:t>
            </a:r>
            <a:r>
              <a:rPr lang="en-US" dirty="0" err="1"/>
              <a:t>แต่ละบรรทัดคือ</a:t>
            </a:r>
            <a:r>
              <a:rPr lang="en-US" dirty="0"/>
              <a:t> 1 attribute (</a:t>
            </a:r>
            <a:r>
              <a:rPr lang="en-US" dirty="0" err="1"/>
              <a:t>คอลัมน์</a:t>
            </a:r>
            <a:r>
              <a:rPr lang="en-US" dirty="0"/>
              <a:t>) </a:t>
            </a:r>
            <a:r>
              <a:rPr lang="en-US" dirty="0" err="1"/>
              <a:t>ที่มีค่าที่เป็นไปได้กี่ค่าก็ใส่คั่นด้วย</a:t>
            </a:r>
            <a:r>
              <a:rPr lang="en-US" dirty="0"/>
              <a:t> comma</a:t>
            </a:r>
          </a:p>
          <a:p>
            <a:pPr lvl="0" rtl="0"/>
            <a:r>
              <a:rPr lang="en-US" dirty="0"/>
              <a:t>Name </a:t>
            </a:r>
            <a:r>
              <a:rPr lang="en-US" dirty="0" err="1"/>
              <a:t>เป็นเซตที่มีสมาชิก</a:t>
            </a:r>
            <a:r>
              <a:rPr lang="en-US" dirty="0"/>
              <a:t> 2 </a:t>
            </a:r>
            <a:r>
              <a:rPr lang="en-US" dirty="0" err="1"/>
              <a:t>คน</a:t>
            </a:r>
            <a:endParaRPr lang="en-US" dirty="0"/>
          </a:p>
          <a:p>
            <a:pPr lvl="0" rtl="0"/>
            <a:r>
              <a:rPr lang="en-US" dirty="0"/>
              <a:t>Address </a:t>
            </a:r>
            <a:r>
              <a:rPr lang="en-US" dirty="0" err="1"/>
              <a:t>เป็นเซตที่มีที่อยู่</a:t>
            </a:r>
            <a:r>
              <a:rPr lang="en-US" dirty="0"/>
              <a:t> 2 </a:t>
            </a:r>
            <a:r>
              <a:rPr lang="en-US" dirty="0" err="1"/>
              <a:t>แบบ</a:t>
            </a:r>
            <a:endParaRPr lang="en-US" dirty="0"/>
          </a:p>
          <a:p>
            <a:pPr lvl="0" rtl="0"/>
            <a:r>
              <a:rPr lang="en-US" dirty="0"/>
              <a:t>Age </a:t>
            </a:r>
            <a:r>
              <a:rPr lang="en-US" dirty="0" err="1"/>
              <a:t>เป็นเซตที่มีอายุ</a:t>
            </a:r>
            <a:r>
              <a:rPr lang="en-US" dirty="0"/>
              <a:t> 2 </a:t>
            </a:r>
            <a:r>
              <a:rPr lang="en-US" dirty="0" err="1"/>
              <a:t>ค่า</a:t>
            </a:r>
            <a:endParaRPr lang="en-US" dirty="0"/>
          </a:p>
          <a:p>
            <a:pPr rtl="0"/>
            <a:r>
              <a:rPr lang="en-US" dirty="0" err="1"/>
              <a:t>ตรงนี้ยังไม่ใช่ตาราง</a:t>
            </a:r>
            <a:r>
              <a:rPr lang="en-US" dirty="0"/>
              <a:t> </a:t>
            </a:r>
            <a:r>
              <a:rPr lang="en-US" dirty="0" err="1"/>
              <a:t>แค่บอกว่า</a:t>
            </a:r>
            <a:r>
              <a:rPr lang="en-US" dirty="0"/>
              <a:t> "</a:t>
            </a:r>
            <a:r>
              <a:rPr lang="en-US" dirty="0" err="1"/>
              <a:t>ถ้าจะมี</a:t>
            </a:r>
            <a:r>
              <a:rPr lang="en-US" dirty="0"/>
              <a:t> column </a:t>
            </a:r>
            <a:r>
              <a:rPr lang="en-US" dirty="0" err="1"/>
              <a:t>ชื่อ</a:t>
            </a:r>
            <a:r>
              <a:rPr lang="en-US" dirty="0"/>
              <a:t> Name column </a:t>
            </a:r>
            <a:r>
              <a:rPr lang="en-US" dirty="0" err="1"/>
              <a:t>ชื่อ</a:t>
            </a:r>
            <a:r>
              <a:rPr lang="en-US" dirty="0"/>
              <a:t> Address column </a:t>
            </a:r>
            <a:r>
              <a:rPr lang="en-US" dirty="0" err="1"/>
              <a:t>ชื่อ</a:t>
            </a:r>
            <a:r>
              <a:rPr lang="en-US" dirty="0"/>
              <a:t> Age </a:t>
            </a:r>
            <a:r>
              <a:rPr lang="en-US" dirty="0" err="1"/>
              <a:t>แต่ละอันมีค่าอะไรได้บ้าง</a:t>
            </a:r>
            <a:r>
              <a:rPr lang="en-US" dirty="0"/>
              <a:t>"</a:t>
            </a:r>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2</a:t>
            </a:fld>
            <a:endParaRPr lang="en-US"/>
          </a:p>
        </p:txBody>
      </p:sp>
    </p:spTree>
    <p:extLst>
      <p:ext uri="{BB962C8B-B14F-4D97-AF65-F5344CB8AC3E}">
        <p14:creationId xmlns:p14="http://schemas.microsoft.com/office/powerpoint/2010/main" val="2421870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err="1"/>
              <a:t>ความหมายของสัญลักษณ์</a:t>
            </a:r>
            <a:r>
              <a:rPr lang="en-US" b="1" dirty="0"/>
              <a:t>:</a:t>
            </a:r>
            <a:endParaRPr lang="en-US" dirty="0"/>
          </a:p>
          <a:p>
            <a:pPr lvl="0" rtl="0"/>
            <a:r>
              <a:rPr lang="en-US" sz="1200" kern="1200" dirty="0">
                <a:solidFill>
                  <a:schemeClr val="tx1"/>
                </a:solidFill>
                <a:latin typeface="+mn-lt"/>
                <a:ea typeface="+mn-ea"/>
                <a:cs typeface="+mn-cs"/>
              </a:rPr>
              <a:t>{ }</a:t>
            </a:r>
            <a:r>
              <a:rPr lang="en-US" dirty="0"/>
              <a:t> </a:t>
            </a:r>
            <a:r>
              <a:rPr lang="en-US" dirty="0" err="1"/>
              <a:t>ชั้นนอกสุด</a:t>
            </a:r>
            <a:r>
              <a:rPr lang="en-US" dirty="0"/>
              <a:t> = </a:t>
            </a:r>
            <a:r>
              <a:rPr lang="en-US" dirty="0" err="1"/>
              <a:t>เซตของ</a:t>
            </a:r>
            <a:r>
              <a:rPr lang="en-US" dirty="0"/>
              <a:t> "</a:t>
            </a:r>
            <a:r>
              <a:rPr lang="en-US" dirty="0" err="1"/>
              <a:t>ทุก</a:t>
            </a:r>
            <a:r>
              <a:rPr lang="en-US" dirty="0"/>
              <a:t> combination </a:t>
            </a:r>
            <a:r>
              <a:rPr lang="en-US" dirty="0" err="1"/>
              <a:t>ที่เป็นไปได้</a:t>
            </a:r>
            <a:r>
              <a:rPr lang="en-US" dirty="0"/>
              <a:t>" (</a:t>
            </a:r>
            <a:r>
              <a:rPr lang="en-US" dirty="0" err="1"/>
              <a:t>มี</a:t>
            </a:r>
            <a:r>
              <a:rPr lang="en-US" dirty="0"/>
              <a:t> 8 </a:t>
            </a:r>
            <a:r>
              <a:rPr lang="en-US" dirty="0" err="1"/>
              <a:t>สมาชิกในเซตนี้</a:t>
            </a:r>
            <a:r>
              <a:rPr lang="en-US" dirty="0"/>
              <a:t>)</a:t>
            </a:r>
          </a:p>
          <a:p>
            <a:pPr lvl="0" rtl="0"/>
            <a:r>
              <a:rPr lang="en-US" sz="1200" kern="1200" dirty="0">
                <a:solidFill>
                  <a:schemeClr val="tx1"/>
                </a:solidFill>
                <a:latin typeface="+mn-lt"/>
                <a:ea typeface="+mn-ea"/>
                <a:cs typeface="+mn-cs"/>
              </a:rPr>
              <a:t>&lt; &gt;</a:t>
            </a:r>
            <a:r>
              <a:rPr lang="en-US" dirty="0"/>
              <a:t> </a:t>
            </a:r>
            <a:r>
              <a:rPr lang="en-US" dirty="0" err="1"/>
              <a:t>แต่ละอัน</a:t>
            </a:r>
            <a:r>
              <a:rPr lang="en-US" dirty="0"/>
              <a:t> = </a:t>
            </a:r>
            <a:r>
              <a:rPr lang="en-US" b="1" dirty="0"/>
              <a:t>1 </a:t>
            </a:r>
            <a:r>
              <a:rPr lang="en-US" b="1" dirty="0" err="1"/>
              <a:t>ชุดข้อมูลที่จับคู่กัน</a:t>
            </a:r>
            <a:r>
              <a:rPr lang="en-US" dirty="0"/>
              <a:t> </a:t>
            </a:r>
            <a:r>
              <a:rPr lang="en-US" dirty="0" err="1"/>
              <a:t>เรียกว่า</a:t>
            </a:r>
            <a:r>
              <a:rPr lang="en-US" dirty="0"/>
              <a:t> </a:t>
            </a:r>
            <a:r>
              <a:rPr lang="en-US" b="1" dirty="0"/>
              <a:t>tuple</a:t>
            </a:r>
            <a:r>
              <a:rPr lang="en-US" dirty="0"/>
              <a:t> </a:t>
            </a:r>
            <a:r>
              <a:rPr lang="en-US" dirty="0" err="1"/>
              <a:t>หรือ</a:t>
            </a:r>
            <a:r>
              <a:rPr lang="en-US" dirty="0"/>
              <a:t> </a:t>
            </a:r>
            <a:r>
              <a:rPr lang="en-US" b="1" dirty="0"/>
              <a:t>ordered pair</a:t>
            </a:r>
            <a:r>
              <a:rPr lang="en-US" dirty="0"/>
              <a:t> (</a:t>
            </a:r>
            <a:r>
              <a:rPr lang="en-US" dirty="0" err="1"/>
              <a:t>ในที่นี้เป็น</a:t>
            </a:r>
            <a:r>
              <a:rPr lang="en-US" dirty="0"/>
              <a:t> 3 </a:t>
            </a:r>
            <a:r>
              <a:rPr lang="en-US" dirty="0" err="1"/>
              <a:t>ค่า</a:t>
            </a:r>
            <a:r>
              <a:rPr lang="en-US" dirty="0"/>
              <a:t> </a:t>
            </a:r>
            <a:r>
              <a:rPr lang="en-US" dirty="0" err="1"/>
              <a:t>เลยเรียก</a:t>
            </a:r>
            <a:r>
              <a:rPr lang="en-US" dirty="0"/>
              <a:t> ordered triple) — </a:t>
            </a:r>
            <a:r>
              <a:rPr lang="en-US" dirty="0" err="1"/>
              <a:t>สังเกตว่ามันมี</a:t>
            </a:r>
            <a:r>
              <a:rPr lang="en-US" dirty="0"/>
              <a:t> "</a:t>
            </a:r>
            <a:r>
              <a:rPr lang="en-US" dirty="0" err="1"/>
              <a:t>ลำดับ</a:t>
            </a:r>
            <a:r>
              <a:rPr lang="en-US" dirty="0"/>
              <a:t>" </a:t>
            </a:r>
            <a:r>
              <a:rPr lang="en-US" dirty="0" err="1"/>
              <a:t>กำกับไว้เสมอ</a:t>
            </a:r>
            <a:r>
              <a:rPr lang="en-US" dirty="0"/>
              <a:t> </a:t>
            </a:r>
            <a:r>
              <a:rPr lang="en-US" dirty="0" err="1"/>
              <a:t>คือ</a:t>
            </a:r>
            <a:r>
              <a:rPr lang="en-US" dirty="0"/>
              <a:t> (Name, Address, Age) </a:t>
            </a:r>
            <a:r>
              <a:rPr lang="en-US" dirty="0" err="1"/>
              <a:t>เรียงแบบนี้ตลอด</a:t>
            </a:r>
            <a:r>
              <a:rPr lang="en-US" dirty="0"/>
              <a:t> </a:t>
            </a:r>
            <a:r>
              <a:rPr lang="en-US" dirty="0" err="1"/>
              <a:t>จะสลับที่ไม่ได้</a:t>
            </a:r>
            <a:r>
              <a:rPr lang="en-US" dirty="0"/>
              <a:t> </a:t>
            </a:r>
            <a:r>
              <a:rPr lang="en-US" dirty="0" err="1"/>
              <a:t>ต่างจาก</a:t>
            </a:r>
            <a:r>
              <a:rPr lang="en-US" dirty="0"/>
              <a:t> </a:t>
            </a:r>
            <a:r>
              <a:rPr lang="en-US" sz="1200" kern="1200" dirty="0">
                <a:solidFill>
                  <a:schemeClr val="tx1"/>
                </a:solidFill>
                <a:latin typeface="+mn-lt"/>
                <a:ea typeface="+mn-ea"/>
                <a:cs typeface="+mn-cs"/>
              </a:rPr>
              <a:t>{ }</a:t>
            </a:r>
            <a:r>
              <a:rPr lang="en-US" dirty="0"/>
              <a:t> </a:t>
            </a:r>
            <a:r>
              <a:rPr lang="en-US" dirty="0" err="1"/>
              <a:t>ที่ไม่สนใจลำดับ</a:t>
            </a:r>
            <a:endParaRPr lang="en-US" dirty="0"/>
          </a:p>
          <a:p>
            <a:pPr rtl="0"/>
            <a:r>
              <a:rPr lang="en-US" b="1" dirty="0"/>
              <a:t>Cartesian Product (</a:t>
            </a:r>
            <a:r>
              <a:rPr lang="en-US" b="1" dirty="0" err="1"/>
              <a:t>สัญลักษณ์</a:t>
            </a:r>
            <a:r>
              <a:rPr lang="en-US" b="1" dirty="0"/>
              <a:t> </a:t>
            </a:r>
            <a:r>
              <a:rPr lang="en-US" sz="1200" b="1" kern="1200" dirty="0">
                <a:solidFill>
                  <a:schemeClr val="tx1"/>
                </a:solidFill>
                <a:latin typeface="+mn-lt"/>
                <a:ea typeface="+mn-ea"/>
                <a:cs typeface="+mn-cs"/>
              </a:rPr>
              <a:t>×</a:t>
            </a:r>
            <a:r>
              <a:rPr lang="en-US" b="1" dirty="0"/>
              <a:t>)</a:t>
            </a:r>
            <a:r>
              <a:rPr lang="en-US" dirty="0"/>
              <a:t> </a:t>
            </a:r>
            <a:r>
              <a:rPr lang="en-US" dirty="0" err="1"/>
              <a:t>คือการเอาทุกเซต</a:t>
            </a:r>
            <a:r>
              <a:rPr lang="en-US" dirty="0"/>
              <a:t> (Name, Address, Age) </a:t>
            </a:r>
            <a:r>
              <a:rPr lang="en-US" dirty="0" err="1"/>
              <a:t>มา</a:t>
            </a:r>
            <a:r>
              <a:rPr lang="en-US" dirty="0"/>
              <a:t> "</a:t>
            </a:r>
            <a:r>
              <a:rPr lang="en-US" dirty="0" err="1"/>
              <a:t>คูณ</a:t>
            </a:r>
            <a:r>
              <a:rPr lang="en-US" dirty="0"/>
              <a:t>" </a:t>
            </a:r>
            <a:r>
              <a:rPr lang="en-US" dirty="0" err="1"/>
              <a:t>กันแบบจับคู่ทุกความเป็นไปได้</a:t>
            </a:r>
            <a:r>
              <a:rPr lang="en-US" dirty="0"/>
              <a:t> — </a:t>
            </a:r>
            <a:r>
              <a:rPr lang="en-US" dirty="0" err="1"/>
              <a:t>ถ้า</a:t>
            </a:r>
            <a:r>
              <a:rPr lang="en-US" dirty="0"/>
              <a:t> Name </a:t>
            </a:r>
            <a:r>
              <a:rPr lang="en-US" dirty="0" err="1"/>
              <a:t>มี</a:t>
            </a:r>
            <a:r>
              <a:rPr lang="en-US" dirty="0"/>
              <a:t> 2 </a:t>
            </a:r>
            <a:r>
              <a:rPr lang="en-US" dirty="0" err="1"/>
              <a:t>ค่า</a:t>
            </a:r>
            <a:r>
              <a:rPr lang="en-US" dirty="0"/>
              <a:t>, Address </a:t>
            </a:r>
            <a:r>
              <a:rPr lang="en-US" dirty="0" err="1"/>
              <a:t>มี</a:t>
            </a:r>
            <a:r>
              <a:rPr lang="en-US" dirty="0"/>
              <a:t> 2 </a:t>
            </a:r>
            <a:r>
              <a:rPr lang="en-US" dirty="0" err="1"/>
              <a:t>ค่า</a:t>
            </a:r>
            <a:r>
              <a:rPr lang="en-US" dirty="0"/>
              <a:t>, Age </a:t>
            </a:r>
            <a:r>
              <a:rPr lang="en-US" dirty="0" err="1"/>
              <a:t>มี</a:t>
            </a:r>
            <a:r>
              <a:rPr lang="en-US" dirty="0"/>
              <a:t> 2 </a:t>
            </a:r>
            <a:r>
              <a:rPr lang="en-US" dirty="0" err="1"/>
              <a:t>ค่า</a:t>
            </a:r>
            <a:r>
              <a:rPr lang="en-US" dirty="0"/>
              <a:t> </a:t>
            </a:r>
            <a:r>
              <a:rPr lang="en-US" dirty="0" err="1"/>
              <a:t>จำนวน</a:t>
            </a:r>
            <a:r>
              <a:rPr lang="en-US" dirty="0"/>
              <a:t> tuple </a:t>
            </a:r>
            <a:r>
              <a:rPr lang="en-US" dirty="0" err="1"/>
              <a:t>ทั้งหมดจะได้</a:t>
            </a:r>
            <a:r>
              <a:rPr lang="en-US" dirty="0"/>
              <a:t> 2×2×2 = 8 tuple </a:t>
            </a:r>
            <a:r>
              <a:rPr lang="en-US" dirty="0" err="1"/>
              <a:t>ตามที่เห็น</a:t>
            </a:r>
            <a:endParaRPr lang="en-US" dirty="0"/>
          </a:p>
          <a:p>
            <a:pPr rtl="0"/>
            <a:r>
              <a:rPr lang="en-US" b="1" dirty="0" err="1"/>
              <a:t>จุดสำคัญที่ต้องเข้าใจ</a:t>
            </a:r>
            <a:r>
              <a:rPr lang="en-US" dirty="0"/>
              <a:t>: 8 tuple </a:t>
            </a:r>
            <a:r>
              <a:rPr lang="en-US" dirty="0" err="1"/>
              <a:t>นี้</a:t>
            </a:r>
            <a:r>
              <a:rPr lang="en-US" b="1" dirty="0" err="1"/>
              <a:t>ไม่มีความหมายในโลกจริง</a:t>
            </a:r>
            <a:r>
              <a:rPr lang="en-US" dirty="0"/>
              <a:t> — </a:t>
            </a:r>
            <a:r>
              <a:rPr lang="en-US" dirty="0" err="1"/>
              <a:t>เช่น</a:t>
            </a:r>
            <a:r>
              <a:rPr lang="en-US" dirty="0"/>
              <a:t> </a:t>
            </a:r>
            <a:r>
              <a:rPr lang="en-US" sz="1200" kern="1200" dirty="0">
                <a:solidFill>
                  <a:schemeClr val="tx1"/>
                </a:solidFill>
                <a:latin typeface="+mn-lt"/>
                <a:ea typeface="+mn-ea"/>
                <a:cs typeface="+mn-cs"/>
              </a:rPr>
              <a:t>&lt;Benjamin Bayer, 2918 Bluebonnet Lane, 18&gt;</a:t>
            </a:r>
            <a:r>
              <a:rPr lang="en-US" dirty="0"/>
              <a:t> </a:t>
            </a:r>
            <a:r>
              <a:rPr lang="en-US" dirty="0" err="1"/>
              <a:t>หมายความว่า</a:t>
            </a:r>
            <a:r>
              <a:rPr lang="en-US" dirty="0"/>
              <a:t> Benjamin Bayer </a:t>
            </a:r>
            <a:r>
              <a:rPr lang="en-US" dirty="0" err="1"/>
              <a:t>อายุ</a:t>
            </a:r>
            <a:r>
              <a:rPr lang="en-US" dirty="0"/>
              <a:t> 18 </a:t>
            </a:r>
            <a:r>
              <a:rPr lang="en-US" dirty="0" err="1"/>
              <a:t>ที่บ้าน</a:t>
            </a:r>
            <a:r>
              <a:rPr lang="en-US" dirty="0"/>
              <a:t> Bluebonnet Lane </a:t>
            </a:r>
            <a:r>
              <a:rPr lang="en-US" dirty="0" err="1"/>
              <a:t>ซึ่งอาจไม่จริงเลย</a:t>
            </a:r>
            <a:r>
              <a:rPr lang="en-US" dirty="0"/>
              <a:t> (</a:t>
            </a:r>
            <a:r>
              <a:rPr lang="en-US" dirty="0" err="1"/>
              <a:t>จริงๆ</a:t>
            </a:r>
            <a:r>
              <a:rPr lang="en-US" dirty="0"/>
              <a:t> </a:t>
            </a:r>
            <a:r>
              <a:rPr lang="en-US" dirty="0" err="1"/>
              <a:t>เขาอาจอายุ</a:t>
            </a:r>
            <a:r>
              <a:rPr lang="en-US" dirty="0"/>
              <a:t> 19 </a:t>
            </a:r>
            <a:r>
              <a:rPr lang="en-US" dirty="0" err="1"/>
              <a:t>อยู่ที่นั่น</a:t>
            </a:r>
            <a:r>
              <a:rPr lang="en-US" dirty="0"/>
              <a:t> </a:t>
            </a:r>
            <a:r>
              <a:rPr lang="en-US" dirty="0" err="1"/>
              <a:t>หรืออายุ</a:t>
            </a:r>
            <a:r>
              <a:rPr lang="en-US" dirty="0"/>
              <a:t> 18 </a:t>
            </a:r>
            <a:r>
              <a:rPr lang="en-US" dirty="0" err="1"/>
              <a:t>อยู่ที่</a:t>
            </a:r>
            <a:r>
              <a:rPr lang="en-US" dirty="0"/>
              <a:t> Kirby Road) — Cartesian Product </a:t>
            </a:r>
            <a:r>
              <a:rPr lang="en-US" dirty="0" err="1"/>
              <a:t>แค่สร้าง</a:t>
            </a:r>
            <a:r>
              <a:rPr lang="en-US" dirty="0"/>
              <a:t> "</a:t>
            </a:r>
            <a:r>
              <a:rPr lang="en-US" dirty="0" err="1"/>
              <a:t>ความเป็นไปได้ทั้งหมด</a:t>
            </a:r>
            <a:r>
              <a:rPr lang="en-US" dirty="0"/>
              <a:t>" </a:t>
            </a:r>
            <a:r>
              <a:rPr lang="en-US" dirty="0" err="1"/>
              <a:t>แบบสุ่มจับคู่เท่านั้น</a:t>
            </a:r>
            <a:r>
              <a:rPr lang="en-US" dirty="0"/>
              <a:t> </a:t>
            </a:r>
            <a:r>
              <a:rPr lang="en-US" dirty="0" err="1"/>
              <a:t>ยังไม่ใช่ข้อมูลจริง</a:t>
            </a:r>
            <a:endParaRPr lang="en-US" dirty="0"/>
          </a:p>
          <a:p>
            <a:br>
              <a:rPr lang="en-US" sz="1200" kern="1200" dirty="0">
                <a:solidFill>
                  <a:schemeClr val="tx1"/>
                </a:solidFill>
                <a:latin typeface="+mn-lt"/>
                <a:ea typeface="+mn-ea"/>
                <a:cs typeface="+mn-cs"/>
              </a:rPr>
            </a:br>
            <a:br>
              <a:rPr lang="en-US" sz="1200" kern="1200" dirty="0">
                <a:solidFill>
                  <a:schemeClr val="tx1"/>
                </a:solidFill>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3</a:t>
            </a:fld>
            <a:endParaRPr lang="en-US"/>
          </a:p>
        </p:txBody>
      </p:sp>
    </p:spTree>
    <p:extLst>
      <p:ext uri="{BB962C8B-B14F-4D97-AF65-F5344CB8AC3E}">
        <p14:creationId xmlns:p14="http://schemas.microsoft.com/office/powerpoint/2010/main" val="598734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จากหน้าที่แล้วมี</a:t>
            </a:r>
            <a:r>
              <a:rPr lang="en-US" dirty="0"/>
              <a:t> 8 tuple </a:t>
            </a:r>
            <a:r>
              <a:rPr lang="en-US" dirty="0" err="1"/>
              <a:t>ที่เป็นไปได้ทั้งหมด</a:t>
            </a:r>
            <a:r>
              <a:rPr lang="en-US" dirty="0"/>
              <a:t> </a:t>
            </a:r>
            <a:r>
              <a:rPr lang="en-US" dirty="0" err="1"/>
              <a:t>แต่ในโลกจริงมีแค่</a:t>
            </a:r>
            <a:r>
              <a:rPr lang="en-US" dirty="0"/>
              <a:t> 2 </a:t>
            </a:r>
            <a:r>
              <a:rPr lang="en-US" dirty="0" err="1"/>
              <a:t>คน</a:t>
            </a:r>
            <a:r>
              <a:rPr lang="en-US" dirty="0"/>
              <a:t> </a:t>
            </a:r>
            <a:r>
              <a:rPr lang="en-US" dirty="0" err="1"/>
              <a:t>แต่ละคนมีที่อยู่และอายุแค่</a:t>
            </a:r>
            <a:r>
              <a:rPr lang="en-US" dirty="0"/>
              <a:t> 1 </a:t>
            </a:r>
            <a:r>
              <a:rPr lang="en-US" dirty="0" err="1"/>
              <a:t>ค่า</a:t>
            </a:r>
            <a:r>
              <a:rPr lang="en-US" dirty="0"/>
              <a:t> — </a:t>
            </a:r>
            <a:r>
              <a:rPr lang="en-US" dirty="0" err="1"/>
              <a:t>ดังนั้นเราจึง</a:t>
            </a:r>
            <a:r>
              <a:rPr lang="en-US" dirty="0"/>
              <a:t> </a:t>
            </a:r>
            <a:r>
              <a:rPr lang="en-US" b="1" dirty="0" err="1"/>
              <a:t>เลือก</a:t>
            </a:r>
            <a:r>
              <a:rPr lang="en-US" b="1" dirty="0"/>
              <a:t> (select)</a:t>
            </a:r>
            <a:r>
              <a:rPr lang="en-US" dirty="0"/>
              <a:t> </a:t>
            </a:r>
            <a:r>
              <a:rPr lang="en-US" dirty="0" err="1"/>
              <a:t>เฉพาะ</a:t>
            </a:r>
            <a:r>
              <a:rPr lang="en-US" dirty="0"/>
              <a:t> 2 tuple </a:t>
            </a:r>
            <a:r>
              <a:rPr lang="en-US" dirty="0" err="1"/>
              <a:t>ที่ตรงกับความจริง</a:t>
            </a:r>
            <a:r>
              <a:rPr lang="en-US" dirty="0"/>
              <a:t> </a:t>
            </a:r>
            <a:r>
              <a:rPr lang="en-US" dirty="0" err="1"/>
              <a:t>ออกมาจากทั้ง</a:t>
            </a:r>
            <a:r>
              <a:rPr lang="en-US" dirty="0"/>
              <a:t> 8 </a:t>
            </a:r>
            <a:r>
              <a:rPr lang="en-US" dirty="0" err="1"/>
              <a:t>อัน</a:t>
            </a:r>
            <a:r>
              <a:rPr lang="en-US" dirty="0"/>
              <a:t> </a:t>
            </a:r>
            <a:r>
              <a:rPr lang="en-US" dirty="0" err="1"/>
              <a:t>นี่คือความหมายของคำว่า</a:t>
            </a:r>
            <a:r>
              <a:rPr lang="en-US" dirty="0"/>
              <a:t> </a:t>
            </a:r>
            <a:r>
              <a:rPr lang="en-US" b="1" dirty="0"/>
              <a:t>"Subset"</a:t>
            </a:r>
            <a:r>
              <a:rPr lang="en-US" dirty="0"/>
              <a:t> (</a:t>
            </a:r>
            <a:r>
              <a:rPr lang="en-US" dirty="0" err="1"/>
              <a:t>เซตย่อย</a:t>
            </a:r>
            <a:r>
              <a:rPr lang="en-US" dirty="0"/>
              <a:t>)</a:t>
            </a:r>
          </a:p>
          <a:p>
            <a:endParaRPr lang="en-US" dirty="0"/>
          </a:p>
          <a:p>
            <a:pPr rtl="0"/>
            <a:r>
              <a:rPr lang="en-US" b="1" dirty="0" err="1"/>
              <a:t>คำศัพท์สำคัญที่ต้องจำ</a:t>
            </a:r>
            <a:r>
              <a:rPr lang="en-US" dirty="0"/>
              <a:t> (</a:t>
            </a:r>
            <a:r>
              <a:rPr lang="en-US" dirty="0" err="1"/>
              <a:t>นี่คือนิยามที่ใช้ตลอดวิชา</a:t>
            </a:r>
            <a:r>
              <a:rPr lang="en-US" dirty="0"/>
              <a:t> Database):</a:t>
            </a:r>
          </a:p>
          <a:p>
            <a:pPr lvl="0" rtl="0"/>
            <a:r>
              <a:rPr lang="en-US" b="1" dirty="0"/>
              <a:t>Relation</a:t>
            </a:r>
            <a:r>
              <a:rPr lang="en-US" dirty="0"/>
              <a:t> = </a:t>
            </a:r>
            <a:r>
              <a:rPr lang="en-US" dirty="0" err="1"/>
              <a:t>ตัวตาราง</a:t>
            </a:r>
            <a:r>
              <a:rPr lang="en-US" dirty="0"/>
              <a:t> (</a:t>
            </a:r>
            <a:r>
              <a:rPr lang="en-US" dirty="0" err="1"/>
              <a:t>ในทางคณิตศาสตร์</a:t>
            </a:r>
            <a:r>
              <a:rPr lang="en-US" dirty="0"/>
              <a:t> = subset </a:t>
            </a:r>
            <a:r>
              <a:rPr lang="en-US" dirty="0" err="1"/>
              <a:t>ของ</a:t>
            </a:r>
            <a:r>
              <a:rPr lang="en-US" dirty="0"/>
              <a:t> Cartesian Product) — </a:t>
            </a:r>
            <a:r>
              <a:rPr lang="en-US" dirty="0" err="1"/>
              <a:t>ในภาษาพูดทั่วไปเราเรียกว่า</a:t>
            </a:r>
            <a:r>
              <a:rPr lang="en-US" dirty="0"/>
              <a:t> "Table"</a:t>
            </a:r>
          </a:p>
          <a:p>
            <a:pPr lvl="0" rtl="0"/>
            <a:r>
              <a:rPr lang="en-US" b="1" dirty="0"/>
              <a:t>Tuple</a:t>
            </a:r>
            <a:r>
              <a:rPr lang="en-US" dirty="0"/>
              <a:t> = 1 </a:t>
            </a:r>
            <a:r>
              <a:rPr lang="en-US" dirty="0" err="1"/>
              <a:t>แถวในตาราง</a:t>
            </a:r>
            <a:r>
              <a:rPr lang="en-US" dirty="0"/>
              <a:t> (</a:t>
            </a:r>
            <a:r>
              <a:rPr lang="en-US" dirty="0" err="1"/>
              <a:t>ในภาษาพูดทั่วไปเราเรียกว่า</a:t>
            </a:r>
            <a:r>
              <a:rPr lang="en-US" dirty="0"/>
              <a:t> "Row" </a:t>
            </a:r>
            <a:r>
              <a:rPr lang="en-US" dirty="0" err="1"/>
              <a:t>หรือ</a:t>
            </a:r>
            <a:r>
              <a:rPr lang="en-US" dirty="0"/>
              <a:t> "Record")</a:t>
            </a:r>
          </a:p>
          <a:p>
            <a:pPr lvl="0" rtl="0"/>
            <a:r>
              <a:rPr lang="en-US" b="1" dirty="0"/>
              <a:t>Attribute</a:t>
            </a:r>
            <a:r>
              <a:rPr lang="en-US" dirty="0"/>
              <a:t> = 1 </a:t>
            </a:r>
            <a:r>
              <a:rPr lang="en-US" dirty="0" err="1"/>
              <a:t>คอลัมน์ในตาราง</a:t>
            </a:r>
            <a:r>
              <a:rPr lang="en-US" dirty="0"/>
              <a:t> (</a:t>
            </a:r>
            <a:r>
              <a:rPr lang="en-US" dirty="0" err="1"/>
              <a:t>ในภาษาพูดทั่วไปเราเรียกว่า</a:t>
            </a:r>
            <a:r>
              <a:rPr lang="en-US" dirty="0"/>
              <a:t> "Column" </a:t>
            </a:r>
            <a:r>
              <a:rPr lang="en-US" dirty="0" err="1"/>
              <a:t>หรือ</a:t>
            </a:r>
            <a:r>
              <a:rPr lang="en-US" dirty="0"/>
              <a:t> "Field")</a:t>
            </a:r>
          </a:p>
          <a:p>
            <a:pPr rtl="0"/>
            <a:r>
              <a:rPr lang="en-US" dirty="0" err="1"/>
              <a:t>สรุปสมการง่ายๆ</a:t>
            </a:r>
            <a:r>
              <a:rPr lang="en-US" dirty="0"/>
              <a:t>: </a:t>
            </a:r>
            <a:r>
              <a:rPr lang="en-US" b="1" dirty="0"/>
              <a:t>Relation = </a:t>
            </a:r>
            <a:r>
              <a:rPr lang="en-US" b="1" dirty="0" err="1"/>
              <a:t>ชุดของ</a:t>
            </a:r>
            <a:r>
              <a:rPr lang="en-US" b="1" dirty="0"/>
              <a:t> Tuple </a:t>
            </a:r>
            <a:r>
              <a:rPr lang="en-US" b="1" dirty="0" err="1"/>
              <a:t>ที่แต่ละ</a:t>
            </a:r>
            <a:r>
              <a:rPr lang="en-US" b="1" dirty="0"/>
              <a:t> Tuple </a:t>
            </a:r>
            <a:r>
              <a:rPr lang="en-US" b="1" dirty="0" err="1"/>
              <a:t>ประกอบด้วยค่าของ</a:t>
            </a:r>
            <a:r>
              <a:rPr lang="en-US" b="1" dirty="0"/>
              <a:t> Attribute </a:t>
            </a:r>
            <a:r>
              <a:rPr lang="en-US" b="1" dirty="0" err="1"/>
              <a:t>ต่างๆ</a:t>
            </a:r>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4</a:t>
            </a:fld>
            <a:endParaRPr lang="en-US"/>
          </a:p>
        </p:txBody>
      </p:sp>
    </p:spTree>
    <p:extLst>
      <p:ext uri="{BB962C8B-B14F-4D97-AF65-F5344CB8AC3E}">
        <p14:creationId xmlns:p14="http://schemas.microsoft.com/office/powerpoint/2010/main" val="3765268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t>Ordering of Tuples (</a:t>
            </a:r>
            <a:r>
              <a:rPr lang="en-US" b="1" dirty="0" err="1"/>
              <a:t>ลำดับของแถว</a:t>
            </a:r>
            <a:r>
              <a:rPr lang="en-US" b="1" dirty="0"/>
              <a:t>)</a:t>
            </a:r>
          </a:p>
          <a:p>
            <a:pPr rtl="0"/>
            <a:r>
              <a:rPr lang="en-US" dirty="0" err="1"/>
              <a:t>ประเด็นนี้เป็นจุดที่</a:t>
            </a:r>
            <a:r>
              <a:rPr lang="en-US" dirty="0"/>
              <a:t> </a:t>
            </a:r>
            <a:r>
              <a:rPr lang="en-US" b="1" dirty="0" err="1"/>
              <a:t>ทฤษฎีกับการใช้งานจริงขัดกันนิดหน่อย</a:t>
            </a:r>
            <a:r>
              <a:rPr lang="en-US" dirty="0"/>
              <a:t>:</a:t>
            </a:r>
          </a:p>
          <a:p>
            <a:pPr lvl="0" rtl="0"/>
            <a:r>
              <a:rPr lang="en-US" b="1" dirty="0" err="1"/>
              <a:t>ในทางคณิตศาสตร์</a:t>
            </a:r>
            <a:r>
              <a:rPr lang="en-US" dirty="0"/>
              <a:t>: Relation </a:t>
            </a:r>
            <a:r>
              <a:rPr lang="en-US" dirty="0" err="1"/>
              <a:t>คือ</a:t>
            </a:r>
            <a:r>
              <a:rPr lang="en-US" dirty="0"/>
              <a:t> "</a:t>
            </a:r>
            <a:r>
              <a:rPr lang="en-US" dirty="0" err="1"/>
              <a:t>เซต</a:t>
            </a:r>
            <a:r>
              <a:rPr lang="en-US" dirty="0"/>
              <a:t>" (set) — </a:t>
            </a:r>
            <a:r>
              <a:rPr lang="en-US" dirty="0" err="1"/>
              <a:t>และสมบัติของเซตคือ</a:t>
            </a:r>
            <a:r>
              <a:rPr lang="en-US" b="1" dirty="0" err="1"/>
              <a:t>ไม่มีลำดับ</a:t>
            </a:r>
            <a:r>
              <a:rPr lang="en-US" dirty="0"/>
              <a:t> </a:t>
            </a:r>
            <a:r>
              <a:rPr lang="en-US" dirty="0" err="1"/>
              <a:t>สมาชิกในเซต</a:t>
            </a:r>
            <a:r>
              <a:rPr lang="en-US" dirty="0"/>
              <a:t> </a:t>
            </a:r>
            <a:r>
              <a:rPr lang="en-US" sz="1200" kern="1200" dirty="0">
                <a:solidFill>
                  <a:schemeClr val="tx1"/>
                </a:solidFill>
                <a:latin typeface="+mn-lt"/>
                <a:ea typeface="+mn-ea"/>
                <a:cs typeface="+mn-cs"/>
              </a:rPr>
              <a:t>{A, B}</a:t>
            </a:r>
            <a:r>
              <a:rPr lang="en-US" dirty="0"/>
              <a:t> </a:t>
            </a:r>
            <a:r>
              <a:rPr lang="en-US" dirty="0" err="1"/>
              <a:t>กับ</a:t>
            </a:r>
            <a:r>
              <a:rPr lang="en-US" dirty="0"/>
              <a:t> </a:t>
            </a:r>
            <a:r>
              <a:rPr lang="en-US" sz="1200" kern="1200" dirty="0">
                <a:solidFill>
                  <a:schemeClr val="tx1"/>
                </a:solidFill>
                <a:latin typeface="+mn-lt"/>
                <a:ea typeface="+mn-ea"/>
                <a:cs typeface="+mn-cs"/>
              </a:rPr>
              <a:t>{B, A}</a:t>
            </a:r>
            <a:r>
              <a:rPr lang="en-US" dirty="0"/>
              <a:t> </a:t>
            </a:r>
            <a:r>
              <a:rPr lang="en-US" dirty="0" err="1"/>
              <a:t>ถือว่าเป็นเซตเดียวกัน</a:t>
            </a:r>
            <a:r>
              <a:rPr lang="en-US" dirty="0"/>
              <a:t> </a:t>
            </a:r>
            <a:r>
              <a:rPr lang="en-US" dirty="0" err="1"/>
              <a:t>ไม่มีใครมาก่อนมาหลัง</a:t>
            </a:r>
            <a:endParaRPr lang="en-US" dirty="0"/>
          </a:p>
          <a:p>
            <a:pPr lvl="0" rtl="0"/>
            <a:r>
              <a:rPr lang="en-US" b="1" dirty="0" err="1"/>
              <a:t>ในทางปฏิบัติ</a:t>
            </a:r>
            <a:r>
              <a:rPr lang="en-US" b="1" dirty="0"/>
              <a:t> (</a:t>
            </a:r>
            <a:r>
              <a:rPr lang="en-US" b="1" dirty="0" err="1"/>
              <a:t>การเก็บข้อมูลจริง</a:t>
            </a:r>
            <a:r>
              <a:rPr lang="en-US" b="1" dirty="0"/>
              <a:t>)</a:t>
            </a:r>
            <a:r>
              <a:rPr lang="en-US" dirty="0"/>
              <a:t>: </a:t>
            </a:r>
            <a:r>
              <a:rPr lang="en-US" dirty="0" err="1"/>
              <a:t>แถวข้อมูลต้องถูกเก็บลงดิสก์หรือ</a:t>
            </a:r>
            <a:r>
              <a:rPr lang="en-US" dirty="0"/>
              <a:t> memory </a:t>
            </a:r>
            <a:r>
              <a:rPr lang="en-US" dirty="0" err="1"/>
              <a:t>จริงๆ</a:t>
            </a:r>
            <a:r>
              <a:rPr lang="en-US" dirty="0"/>
              <a:t> </a:t>
            </a:r>
            <a:r>
              <a:rPr lang="en-US" dirty="0" err="1"/>
              <a:t>ซึ่งการเก็บแบบ</a:t>
            </a:r>
            <a:r>
              <a:rPr lang="en-US" dirty="0"/>
              <a:t> physical </a:t>
            </a:r>
            <a:r>
              <a:rPr lang="en-US" dirty="0" err="1"/>
              <a:t>นั้น</a:t>
            </a:r>
            <a:r>
              <a:rPr lang="en-US" b="1" dirty="0" err="1"/>
              <a:t>ต้องมีลำดับเสมอ</a:t>
            </a:r>
            <a:r>
              <a:rPr lang="en-US" dirty="0"/>
              <a:t> (</a:t>
            </a:r>
            <a:r>
              <a:rPr lang="en-US" dirty="0" err="1"/>
              <a:t>แถวไหนถูกเขียนก่อน-หลัง</a:t>
            </a:r>
            <a:r>
              <a:rPr lang="en-US" dirty="0"/>
              <a:t> </a:t>
            </a:r>
            <a:r>
              <a:rPr lang="en-US" dirty="0" err="1"/>
              <a:t>อยู่ตำแหน่งไหนในไฟล์</a:t>
            </a:r>
            <a:r>
              <a:rPr lang="en-US" dirty="0"/>
              <a:t>)</a:t>
            </a:r>
          </a:p>
          <a:p>
            <a:endParaRPr lang="en-US" dirty="0"/>
          </a:p>
          <a:p>
            <a:r>
              <a:rPr lang="en-US" dirty="0" err="1"/>
              <a:t>พูดง่ายๆ</a:t>
            </a:r>
            <a:r>
              <a:rPr lang="en-US" dirty="0"/>
              <a:t> </a:t>
            </a:r>
            <a:r>
              <a:rPr lang="en-US" dirty="0" err="1"/>
              <a:t>คือ</a:t>
            </a:r>
            <a:r>
              <a:rPr lang="en-US" dirty="0"/>
              <a:t>: </a:t>
            </a:r>
            <a:r>
              <a:rPr lang="en-US" dirty="0" err="1"/>
              <a:t>ในทางทฤษฎี</a:t>
            </a:r>
            <a:r>
              <a:rPr lang="en-US" dirty="0"/>
              <a:t> </a:t>
            </a:r>
            <a:r>
              <a:rPr lang="en-US" dirty="0" err="1"/>
              <a:t>ถ้าคุณ</a:t>
            </a:r>
            <a:r>
              <a:rPr lang="en-US" dirty="0"/>
              <a:t> query </a:t>
            </a:r>
            <a:r>
              <a:rPr lang="en-US" sz="1200" kern="1200" dirty="0">
                <a:solidFill>
                  <a:schemeClr val="tx1"/>
                </a:solidFill>
                <a:latin typeface="+mn-lt"/>
                <a:ea typeface="+mn-ea"/>
                <a:cs typeface="+mn-cs"/>
              </a:rPr>
              <a:t>SELECT * FROM Student</a:t>
            </a:r>
            <a:r>
              <a:rPr lang="en-US" dirty="0"/>
              <a:t> </a:t>
            </a:r>
            <a:r>
              <a:rPr lang="en-US" dirty="0" err="1"/>
              <a:t>แล้วได้ผลลัพธ์เรียงแบบไหนก็ถูกต้องเท่ากันหมด</a:t>
            </a:r>
            <a:r>
              <a:rPr lang="en-US" dirty="0"/>
              <a:t> (</a:t>
            </a:r>
            <a:r>
              <a:rPr lang="en-US" dirty="0" err="1"/>
              <a:t>เพราะเป็นเซต</a:t>
            </a:r>
            <a:r>
              <a:rPr lang="en-US" dirty="0"/>
              <a:t>) </a:t>
            </a:r>
            <a:r>
              <a:rPr lang="en-US" dirty="0" err="1"/>
              <a:t>แต่พอรันจริงบนเครื่อง</a:t>
            </a:r>
            <a:r>
              <a:rPr lang="en-US" dirty="0"/>
              <a:t> database </a:t>
            </a:r>
            <a:r>
              <a:rPr lang="en-US" dirty="0" err="1"/>
              <a:t>จะได้ลำดับใดลำดับหนึ่งเสมอ</a:t>
            </a:r>
            <a:r>
              <a:rPr lang="en-US" dirty="0"/>
              <a:t> (</a:t>
            </a:r>
            <a:r>
              <a:rPr lang="en-US" dirty="0" err="1"/>
              <a:t>ตาม</a:t>
            </a:r>
            <a:r>
              <a:rPr lang="en-US" dirty="0"/>
              <a:t> physical storage) — </a:t>
            </a:r>
            <a:r>
              <a:rPr lang="en-US" dirty="0" err="1"/>
              <a:t>นี่คือเหตุผลว่าทำไมถ้าอยากได้ลำดับที่แน่นอน</a:t>
            </a:r>
            <a:r>
              <a:rPr lang="en-US" dirty="0"/>
              <a:t> </a:t>
            </a:r>
            <a:r>
              <a:rPr lang="en-US" dirty="0" err="1"/>
              <a:t>ต้องใช้</a:t>
            </a:r>
            <a:r>
              <a:rPr lang="en-US" dirty="0"/>
              <a:t> </a:t>
            </a:r>
            <a:r>
              <a:rPr lang="en-US" sz="1200" kern="1200" dirty="0">
                <a:solidFill>
                  <a:schemeClr val="tx1"/>
                </a:solidFill>
                <a:latin typeface="+mn-lt"/>
                <a:ea typeface="+mn-ea"/>
                <a:cs typeface="+mn-cs"/>
              </a:rPr>
              <a:t>ORDER BY</a:t>
            </a:r>
            <a:r>
              <a:rPr lang="en-US" dirty="0"/>
              <a:t> </a:t>
            </a:r>
            <a:r>
              <a:rPr lang="en-US" dirty="0" err="1"/>
              <a:t>เสมอ</a:t>
            </a:r>
            <a:r>
              <a:rPr lang="en-US" dirty="0"/>
              <a:t> </a:t>
            </a:r>
            <a:r>
              <a:rPr lang="en-US" dirty="0" err="1"/>
              <a:t>ไม่งั้น</a:t>
            </a:r>
            <a:r>
              <a:rPr lang="en-US" dirty="0"/>
              <a:t> database </a:t>
            </a:r>
            <a:r>
              <a:rPr lang="en-US" dirty="0" err="1"/>
              <a:t>ไม่รับประกันลำดับให้</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5</a:t>
            </a:fld>
            <a:endParaRPr lang="en-US"/>
          </a:p>
        </p:txBody>
      </p:sp>
    </p:spTree>
    <p:extLst>
      <p:ext uri="{BB962C8B-B14F-4D97-AF65-F5344CB8AC3E}">
        <p14:creationId xmlns:p14="http://schemas.microsoft.com/office/powerpoint/2010/main" val="2384122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t>Domain</a:t>
            </a:r>
            <a:r>
              <a:rPr lang="en-US" dirty="0"/>
              <a:t> </a:t>
            </a:r>
            <a:r>
              <a:rPr lang="en-US" dirty="0" err="1"/>
              <a:t>คือ</a:t>
            </a:r>
            <a:r>
              <a:rPr lang="en-US" dirty="0"/>
              <a:t> "</a:t>
            </a:r>
            <a:r>
              <a:rPr lang="en-US" dirty="0" err="1"/>
              <a:t>ขอบเขตของค่าที่</a:t>
            </a:r>
            <a:r>
              <a:rPr lang="en-US" dirty="0"/>
              <a:t> attribute </a:t>
            </a:r>
            <a:r>
              <a:rPr lang="en-US" dirty="0" err="1"/>
              <a:t>หนึ่งๆ</a:t>
            </a:r>
            <a:r>
              <a:rPr lang="en-US" dirty="0"/>
              <a:t> </a:t>
            </a:r>
            <a:r>
              <a:rPr lang="en-US" dirty="0" err="1"/>
              <a:t>สามารถมีได้</a:t>
            </a:r>
            <a:r>
              <a:rPr lang="en-US" dirty="0"/>
              <a:t>" </a:t>
            </a:r>
            <a:r>
              <a:rPr lang="en-US" dirty="0" err="1"/>
              <a:t>พูดง่ายๆ</a:t>
            </a:r>
            <a:r>
              <a:rPr lang="en-US" dirty="0"/>
              <a:t> </a:t>
            </a:r>
            <a:r>
              <a:rPr lang="en-US" dirty="0" err="1"/>
              <a:t>คือชนิดข้อมูล</a:t>
            </a:r>
            <a:r>
              <a:rPr lang="en-US" dirty="0"/>
              <a:t> + </a:t>
            </a:r>
            <a:r>
              <a:rPr lang="en-US" dirty="0" err="1"/>
              <a:t>ขอบเขตของมัน</a:t>
            </a:r>
            <a:endParaRPr lang="en-US" dirty="0"/>
          </a:p>
          <a:p>
            <a:pPr rtl="0"/>
            <a:r>
              <a:rPr lang="en-US" dirty="0" err="1"/>
              <a:t>สไลด์พูดถึง</a:t>
            </a:r>
            <a:r>
              <a:rPr lang="en-US" dirty="0"/>
              <a:t> 2 </a:t>
            </a:r>
            <a:r>
              <a:rPr lang="en-US" dirty="0" err="1"/>
              <a:t>ระดับ</a:t>
            </a:r>
            <a:r>
              <a:rPr lang="en-US" dirty="0"/>
              <a:t>:</a:t>
            </a:r>
          </a:p>
          <a:p>
            <a:pPr rtl="0"/>
            <a:r>
              <a:rPr lang="en-US" b="1" dirty="0"/>
              <a:t>1) </a:t>
            </a:r>
            <a:r>
              <a:rPr lang="en-US" b="1" dirty="0" err="1"/>
              <a:t>ชนิดข้อมูลมาตรฐาน</a:t>
            </a:r>
            <a:r>
              <a:rPr lang="en-US" b="1" dirty="0"/>
              <a:t> (data types)</a:t>
            </a:r>
            <a:endParaRPr lang="en-US" dirty="0"/>
          </a:p>
          <a:p>
            <a:pPr lvl="0" rtl="0"/>
            <a:r>
              <a:rPr lang="en-US" dirty="0" err="1"/>
              <a:t>ตัวเลข</a:t>
            </a:r>
            <a:r>
              <a:rPr lang="en-US" dirty="0"/>
              <a:t>: integer, real number (</a:t>
            </a:r>
            <a:r>
              <a:rPr lang="en-US" dirty="0" err="1"/>
              <a:t>เลขทศนิยม</a:t>
            </a:r>
            <a:r>
              <a:rPr lang="en-US" dirty="0"/>
              <a:t>)</a:t>
            </a:r>
          </a:p>
          <a:p>
            <a:pPr lvl="0" rtl="0"/>
            <a:r>
              <a:rPr lang="en-US" dirty="0" err="1"/>
              <a:t>ตัวอักษร</a:t>
            </a:r>
            <a:r>
              <a:rPr lang="en-US" dirty="0"/>
              <a:t>: character, string (fixed-length </a:t>
            </a:r>
            <a:r>
              <a:rPr lang="en-US" dirty="0" err="1"/>
              <a:t>เช่น</a:t>
            </a:r>
            <a:r>
              <a:rPr lang="en-US" dirty="0"/>
              <a:t> </a:t>
            </a:r>
            <a:r>
              <a:rPr lang="en-US" sz="1200" kern="1200" dirty="0">
                <a:solidFill>
                  <a:schemeClr val="tx1"/>
                </a:solidFill>
                <a:latin typeface="+mn-lt"/>
                <a:ea typeface="+mn-ea"/>
                <a:cs typeface="+mn-cs"/>
              </a:rPr>
              <a:t>CHAR(10)</a:t>
            </a:r>
            <a:r>
              <a:rPr lang="en-US" dirty="0"/>
              <a:t> / variable-length </a:t>
            </a:r>
            <a:r>
              <a:rPr lang="en-US" dirty="0" err="1"/>
              <a:t>เช่น</a:t>
            </a:r>
            <a:r>
              <a:rPr lang="en-US" dirty="0"/>
              <a:t> </a:t>
            </a:r>
            <a:r>
              <a:rPr lang="en-US" sz="1200" kern="1200" dirty="0">
                <a:solidFill>
                  <a:schemeClr val="tx1"/>
                </a:solidFill>
                <a:latin typeface="+mn-lt"/>
                <a:ea typeface="+mn-ea"/>
                <a:cs typeface="+mn-cs"/>
              </a:rPr>
              <a:t>VARCHAR(10)</a:t>
            </a:r>
            <a:r>
              <a:rPr lang="en-US" dirty="0"/>
              <a:t>)</a:t>
            </a:r>
          </a:p>
          <a:p>
            <a:pPr lvl="0" rtl="0"/>
            <a:r>
              <a:rPr lang="en-US" dirty="0"/>
              <a:t>Boolean (</a:t>
            </a:r>
            <a:r>
              <a:rPr lang="en-US" dirty="0" err="1"/>
              <a:t>จริง</a:t>
            </a:r>
            <a:r>
              <a:rPr lang="en-US" dirty="0"/>
              <a:t>/</a:t>
            </a:r>
            <a:r>
              <a:rPr lang="en-US" dirty="0" err="1"/>
              <a:t>เท็จ</a:t>
            </a:r>
            <a:r>
              <a:rPr lang="en-US" dirty="0"/>
              <a:t>)</a:t>
            </a:r>
          </a:p>
          <a:p>
            <a:pPr lvl="0" rtl="0"/>
            <a:r>
              <a:rPr lang="en-US" dirty="0" err="1"/>
              <a:t>วันเวลา</a:t>
            </a:r>
            <a:r>
              <a:rPr lang="en-US" dirty="0"/>
              <a:t>: date, time, timestamp</a:t>
            </a:r>
          </a:p>
          <a:p>
            <a:pPr rtl="0"/>
            <a:r>
              <a:rPr lang="en-US" b="1" dirty="0"/>
              <a:t>2) </a:t>
            </a:r>
            <a:r>
              <a:rPr lang="en-US" b="1" dirty="0" err="1"/>
              <a:t>การจำกัดขอบเขตเพิ่มเติมจาก</a:t>
            </a:r>
            <a:r>
              <a:rPr lang="en-US" b="1" dirty="0"/>
              <a:t> data type</a:t>
            </a:r>
            <a:endParaRPr lang="en-US" dirty="0"/>
          </a:p>
          <a:p>
            <a:pPr lvl="0" rtl="0"/>
            <a:r>
              <a:rPr lang="en-US" b="1" dirty="0"/>
              <a:t>Subrange</a:t>
            </a:r>
            <a:r>
              <a:rPr lang="en-US" dirty="0"/>
              <a:t> — </a:t>
            </a:r>
            <a:r>
              <a:rPr lang="en-US" dirty="0" err="1"/>
              <a:t>เอา</a:t>
            </a:r>
            <a:r>
              <a:rPr lang="en-US" dirty="0"/>
              <a:t> data type </a:t>
            </a:r>
            <a:r>
              <a:rPr lang="en-US" dirty="0" err="1"/>
              <a:t>มาจำกัดช่วงอีกที</a:t>
            </a:r>
            <a:r>
              <a:rPr lang="en-US" dirty="0"/>
              <a:t> </a:t>
            </a:r>
            <a:r>
              <a:rPr lang="en-US" dirty="0" err="1"/>
              <a:t>เช่น</a:t>
            </a:r>
            <a:r>
              <a:rPr lang="en-US" dirty="0"/>
              <a:t> Age </a:t>
            </a:r>
            <a:r>
              <a:rPr lang="en-US" dirty="0" err="1"/>
              <a:t>เป็น</a:t>
            </a:r>
            <a:r>
              <a:rPr lang="en-US" dirty="0"/>
              <a:t> integer </a:t>
            </a:r>
            <a:r>
              <a:rPr lang="en-US" dirty="0" err="1"/>
              <a:t>แต่จำกัดว่าต้องอยู่ระหว่าง</a:t>
            </a:r>
            <a:r>
              <a:rPr lang="en-US" dirty="0"/>
              <a:t> 0-120 </a:t>
            </a:r>
            <a:r>
              <a:rPr lang="en-US" dirty="0" err="1"/>
              <a:t>เท่านั้น</a:t>
            </a:r>
            <a:r>
              <a:rPr lang="en-US" dirty="0"/>
              <a:t> (</a:t>
            </a:r>
            <a:r>
              <a:rPr lang="en-US" dirty="0" err="1"/>
              <a:t>ใน</a:t>
            </a:r>
            <a:r>
              <a:rPr lang="en-US" dirty="0"/>
              <a:t> SQL </a:t>
            </a:r>
            <a:r>
              <a:rPr lang="en-US" dirty="0" err="1"/>
              <a:t>จริงมักใช้</a:t>
            </a:r>
            <a:r>
              <a:rPr lang="en-US" dirty="0"/>
              <a:t> </a:t>
            </a:r>
            <a:r>
              <a:rPr lang="en-US" sz="1200" kern="1200" dirty="0">
                <a:solidFill>
                  <a:schemeClr val="tx1"/>
                </a:solidFill>
                <a:latin typeface="+mn-lt"/>
                <a:ea typeface="+mn-ea"/>
                <a:cs typeface="+mn-cs"/>
              </a:rPr>
              <a:t>CHECK (age BETWEEN 0 AND 120)</a:t>
            </a:r>
            <a:r>
              <a:rPr lang="en-US" dirty="0"/>
              <a:t>)</a:t>
            </a:r>
          </a:p>
          <a:p>
            <a:pPr lvl="0" rtl="0"/>
            <a:r>
              <a:rPr lang="en-US" b="1" dirty="0"/>
              <a:t>Enumerated type</a:t>
            </a:r>
            <a:r>
              <a:rPr lang="en-US" dirty="0"/>
              <a:t> — </a:t>
            </a:r>
            <a:r>
              <a:rPr lang="en-US" dirty="0" err="1"/>
              <a:t>ระบุค่าที่เป็นไปได้ทั้งหมดตรงๆ</a:t>
            </a:r>
            <a:r>
              <a:rPr lang="en-US" dirty="0"/>
              <a:t> </a:t>
            </a:r>
            <a:r>
              <a:rPr lang="en-US" dirty="0" err="1"/>
              <a:t>เช่น</a:t>
            </a:r>
            <a:r>
              <a:rPr lang="en-US" dirty="0"/>
              <a:t> Sex </a:t>
            </a:r>
            <a:r>
              <a:rPr lang="en-US" dirty="0" err="1"/>
              <a:t>ต้องเป็น</a:t>
            </a:r>
            <a:r>
              <a:rPr lang="en-US" dirty="0"/>
              <a:t> 'M' </a:t>
            </a:r>
            <a:r>
              <a:rPr lang="en-US" dirty="0" err="1"/>
              <a:t>หรือ</a:t>
            </a:r>
            <a:r>
              <a:rPr lang="en-US" dirty="0"/>
              <a:t> 'F' </a:t>
            </a:r>
            <a:r>
              <a:rPr lang="en-US" dirty="0" err="1"/>
              <a:t>เท่านั้น</a:t>
            </a:r>
            <a:r>
              <a:rPr lang="en-US" dirty="0"/>
              <a:t> (</a:t>
            </a:r>
            <a:r>
              <a:rPr lang="en-US" dirty="0" err="1"/>
              <a:t>ใน</a:t>
            </a:r>
            <a:r>
              <a:rPr lang="en-US" dirty="0"/>
              <a:t> PostgreSQL </a:t>
            </a:r>
            <a:r>
              <a:rPr lang="en-US" dirty="0" err="1"/>
              <a:t>ใช้</a:t>
            </a:r>
            <a:r>
              <a:rPr lang="en-US" dirty="0"/>
              <a:t> </a:t>
            </a:r>
            <a:r>
              <a:rPr lang="en-US" sz="1200" kern="1200" dirty="0">
                <a:solidFill>
                  <a:schemeClr val="tx1"/>
                </a:solidFill>
                <a:latin typeface="+mn-lt"/>
                <a:ea typeface="+mn-ea"/>
                <a:cs typeface="+mn-cs"/>
              </a:rPr>
              <a:t>CHECK (sex IN ('M','F'))</a:t>
            </a:r>
            <a:r>
              <a:rPr lang="en-US" dirty="0"/>
              <a:t> </a:t>
            </a:r>
            <a:r>
              <a:rPr lang="en-US" dirty="0" err="1"/>
              <a:t>หรือสร้าง</a:t>
            </a:r>
            <a:r>
              <a:rPr lang="en-US" dirty="0"/>
              <a:t> </a:t>
            </a:r>
            <a:r>
              <a:rPr lang="en-US" sz="1200" kern="1200" dirty="0">
                <a:solidFill>
                  <a:schemeClr val="tx1"/>
                </a:solidFill>
                <a:latin typeface="+mn-lt"/>
                <a:ea typeface="+mn-ea"/>
                <a:cs typeface="+mn-cs"/>
              </a:rPr>
              <a:t>ENUM</a:t>
            </a:r>
            <a:r>
              <a:rPr lang="en-US" dirty="0"/>
              <a:t> type)</a:t>
            </a:r>
          </a:p>
          <a:p>
            <a:pPr rtl="0"/>
            <a:r>
              <a:rPr lang="en-US" dirty="0" err="1"/>
              <a:t>พูดง่ายๆ</a:t>
            </a:r>
            <a:r>
              <a:rPr lang="en-US" dirty="0"/>
              <a:t> Domain Constraint คือด่านแรกที่กันไม่ให้ข้อมูลผิดประเภทหรือผิดขอบเขตหลุดเข้ามาในตาราง</a:t>
            </a:r>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6</a:t>
            </a:fld>
            <a:endParaRPr lang="en-US"/>
          </a:p>
        </p:txBody>
      </p:sp>
    </p:spTree>
    <p:extLst>
      <p:ext uri="{BB962C8B-B14F-4D97-AF65-F5344CB8AC3E}">
        <p14:creationId xmlns:p14="http://schemas.microsoft.com/office/powerpoint/2010/main" val="39020281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rtl="0"/>
            <a:r>
              <a:rPr lang="en-US" b="1" dirty="0"/>
              <a:t>Super Key</a:t>
            </a:r>
            <a:r>
              <a:rPr lang="en-US" dirty="0"/>
              <a:t> = attribute (</a:t>
            </a:r>
            <a:r>
              <a:rPr lang="en-US" dirty="0" err="1"/>
              <a:t>หรือกลุ่ม</a:t>
            </a:r>
            <a:r>
              <a:rPr lang="en-US" dirty="0"/>
              <a:t> attribute) </a:t>
            </a:r>
            <a:r>
              <a:rPr lang="en-US" dirty="0" err="1"/>
              <a:t>ใดๆ</a:t>
            </a:r>
            <a:r>
              <a:rPr lang="en-US" dirty="0"/>
              <a:t> </a:t>
            </a:r>
            <a:r>
              <a:rPr lang="en-US" dirty="0" err="1"/>
              <a:t>ก็ตามที่ใช้ระบุแถวได้ไม่ซ้ำกัน</a:t>
            </a:r>
            <a:r>
              <a:rPr lang="en-US" dirty="0"/>
              <a:t> </a:t>
            </a:r>
            <a:r>
              <a:rPr lang="en-US" b="1" dirty="0" err="1"/>
              <a:t>แต่อาจมี</a:t>
            </a:r>
            <a:r>
              <a:rPr lang="en-US" b="1" dirty="0"/>
              <a:t> attribute </a:t>
            </a:r>
            <a:r>
              <a:rPr lang="en-US" b="1" dirty="0" err="1"/>
              <a:t>เกินจำเป็น</a:t>
            </a:r>
            <a:r>
              <a:rPr lang="en-US" dirty="0"/>
              <a:t> </a:t>
            </a:r>
            <a:r>
              <a:rPr lang="en-US" dirty="0" err="1"/>
              <a:t>เช่นตาราง</a:t>
            </a:r>
            <a:r>
              <a:rPr lang="en-US" dirty="0"/>
              <a:t> Student </a:t>
            </a:r>
            <a:r>
              <a:rPr lang="en-US" dirty="0" err="1"/>
              <a:t>ถ้ามี</a:t>
            </a:r>
            <a:r>
              <a:rPr lang="en-US" dirty="0"/>
              <a:t> (</a:t>
            </a:r>
            <a:r>
              <a:rPr lang="en-US" dirty="0" err="1"/>
              <a:t>StudentID</a:t>
            </a:r>
            <a:r>
              <a:rPr lang="en-US" dirty="0"/>
              <a:t>) </a:t>
            </a:r>
            <a:r>
              <a:rPr lang="en-US" dirty="0" err="1"/>
              <a:t>ก็ระบุแถวได้ไม่ซ้ำแล้ว</a:t>
            </a:r>
            <a:r>
              <a:rPr lang="en-US" dirty="0"/>
              <a:t> </a:t>
            </a:r>
            <a:r>
              <a:rPr lang="en-US" dirty="0" err="1"/>
              <a:t>แต่</a:t>
            </a:r>
            <a:r>
              <a:rPr lang="en-US" dirty="0"/>
              <a:t> (</a:t>
            </a:r>
            <a:r>
              <a:rPr lang="en-US" dirty="0" err="1"/>
              <a:t>StudentID</a:t>
            </a:r>
            <a:r>
              <a:rPr lang="en-US" dirty="0"/>
              <a:t>, Name) </a:t>
            </a:r>
            <a:r>
              <a:rPr lang="en-US" dirty="0" err="1"/>
              <a:t>ก็ยังเป็น</a:t>
            </a:r>
            <a:r>
              <a:rPr lang="en-US" dirty="0"/>
              <a:t> Super Key </a:t>
            </a:r>
            <a:r>
              <a:rPr lang="en-US" dirty="0" err="1"/>
              <a:t>ได้เหมือนกัน</a:t>
            </a:r>
            <a:r>
              <a:rPr lang="en-US" dirty="0"/>
              <a:t> (</a:t>
            </a:r>
            <a:r>
              <a:rPr lang="en-US" dirty="0" err="1"/>
              <a:t>แค่มี</a:t>
            </a:r>
            <a:r>
              <a:rPr lang="en-US" dirty="0"/>
              <a:t> Name </a:t>
            </a:r>
            <a:r>
              <a:rPr lang="en-US" dirty="0" err="1"/>
              <a:t>ติดมาแบบไม่จำเป็น</a:t>
            </a:r>
            <a:r>
              <a:rPr lang="en-US" dirty="0"/>
              <a:t>)</a:t>
            </a:r>
          </a:p>
          <a:p>
            <a:pPr lvl="0" rtl="0"/>
            <a:r>
              <a:rPr lang="en-US" b="1" dirty="0"/>
              <a:t>Candidate Key</a:t>
            </a:r>
            <a:r>
              <a:rPr lang="en-US" dirty="0"/>
              <a:t> = Super Key </a:t>
            </a:r>
            <a:r>
              <a:rPr lang="en-US" dirty="0" err="1"/>
              <a:t>ที่</a:t>
            </a:r>
            <a:r>
              <a:rPr lang="en-US" dirty="0"/>
              <a:t> </a:t>
            </a:r>
            <a:r>
              <a:rPr lang="en-US" b="1" dirty="0" err="1"/>
              <a:t>ตัดจนเหลือน้อยที่สุด</a:t>
            </a:r>
            <a:r>
              <a:rPr lang="en-US" dirty="0"/>
              <a:t> (minimal) </a:t>
            </a:r>
            <a:r>
              <a:rPr lang="en-US" dirty="0" err="1"/>
              <a:t>แล้ว</a:t>
            </a:r>
            <a:r>
              <a:rPr lang="en-US" dirty="0"/>
              <a:t> </a:t>
            </a:r>
            <a:r>
              <a:rPr lang="en-US" dirty="0" err="1"/>
              <a:t>คือถ้าตัด</a:t>
            </a:r>
            <a:r>
              <a:rPr lang="en-US" dirty="0"/>
              <a:t> attribute </a:t>
            </a:r>
            <a:r>
              <a:rPr lang="en-US" dirty="0" err="1"/>
              <a:t>ออกอีกสักตัวจะระบุแถวไม่ได้ทันที</a:t>
            </a:r>
            <a:r>
              <a:rPr lang="en-US" dirty="0"/>
              <a:t> — </a:t>
            </a:r>
            <a:r>
              <a:rPr lang="en-US" dirty="0" err="1"/>
              <a:t>ตารางหนึ่งอาจมี</a:t>
            </a:r>
            <a:r>
              <a:rPr lang="en-US" dirty="0"/>
              <a:t> Candidate Key </a:t>
            </a:r>
            <a:r>
              <a:rPr lang="en-US" dirty="0" err="1"/>
              <a:t>ได้หลายชุด</a:t>
            </a:r>
            <a:r>
              <a:rPr lang="en-US" dirty="0"/>
              <a:t> </a:t>
            </a:r>
            <a:r>
              <a:rPr lang="en-US" dirty="0" err="1"/>
              <a:t>เช่น</a:t>
            </a:r>
            <a:r>
              <a:rPr lang="en-US" dirty="0"/>
              <a:t> Employee </a:t>
            </a:r>
            <a:r>
              <a:rPr lang="en-US" dirty="0" err="1"/>
              <a:t>อาจมีทั้ง</a:t>
            </a:r>
            <a:r>
              <a:rPr lang="en-US" dirty="0"/>
              <a:t> </a:t>
            </a:r>
            <a:r>
              <a:rPr lang="en-US" dirty="0" err="1"/>
              <a:t>EmpID</a:t>
            </a:r>
            <a:r>
              <a:rPr lang="en-US" dirty="0"/>
              <a:t> </a:t>
            </a:r>
            <a:r>
              <a:rPr lang="en-US" dirty="0" err="1"/>
              <a:t>และ</a:t>
            </a:r>
            <a:r>
              <a:rPr lang="en-US" dirty="0"/>
              <a:t> Email </a:t>
            </a:r>
            <a:r>
              <a:rPr lang="en-US" dirty="0" err="1"/>
              <a:t>ที่ต่างก็</a:t>
            </a:r>
            <a:r>
              <a:rPr lang="en-US" dirty="0"/>
              <a:t> unique </a:t>
            </a:r>
            <a:r>
              <a:rPr lang="en-US" dirty="0" err="1"/>
              <a:t>พอจะเป็น</a:t>
            </a:r>
            <a:r>
              <a:rPr lang="en-US" dirty="0"/>
              <a:t> Candidate Key </a:t>
            </a:r>
            <a:r>
              <a:rPr lang="en-US" dirty="0" err="1"/>
              <a:t>ได้ทั้งคู่</a:t>
            </a:r>
            <a:endParaRPr lang="en-US" dirty="0"/>
          </a:p>
          <a:p>
            <a:pPr lvl="0" rtl="0"/>
            <a:r>
              <a:rPr lang="en-US" b="1" dirty="0"/>
              <a:t>Primary Key</a:t>
            </a:r>
            <a:r>
              <a:rPr lang="en-US" dirty="0"/>
              <a:t> = Candidate Key </a:t>
            </a:r>
            <a:r>
              <a:rPr lang="en-US" dirty="0" err="1"/>
              <a:t>ที่</a:t>
            </a:r>
            <a:r>
              <a:rPr lang="en-US" b="1" dirty="0" err="1"/>
              <a:t>เลือกมา</a:t>
            </a:r>
            <a:r>
              <a:rPr lang="en-US" b="1" dirty="0"/>
              <a:t> 1 </a:t>
            </a:r>
            <a:r>
              <a:rPr lang="en-US" b="1" dirty="0" err="1"/>
              <a:t>ชุด</a:t>
            </a:r>
            <a:r>
              <a:rPr lang="en-US" dirty="0" err="1"/>
              <a:t>เพื่อใช้เป็นตัวระบุหลักของตารางจริงๆ</a:t>
            </a:r>
            <a:r>
              <a:rPr lang="en-US" dirty="0"/>
              <a:t> (</a:t>
            </a:r>
            <a:r>
              <a:rPr lang="en-US" dirty="0" err="1"/>
              <a:t>ส่วน</a:t>
            </a:r>
            <a:r>
              <a:rPr lang="en-US" dirty="0"/>
              <a:t> candidate key </a:t>
            </a:r>
            <a:r>
              <a:rPr lang="en-US" dirty="0" err="1"/>
              <a:t>ที่เหลือเรียกว่า</a:t>
            </a:r>
            <a:r>
              <a:rPr lang="en-US" dirty="0"/>
              <a:t> Alternate Key)</a:t>
            </a:r>
          </a:p>
          <a:p>
            <a:pPr rtl="0"/>
            <a:r>
              <a:rPr lang="en-US" b="1" dirty="0" err="1"/>
              <a:t>เรื่อง</a:t>
            </a:r>
            <a:r>
              <a:rPr lang="en-US" b="1" dirty="0"/>
              <a:t> NULL</a:t>
            </a:r>
            <a:r>
              <a:rPr lang="en-US" dirty="0"/>
              <a:t>: </a:t>
            </a:r>
            <a:r>
              <a:rPr lang="en-US" dirty="0" err="1"/>
              <a:t>สไลด์บอกว่า</a:t>
            </a:r>
            <a:r>
              <a:rPr lang="en-US" dirty="0"/>
              <a:t> "NULL values are or are not permitted" </a:t>
            </a:r>
            <a:r>
              <a:rPr lang="en-US" dirty="0" err="1"/>
              <a:t>หมายถึงว่าแต่ละ</a:t>
            </a:r>
            <a:r>
              <a:rPr lang="en-US" dirty="0"/>
              <a:t> column </a:t>
            </a:r>
            <a:r>
              <a:rPr lang="en-US" dirty="0" err="1"/>
              <a:t>ต้องกำหนดชัดว่า</a:t>
            </a:r>
            <a:r>
              <a:rPr lang="en-US" dirty="0"/>
              <a:t> </a:t>
            </a:r>
            <a:r>
              <a:rPr lang="en-US" b="1" dirty="0" err="1"/>
              <a:t>อนุญาตให้เป็น</a:t>
            </a:r>
            <a:r>
              <a:rPr lang="en-US" b="1" dirty="0"/>
              <a:t> NULL </a:t>
            </a:r>
            <a:r>
              <a:rPr lang="en-US" b="1" dirty="0" err="1"/>
              <a:t>ได้หรือไม่</a:t>
            </a:r>
            <a:r>
              <a:rPr lang="en-US" dirty="0"/>
              <a:t> (</a:t>
            </a:r>
            <a:r>
              <a:rPr lang="en-US" dirty="0" err="1"/>
              <a:t>เช่น</a:t>
            </a:r>
            <a:r>
              <a:rPr lang="en-US" dirty="0"/>
              <a:t> </a:t>
            </a:r>
            <a:r>
              <a:rPr lang="en-US" sz="1200" kern="1200" dirty="0">
                <a:solidFill>
                  <a:schemeClr val="tx1"/>
                </a:solidFill>
                <a:latin typeface="+mn-lt"/>
                <a:ea typeface="+mn-ea"/>
                <a:cs typeface="+mn-cs"/>
              </a:rPr>
              <a:t>NOT NULL</a:t>
            </a:r>
            <a:r>
              <a:rPr lang="en-US" dirty="0"/>
              <a:t> </a:t>
            </a:r>
            <a:r>
              <a:rPr lang="en-US" dirty="0" err="1"/>
              <a:t>ใน</a:t>
            </a:r>
            <a:r>
              <a:rPr lang="en-US" dirty="0"/>
              <a:t> SQL) — </a:t>
            </a:r>
            <a:r>
              <a:rPr lang="en-US" dirty="0" err="1"/>
              <a:t>และนี่คือจุดเชื่อมไปหน้า</a:t>
            </a:r>
            <a:r>
              <a:rPr lang="en-US" dirty="0"/>
              <a:t> 7 </a:t>
            </a:r>
            <a:r>
              <a:rPr lang="en-US" dirty="0" err="1"/>
              <a:t>เลย</a:t>
            </a:r>
            <a:r>
              <a:rPr lang="en-US" dirty="0"/>
              <a:t> </a:t>
            </a:r>
            <a:r>
              <a:rPr lang="en-US" dirty="0" err="1"/>
              <a:t>เพราะ</a:t>
            </a:r>
            <a:r>
              <a:rPr lang="en-US" dirty="0"/>
              <a:t> Primary Key </a:t>
            </a:r>
            <a:r>
              <a:rPr lang="en-US" dirty="0" err="1"/>
              <a:t>มีกฎพิเศษเรื่อง</a:t>
            </a:r>
            <a:r>
              <a:rPr lang="en-US" dirty="0"/>
              <a:t> NULL </a:t>
            </a:r>
            <a:r>
              <a:rPr lang="en-US" dirty="0" err="1"/>
              <a:t>ที่เข้มกว่า</a:t>
            </a:r>
            <a:r>
              <a:rPr lang="en-US" dirty="0"/>
              <a:t> column </a:t>
            </a:r>
            <a:r>
              <a:rPr lang="en-US" dirty="0" err="1"/>
              <a:t>ทั่วไป</a:t>
            </a:r>
            <a:endParaRPr lang="en-US" dirty="0"/>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7</a:t>
            </a:fld>
            <a:endParaRPr lang="en-US"/>
          </a:p>
        </p:txBody>
      </p:sp>
    </p:spTree>
    <p:extLst>
      <p:ext uri="{BB962C8B-B14F-4D97-AF65-F5344CB8AC3E}">
        <p14:creationId xmlns:p14="http://schemas.microsoft.com/office/powerpoint/2010/main" val="20793396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t>Entity Integrity Constraint</a:t>
            </a:r>
          </a:p>
          <a:p>
            <a:pPr rtl="0"/>
            <a:r>
              <a:rPr lang="en-US" dirty="0"/>
              <a:t>"no primary key value can be NULL"</a:t>
            </a:r>
          </a:p>
          <a:p>
            <a:pPr rtl="0"/>
            <a:r>
              <a:rPr lang="en-US" dirty="0" err="1"/>
              <a:t>กฎนี้เจาะจงเฉพาะ</a:t>
            </a:r>
            <a:r>
              <a:rPr lang="en-US" dirty="0"/>
              <a:t> </a:t>
            </a:r>
            <a:r>
              <a:rPr lang="en-US" b="1" dirty="0"/>
              <a:t>Primary Key </a:t>
            </a:r>
            <a:r>
              <a:rPr lang="en-US" b="1" dirty="0" err="1"/>
              <a:t>เท่านั้น</a:t>
            </a:r>
            <a:r>
              <a:rPr lang="en-US" dirty="0"/>
              <a:t> (</a:t>
            </a:r>
            <a:r>
              <a:rPr lang="en-US" dirty="0" err="1"/>
              <a:t>ไม่ใช่</a:t>
            </a:r>
            <a:r>
              <a:rPr lang="en-US" dirty="0"/>
              <a:t> column </a:t>
            </a:r>
            <a:r>
              <a:rPr lang="en-US" dirty="0" err="1"/>
              <a:t>ทั่วไป</a:t>
            </a:r>
            <a:r>
              <a:rPr lang="en-US" dirty="0"/>
              <a:t>) </a:t>
            </a:r>
            <a:r>
              <a:rPr lang="en-US" dirty="0" err="1"/>
              <a:t>และเป็นกฎที่</a:t>
            </a:r>
            <a:r>
              <a:rPr lang="en-US" b="1" dirty="0" err="1"/>
              <a:t>ห้ามยกเว้นเด็ดขาด</a:t>
            </a:r>
            <a:endParaRPr lang="en-US" dirty="0"/>
          </a:p>
          <a:p>
            <a:pPr rtl="0"/>
            <a:r>
              <a:rPr lang="en-US" b="1" dirty="0" err="1"/>
              <a:t>เหตุผล</a:t>
            </a:r>
            <a:r>
              <a:rPr lang="en-US" dirty="0"/>
              <a:t>: Primary Key </a:t>
            </a:r>
            <a:r>
              <a:rPr lang="en-US" dirty="0" err="1"/>
              <a:t>มีหน้าที่</a:t>
            </a:r>
            <a:r>
              <a:rPr lang="en-US" dirty="0"/>
              <a:t> "</a:t>
            </a:r>
            <a:r>
              <a:rPr lang="en-US" dirty="0" err="1"/>
              <a:t>ระบุตัวตนของแถวนั้นๆ</a:t>
            </a:r>
            <a:r>
              <a:rPr lang="en-US" dirty="0"/>
              <a:t>" </a:t>
            </a:r>
            <a:r>
              <a:rPr lang="en-US" dirty="0" err="1"/>
              <a:t>ถ้า</a:t>
            </a:r>
            <a:r>
              <a:rPr lang="en-US" dirty="0"/>
              <a:t> PK </a:t>
            </a:r>
            <a:r>
              <a:rPr lang="en-US" dirty="0" err="1"/>
              <a:t>เป็น</a:t>
            </a:r>
            <a:r>
              <a:rPr lang="en-US" dirty="0"/>
              <a:t> NULL </a:t>
            </a:r>
            <a:r>
              <a:rPr lang="en-US" dirty="0" err="1"/>
              <a:t>ก็แปลว่า</a:t>
            </a:r>
            <a:r>
              <a:rPr lang="en-US" dirty="0"/>
              <a:t> database </a:t>
            </a:r>
            <a:r>
              <a:rPr lang="en-US" dirty="0" err="1"/>
              <a:t>ไม่รู้ว่าแถวนั้นคือใคร</a:t>
            </a:r>
            <a:r>
              <a:rPr lang="en-US" dirty="0"/>
              <a:t> </a:t>
            </a:r>
            <a:r>
              <a:rPr lang="en-US" dirty="0" err="1"/>
              <a:t>ระบุตัวตนไม่ได้</a:t>
            </a:r>
            <a:r>
              <a:rPr lang="en-US" dirty="0"/>
              <a:t> — </a:t>
            </a:r>
            <a:r>
              <a:rPr lang="en-US" dirty="0" err="1"/>
              <a:t>ขัดกับหน้าที่ของมันเองโดยตรง</a:t>
            </a:r>
            <a:r>
              <a:rPr lang="en-US" dirty="0"/>
              <a:t> (</a:t>
            </a:r>
            <a:r>
              <a:rPr lang="en-US" dirty="0" err="1"/>
              <a:t>ต่างจาก</a:t>
            </a:r>
            <a:r>
              <a:rPr lang="en-US" dirty="0"/>
              <a:t> column </a:t>
            </a:r>
            <a:r>
              <a:rPr lang="en-US" dirty="0" err="1"/>
              <a:t>ธรรมดาที่ยอมให้</a:t>
            </a:r>
            <a:r>
              <a:rPr lang="en-US" dirty="0"/>
              <a:t> NULL </a:t>
            </a:r>
            <a:r>
              <a:rPr lang="en-US" dirty="0" err="1"/>
              <a:t>ได้ถ้าเรากำหนดแบบนั้น</a:t>
            </a:r>
            <a:r>
              <a:rPr lang="en-US" dirty="0"/>
              <a:t>)</a:t>
            </a:r>
          </a:p>
          <a:p>
            <a:pPr rtl="0"/>
            <a:r>
              <a:rPr lang="en-US" dirty="0" err="1"/>
              <a:t>สไลด์ยังบอกด้วยว่า</a:t>
            </a:r>
            <a:r>
              <a:rPr lang="en-US" dirty="0"/>
              <a:t>:</a:t>
            </a:r>
          </a:p>
          <a:p>
            <a:pPr lvl="0" rtl="0"/>
            <a:r>
              <a:rPr lang="en-US" b="1" dirty="0"/>
              <a:t>Key constraint + Entity integrity constraint</a:t>
            </a:r>
            <a:r>
              <a:rPr lang="en-US" dirty="0"/>
              <a:t> </a:t>
            </a:r>
            <a:r>
              <a:rPr lang="en-US" dirty="0" err="1"/>
              <a:t>เป็นกฎที่</a:t>
            </a:r>
            <a:r>
              <a:rPr lang="en-US" dirty="0"/>
              <a:t> "</a:t>
            </a:r>
            <a:r>
              <a:rPr lang="en-US" dirty="0" err="1"/>
              <a:t>อยู่ภายในตารางเดียว</a:t>
            </a:r>
            <a:r>
              <a:rPr lang="en-US" dirty="0"/>
              <a:t>" (</a:t>
            </a:r>
            <a:r>
              <a:rPr lang="en-US" dirty="0" err="1"/>
              <a:t>ดูตารางเดียวก็ตรวจสอบได้</a:t>
            </a:r>
            <a:r>
              <a:rPr lang="en-US" dirty="0"/>
              <a:t>)</a:t>
            </a:r>
          </a:p>
          <a:p>
            <a:pPr lvl="0" rtl="0"/>
            <a:r>
              <a:rPr lang="en-US" dirty="0" err="1"/>
              <a:t>ต่างจาก</a:t>
            </a:r>
            <a:r>
              <a:rPr lang="en-US" dirty="0"/>
              <a:t> </a:t>
            </a:r>
            <a:r>
              <a:rPr lang="en-US" b="1" dirty="0"/>
              <a:t>Referential Integrity Constraint</a:t>
            </a:r>
            <a:r>
              <a:rPr lang="en-US" dirty="0"/>
              <a:t> </a:t>
            </a:r>
            <a:r>
              <a:rPr lang="en-US" dirty="0" err="1"/>
              <a:t>ที่เป็นกฎ</a:t>
            </a:r>
            <a:r>
              <a:rPr lang="en-US" dirty="0"/>
              <a:t> "</a:t>
            </a:r>
            <a:r>
              <a:rPr lang="en-US" dirty="0" err="1"/>
              <a:t>ระหว่าง</a:t>
            </a:r>
            <a:r>
              <a:rPr lang="en-US" dirty="0"/>
              <a:t> 2 </a:t>
            </a:r>
            <a:r>
              <a:rPr lang="en-US" dirty="0" err="1"/>
              <a:t>ตาราง</a:t>
            </a:r>
            <a:r>
              <a:rPr lang="en-US" dirty="0"/>
              <a:t>" (</a:t>
            </a:r>
            <a:r>
              <a:rPr lang="en-US" dirty="0" err="1"/>
              <a:t>ต้องดู</a:t>
            </a:r>
            <a:r>
              <a:rPr lang="en-US" dirty="0"/>
              <a:t> Employee </a:t>
            </a:r>
            <a:r>
              <a:rPr lang="en-US" dirty="0" err="1"/>
              <a:t>คู่กับ</a:t>
            </a:r>
            <a:r>
              <a:rPr lang="en-US" dirty="0"/>
              <a:t> Department) — </a:t>
            </a:r>
            <a:r>
              <a:rPr lang="en-US" dirty="0" err="1"/>
              <a:t>นี่คือ</a:t>
            </a:r>
            <a:r>
              <a:rPr lang="en-US" dirty="0"/>
              <a:t> Foreign Key </a:t>
            </a:r>
            <a:r>
              <a:rPr lang="en-US" dirty="0" err="1"/>
              <a:t>ที่เราคุยกันไปแล้วในหน้าหลังๆ</a:t>
            </a:r>
            <a:r>
              <a:rPr lang="en-US" dirty="0"/>
              <a:t> </a:t>
            </a:r>
            <a:r>
              <a:rPr lang="en-US" dirty="0" err="1"/>
              <a:t>ก่อนหน้านี้</a:t>
            </a:r>
            <a:endParaRPr lang="en-US" dirty="0"/>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8</a:t>
            </a:fld>
            <a:endParaRPr lang="en-US"/>
          </a:p>
        </p:txBody>
      </p:sp>
    </p:spTree>
    <p:extLst>
      <p:ext uri="{BB962C8B-B14F-4D97-AF65-F5344CB8AC3E}">
        <p14:creationId xmlns:p14="http://schemas.microsoft.com/office/powerpoint/2010/main" val="9623583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err="1"/>
              <a:t>คำศัพท์ที่ต้องเข้าใจก่อน</a:t>
            </a:r>
            <a:r>
              <a:rPr lang="en-US" b="1" dirty="0"/>
              <a:t>:</a:t>
            </a:r>
            <a:endParaRPr lang="en-US" dirty="0"/>
          </a:p>
          <a:p>
            <a:pPr lvl="0" rtl="0"/>
            <a:r>
              <a:rPr lang="en-US" b="1" dirty="0"/>
              <a:t>Parent Table</a:t>
            </a:r>
            <a:r>
              <a:rPr lang="en-US" dirty="0"/>
              <a:t> = </a:t>
            </a:r>
            <a:r>
              <a:rPr lang="en-US" dirty="0" err="1"/>
              <a:t>ตารางที่ถูกอ้างอิง</a:t>
            </a:r>
            <a:r>
              <a:rPr lang="en-US" dirty="0"/>
              <a:t> (</a:t>
            </a:r>
            <a:r>
              <a:rPr lang="en-US" dirty="0" err="1"/>
              <a:t>มี</a:t>
            </a:r>
            <a:r>
              <a:rPr lang="en-US" dirty="0"/>
              <a:t> Primary Key </a:t>
            </a:r>
            <a:r>
              <a:rPr lang="en-US" dirty="0" err="1"/>
              <a:t>ที่อีกตารางหนึ่งชี้มาหา</a:t>
            </a:r>
            <a:r>
              <a:rPr lang="en-US" dirty="0"/>
              <a:t>) — </a:t>
            </a:r>
            <a:r>
              <a:rPr lang="en-US" dirty="0" err="1"/>
              <a:t>ในที่นี้คือ</a:t>
            </a:r>
            <a:r>
              <a:rPr lang="en-US" dirty="0"/>
              <a:t> Department</a:t>
            </a:r>
          </a:p>
          <a:p>
            <a:pPr lvl="0" rtl="0"/>
            <a:r>
              <a:rPr lang="en-US" b="1" dirty="0"/>
              <a:t>Child Table</a:t>
            </a:r>
            <a:r>
              <a:rPr lang="en-US" dirty="0"/>
              <a:t> = </a:t>
            </a:r>
            <a:r>
              <a:rPr lang="en-US" dirty="0" err="1"/>
              <a:t>ตารางที่ไปอ้างอิงตารางอื่น</a:t>
            </a:r>
            <a:r>
              <a:rPr lang="en-US" dirty="0"/>
              <a:t> (</a:t>
            </a:r>
            <a:r>
              <a:rPr lang="en-US" dirty="0" err="1"/>
              <a:t>มี</a:t>
            </a:r>
            <a:r>
              <a:rPr lang="en-US" dirty="0"/>
              <a:t> Foreign Key </a:t>
            </a:r>
            <a:r>
              <a:rPr lang="en-US" dirty="0" err="1"/>
              <a:t>ชี้ไปที่</a:t>
            </a:r>
            <a:r>
              <a:rPr lang="en-US" dirty="0"/>
              <a:t> Primary Key </a:t>
            </a:r>
            <a:r>
              <a:rPr lang="en-US" dirty="0" err="1"/>
              <a:t>ของตารางแม่</a:t>
            </a:r>
            <a:r>
              <a:rPr lang="en-US" dirty="0"/>
              <a:t>) — </a:t>
            </a:r>
            <a:r>
              <a:rPr lang="en-US" dirty="0" err="1"/>
              <a:t>ในที่นี้คือ</a:t>
            </a:r>
            <a:r>
              <a:rPr lang="en-US" dirty="0"/>
              <a:t> Employee</a:t>
            </a:r>
          </a:p>
          <a:p>
            <a:pPr rtl="0"/>
            <a:r>
              <a:rPr lang="en-US" b="1" dirty="0"/>
              <a:t>Foreign Key (FK)</a:t>
            </a:r>
            <a:r>
              <a:rPr lang="en-US" dirty="0"/>
              <a:t> </a:t>
            </a:r>
            <a:r>
              <a:rPr lang="en-US" dirty="0" err="1"/>
              <a:t>คือ</a:t>
            </a:r>
            <a:r>
              <a:rPr lang="en-US" dirty="0"/>
              <a:t> column </a:t>
            </a:r>
            <a:r>
              <a:rPr lang="en-US" dirty="0" err="1"/>
              <a:t>ในตารางลูก</a:t>
            </a:r>
            <a:r>
              <a:rPr lang="en-US" dirty="0"/>
              <a:t> </a:t>
            </a:r>
            <a:r>
              <a:rPr lang="en-US" dirty="0" err="1"/>
              <a:t>ที่</a:t>
            </a:r>
            <a:r>
              <a:rPr lang="en-US" b="1" dirty="0" err="1"/>
              <a:t>ค่าของมันต้องตรงกับค่าที่มีอยู่จริง</a:t>
            </a:r>
            <a:r>
              <a:rPr lang="en-US" dirty="0" err="1"/>
              <a:t>ใน</a:t>
            </a:r>
            <a:r>
              <a:rPr lang="en-US" dirty="0"/>
              <a:t> Primary Key </a:t>
            </a:r>
            <a:r>
              <a:rPr lang="en-US" dirty="0" err="1"/>
              <a:t>ของตารางแม่เท่านั้น</a:t>
            </a:r>
            <a:r>
              <a:rPr lang="en-US" dirty="0"/>
              <a:t> — </a:t>
            </a:r>
            <a:r>
              <a:rPr lang="en-US" dirty="0" err="1"/>
              <a:t>จะใส่ค่าที่ไม่มีอยู่ใน</a:t>
            </a:r>
            <a:r>
              <a:rPr lang="en-US" dirty="0"/>
              <a:t> </a:t>
            </a:r>
            <a:r>
              <a:rPr lang="en-US" dirty="0" err="1"/>
              <a:t>Department.DeptID</a:t>
            </a:r>
            <a:r>
              <a:rPr lang="en-US" dirty="0"/>
              <a:t> </a:t>
            </a:r>
            <a:r>
              <a:rPr lang="en-US" dirty="0" err="1"/>
              <a:t>เข้าไปใน</a:t>
            </a:r>
            <a:r>
              <a:rPr lang="en-US" dirty="0"/>
              <a:t> </a:t>
            </a:r>
            <a:r>
              <a:rPr lang="en-US" dirty="0" err="1"/>
              <a:t>Employee.DeptID</a:t>
            </a:r>
            <a:r>
              <a:rPr lang="en-US" dirty="0"/>
              <a:t> </a:t>
            </a:r>
            <a:r>
              <a:rPr lang="en-US" dirty="0" err="1"/>
              <a:t>ไม่ได้</a:t>
            </a:r>
            <a:endParaRPr lang="en-US" dirty="0"/>
          </a:p>
          <a:p>
            <a:pPr rtl="0"/>
            <a:r>
              <a:rPr lang="en-US" dirty="0" err="1"/>
              <a:t>พูดเป็นภาษาชาวบ้าน</a:t>
            </a:r>
            <a:r>
              <a:rPr lang="en-US" dirty="0"/>
              <a:t>: "</a:t>
            </a:r>
            <a:r>
              <a:rPr lang="en-US" dirty="0" err="1"/>
              <a:t>พนักงานทุกคนต้องสังกัดแผนกที่มีอยู่จริงเท่านั้น</a:t>
            </a:r>
            <a:r>
              <a:rPr lang="en-US" dirty="0"/>
              <a:t> </a:t>
            </a:r>
            <a:r>
              <a:rPr lang="en-US" dirty="0" err="1"/>
              <a:t>จะสังกัดแผนกที่ไม่มีอยู่ในระบบไม่ได้</a:t>
            </a:r>
            <a:r>
              <a:rPr lang="en-US" dirty="0"/>
              <a:t>"</a:t>
            </a:r>
          </a:p>
          <a:p>
            <a:pPr rtl="0"/>
            <a:r>
              <a:rPr lang="en-US" b="1" dirty="0"/>
              <a:t>Referential Integrity Constraint</a:t>
            </a:r>
            <a:r>
              <a:rPr lang="en-US" dirty="0"/>
              <a:t> </a:t>
            </a:r>
            <a:r>
              <a:rPr lang="en-US" dirty="0" err="1"/>
              <a:t>คือกฎที่บังคับความสัมพันธ์นี้</a:t>
            </a:r>
            <a:r>
              <a:rPr lang="en-US" dirty="0"/>
              <a:t> — </a:t>
            </a:r>
            <a:r>
              <a:rPr lang="en-US" dirty="0" err="1"/>
              <a:t>มันคือสิ่งที่เชื่อม</a:t>
            </a:r>
            <a:r>
              <a:rPr lang="en-US" dirty="0"/>
              <a:t> 2 </a:t>
            </a:r>
            <a:r>
              <a:rPr lang="en-US" dirty="0" err="1"/>
              <a:t>ตารางเข้าด้วยกันแบบมีเงื่อนไข</a:t>
            </a:r>
            <a:r>
              <a:rPr lang="en-US" dirty="0"/>
              <a:t> </a:t>
            </a:r>
            <a:r>
              <a:rPr lang="en-US" dirty="0" err="1"/>
              <a:t>ไม่ใช่แค่เขียน</a:t>
            </a:r>
            <a:r>
              <a:rPr lang="en-US" dirty="0"/>
              <a:t> column </a:t>
            </a:r>
            <a:r>
              <a:rPr lang="en-US" dirty="0" err="1"/>
              <a:t>ชื่อเดียวกันไว้เฉยๆ</a:t>
            </a:r>
            <a:r>
              <a:rPr lang="en-US" dirty="0"/>
              <a:t> (</a:t>
            </a:r>
            <a:r>
              <a:rPr lang="en-US" dirty="0" err="1"/>
              <a:t>ถ้าไม่มี</a:t>
            </a:r>
            <a:r>
              <a:rPr lang="en-US" dirty="0"/>
              <a:t> constraint </a:t>
            </a:r>
            <a:r>
              <a:rPr lang="en-US" dirty="0" err="1"/>
              <a:t>นี้บังคับ</a:t>
            </a:r>
            <a:r>
              <a:rPr lang="en-US" dirty="0"/>
              <a:t> database </a:t>
            </a:r>
            <a:r>
              <a:rPr lang="en-US" dirty="0" err="1"/>
              <a:t>จะไม่ตรวจสอบให้เลย</a:t>
            </a:r>
            <a:r>
              <a:rPr lang="en-US" dirty="0"/>
              <a:t> — </a:t>
            </a:r>
            <a:r>
              <a:rPr lang="en-US" dirty="0" err="1"/>
              <a:t>นี่คือรากของปัญหา</a:t>
            </a:r>
            <a:r>
              <a:rPr lang="en-US" dirty="0"/>
              <a:t> Orphan Record </a:t>
            </a:r>
            <a:r>
              <a:rPr lang="en-US" dirty="0" err="1"/>
              <a:t>ที่จะเจอในหน้า</a:t>
            </a:r>
            <a:r>
              <a:rPr lang="en-US" dirty="0"/>
              <a:t> 10-11)</a:t>
            </a:r>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9</a:t>
            </a:fld>
            <a:endParaRPr lang="en-US"/>
          </a:p>
        </p:txBody>
      </p:sp>
    </p:spTree>
    <p:extLst>
      <p:ext uri="{BB962C8B-B14F-4D97-AF65-F5344CB8AC3E}">
        <p14:creationId xmlns:p14="http://schemas.microsoft.com/office/powerpoint/2010/main" val="14454619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t>1. Data Accuracy and Consistency (</a:t>
            </a:r>
            <a:r>
              <a:rPr lang="en-US" b="1" dirty="0" err="1"/>
              <a:t>ความถูกต้องและสอดคล้องของข้อมูล</a:t>
            </a:r>
            <a:r>
              <a:rPr lang="en-US" b="1" dirty="0"/>
              <a:t>)</a:t>
            </a:r>
            <a:br>
              <a:rPr lang="en-US" dirty="0"/>
            </a:br>
            <a:r>
              <a:rPr lang="en-US" dirty="0" err="1"/>
              <a:t>ป้องกัน</a:t>
            </a:r>
            <a:r>
              <a:rPr lang="en-US" dirty="0"/>
              <a:t> "orphan record" (</a:t>
            </a:r>
            <a:r>
              <a:rPr lang="en-US" dirty="0" err="1"/>
              <a:t>แถวที่</a:t>
            </a:r>
            <a:r>
              <a:rPr lang="en-US" dirty="0"/>
              <a:t> FK </a:t>
            </a:r>
            <a:r>
              <a:rPr lang="en-US" dirty="0" err="1"/>
              <a:t>ชี้ไปยังของที่ไม่มีอยู่จริง</a:t>
            </a:r>
            <a:r>
              <a:rPr lang="en-US" dirty="0"/>
              <a:t>) </a:t>
            </a:r>
            <a:r>
              <a:rPr lang="en-US" dirty="0" err="1"/>
              <a:t>เช่น</a:t>
            </a:r>
            <a:r>
              <a:rPr lang="en-US" dirty="0"/>
              <a:t> order </a:t>
            </a:r>
            <a:r>
              <a:rPr lang="en-US" dirty="0" err="1"/>
              <a:t>ที่อ้างอิงลูกค้าที่ไม่มีตัวตน</a:t>
            </a:r>
            <a:r>
              <a:rPr lang="en-US" dirty="0"/>
              <a:t> — </a:t>
            </a:r>
            <a:r>
              <a:rPr lang="en-US" dirty="0" err="1"/>
              <a:t>ทำให้ความสัมพันธ์ระหว่างตารางยังคง</a:t>
            </a:r>
            <a:r>
              <a:rPr lang="en-US" dirty="0"/>
              <a:t> "</a:t>
            </a:r>
            <a:r>
              <a:rPr lang="en-US" dirty="0" err="1"/>
              <a:t>สมเหตุสมผล</a:t>
            </a:r>
            <a:r>
              <a:rPr lang="en-US" dirty="0"/>
              <a:t>" </a:t>
            </a:r>
            <a:r>
              <a:rPr lang="en-US" dirty="0" err="1"/>
              <a:t>อยู่เสมอ</a:t>
            </a:r>
            <a:endParaRPr lang="en-US" dirty="0"/>
          </a:p>
          <a:p>
            <a:pPr rtl="0"/>
            <a:r>
              <a:rPr lang="en-US" b="1" dirty="0"/>
              <a:t>2. Error Prevention (</a:t>
            </a:r>
            <a:r>
              <a:rPr lang="en-US" b="1" dirty="0" err="1"/>
              <a:t>ป้องกันความผิดพลาด</a:t>
            </a:r>
            <a:r>
              <a:rPr lang="en-US" b="1" dirty="0"/>
              <a:t>)</a:t>
            </a:r>
            <a:br>
              <a:rPr lang="en-US" dirty="0"/>
            </a:br>
            <a:r>
              <a:rPr lang="en-US" dirty="0" err="1"/>
              <a:t>กันไม่ให้ลบหรือแก้ไขข้อมูลโดยไม่ตั้งใจจนความสัมพันธ์พัง</a:t>
            </a:r>
            <a:r>
              <a:rPr lang="en-US" dirty="0"/>
              <a:t> — database </a:t>
            </a:r>
            <a:r>
              <a:rPr lang="en-US" dirty="0" err="1"/>
              <a:t>ส่วนใหญ่จะ</a:t>
            </a:r>
            <a:r>
              <a:rPr lang="en-US" b="1" dirty="0" err="1"/>
              <a:t>ไม่ยอมให้ลบแถวที่ยังถูกอ้างอิงอยู่</a:t>
            </a:r>
            <a:r>
              <a:rPr lang="en-US" dirty="0"/>
              <a:t> </a:t>
            </a:r>
            <a:r>
              <a:rPr lang="en-US" dirty="0" err="1"/>
              <a:t>เว้นแต่จะสั่งชัดเจน</a:t>
            </a:r>
            <a:r>
              <a:rPr lang="en-US" dirty="0"/>
              <a:t> (</a:t>
            </a:r>
            <a:r>
              <a:rPr lang="en-US" dirty="0" err="1"/>
              <a:t>เช่น</a:t>
            </a:r>
            <a:r>
              <a:rPr lang="en-US" dirty="0"/>
              <a:t> </a:t>
            </a:r>
            <a:r>
              <a:rPr lang="en-US" sz="1200" kern="1200" dirty="0">
                <a:solidFill>
                  <a:schemeClr val="tx1"/>
                </a:solidFill>
                <a:latin typeface="+mn-lt"/>
                <a:ea typeface="+mn-ea"/>
                <a:cs typeface="+mn-cs"/>
              </a:rPr>
              <a:t>ON DELETE CASCADE</a:t>
            </a:r>
            <a:r>
              <a:rPr lang="en-US" dirty="0"/>
              <a:t> </a:t>
            </a:r>
            <a:r>
              <a:rPr lang="en-US" dirty="0" err="1"/>
              <a:t>ที่เราคุยกันไปแล้ว</a:t>
            </a:r>
            <a:r>
              <a:rPr lang="en-US" dirty="0"/>
              <a:t>)</a:t>
            </a:r>
          </a:p>
          <a:p>
            <a:pPr rtl="0"/>
            <a:r>
              <a:rPr lang="en-US" b="1" dirty="0"/>
              <a:t>3. Data Quality Enforcement (</a:t>
            </a:r>
            <a:r>
              <a:rPr lang="en-US" b="1" dirty="0" err="1"/>
              <a:t>บังคับคุณภาพข้อมูล</a:t>
            </a:r>
            <a:r>
              <a:rPr lang="en-US" b="1" dirty="0"/>
              <a:t>)</a:t>
            </a:r>
            <a:br>
              <a:rPr lang="en-US" dirty="0"/>
            </a:br>
            <a:r>
              <a:rPr lang="en-US" dirty="0" err="1"/>
              <a:t>ตรวจสอบข้อมูลที่ป้อนเข้ามาให้ถูกต้องตั้งแต่ต้นทาง</a:t>
            </a:r>
            <a:r>
              <a:rPr lang="en-US" dirty="0"/>
              <a:t> </a:t>
            </a:r>
            <a:r>
              <a:rPr lang="en-US" dirty="0" err="1"/>
              <a:t>ทำให้ข้อมูลที่ใช้วิเคราะห์</a:t>
            </a:r>
            <a:r>
              <a:rPr lang="en-US" dirty="0"/>
              <a:t>/</a:t>
            </a:r>
            <a:r>
              <a:rPr lang="en-US" dirty="0" err="1"/>
              <a:t>รายงานน่าเชื่อถือ</a:t>
            </a:r>
            <a:endParaRPr lang="en-US" dirty="0"/>
          </a:p>
          <a:p>
            <a:pPr rtl="0"/>
            <a:r>
              <a:rPr lang="en-US" b="1" dirty="0"/>
              <a:t>4. Simplified Maintenance (</a:t>
            </a:r>
            <a:r>
              <a:rPr lang="en-US" b="1" dirty="0" err="1"/>
              <a:t>ดูแลรักษาง่ายขึ้น</a:t>
            </a:r>
            <a:r>
              <a:rPr lang="en-US" b="1" dirty="0"/>
              <a:t>)</a:t>
            </a:r>
            <a:br>
              <a:rPr lang="en-US" dirty="0"/>
            </a:br>
            <a:r>
              <a:rPr lang="en-US" dirty="0" err="1"/>
              <a:t>พอกฎถูกบังคับไว้ชัดเจนในระดับ</a:t>
            </a:r>
            <a:r>
              <a:rPr lang="en-US" dirty="0"/>
              <a:t> database </a:t>
            </a:r>
            <a:r>
              <a:rPr lang="en-US" dirty="0" err="1"/>
              <a:t>แล้ว</a:t>
            </a:r>
            <a:r>
              <a:rPr lang="en-US" dirty="0"/>
              <a:t> </a:t>
            </a:r>
            <a:r>
              <a:rPr lang="en-US" dirty="0" err="1"/>
              <a:t>การจัดการ</a:t>
            </a:r>
            <a:r>
              <a:rPr lang="en-US" dirty="0"/>
              <a:t>/</a:t>
            </a:r>
            <a:r>
              <a:rPr lang="en-US" dirty="0" err="1"/>
              <a:t>ปรับโครงสร้างข้อมูลในอนาคตก็ปลอดภัยขึ้น</a:t>
            </a:r>
            <a:r>
              <a:rPr lang="en-US" dirty="0"/>
              <a:t> </a:t>
            </a:r>
            <a:r>
              <a:rPr lang="en-US" dirty="0" err="1"/>
              <a:t>เพราะไม่ต้องกลัวว่าจะมีข้อมูลลอยๆ</a:t>
            </a:r>
            <a:r>
              <a:rPr lang="en-US" dirty="0"/>
              <a:t> (orphan) </a:t>
            </a:r>
            <a:r>
              <a:rPr lang="en-US" dirty="0" err="1"/>
              <a:t>หลงเหลืออยู่</a:t>
            </a:r>
            <a:endParaRPr lang="en-US" dirty="0"/>
          </a:p>
          <a:p>
            <a:pPr rtl="0"/>
            <a:r>
              <a:rPr lang="en-US" b="1" dirty="0"/>
              <a:t>5. Supports Business Rules (</a:t>
            </a:r>
            <a:r>
              <a:rPr lang="en-US" b="1" dirty="0" err="1"/>
              <a:t>สะท้อนกฎทางธุรกิจ</a:t>
            </a:r>
            <a:r>
              <a:rPr lang="en-US" b="1" dirty="0"/>
              <a:t>)</a:t>
            </a:r>
            <a:br>
              <a:rPr lang="en-US" dirty="0"/>
            </a:br>
            <a:r>
              <a:rPr lang="en-US" dirty="0" err="1"/>
              <a:t>ความสัมพันธ์ในโลกจริงมักมีกฎแบบนี้อยู่แล้ว</a:t>
            </a:r>
            <a:r>
              <a:rPr lang="en-US" dirty="0"/>
              <a:t> </a:t>
            </a:r>
            <a:r>
              <a:rPr lang="en-US" dirty="0" err="1"/>
              <a:t>เช่น</a:t>
            </a:r>
            <a:r>
              <a:rPr lang="en-US" dirty="0"/>
              <a:t> "</a:t>
            </a:r>
            <a:r>
              <a:rPr lang="en-US" dirty="0" err="1"/>
              <a:t>ทุก</a:t>
            </a:r>
            <a:r>
              <a:rPr lang="en-US" dirty="0"/>
              <a:t> invoice </a:t>
            </a:r>
            <a:r>
              <a:rPr lang="en-US" dirty="0" err="1"/>
              <a:t>ต้องผูกกับลูกค้าที่มีอยู่จริง</a:t>
            </a:r>
            <a:r>
              <a:rPr lang="en-US" dirty="0"/>
              <a:t>" — Referential Integrity </a:t>
            </a:r>
            <a:r>
              <a:rPr lang="en-US" dirty="0" err="1"/>
              <a:t>คือวิธีที่</a:t>
            </a:r>
            <a:r>
              <a:rPr lang="en-US" dirty="0"/>
              <a:t> database </a:t>
            </a:r>
            <a:r>
              <a:rPr lang="en-US" dirty="0" err="1"/>
              <a:t>บังคับให้กฎทางธุรกิจเหล่านี้เป็นจริงเสมอ</a:t>
            </a:r>
            <a:r>
              <a:rPr lang="en-US" dirty="0"/>
              <a:t> </a:t>
            </a:r>
            <a:r>
              <a:rPr lang="en-US" dirty="0" err="1"/>
              <a:t>ไม่ต้องพึ่งฝั่งแอปพลิเคชันคอยเช็คเอง</a:t>
            </a:r>
            <a:endParaRPr lang="en-US" dirty="0"/>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10</a:t>
            </a:fld>
            <a:endParaRPr lang="en-US"/>
          </a:p>
        </p:txBody>
      </p:sp>
    </p:spTree>
    <p:extLst>
      <p:ext uri="{BB962C8B-B14F-4D97-AF65-F5344CB8AC3E}">
        <p14:creationId xmlns:p14="http://schemas.microsoft.com/office/powerpoint/2010/main" val="17525348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แต่</a:t>
            </a:r>
            <a:r>
              <a:rPr lang="en-US" dirty="0"/>
              <a:t> FK constraint </a:t>
            </a:r>
            <a:r>
              <a:rPr lang="en-US" dirty="0" err="1"/>
              <a:t>เฉยๆ</a:t>
            </a:r>
            <a:r>
              <a:rPr lang="en-US" dirty="0"/>
              <a:t> </a:t>
            </a:r>
            <a:r>
              <a:rPr lang="en-US" dirty="0" err="1"/>
              <a:t>ยังไม่พอ</a:t>
            </a:r>
            <a:r>
              <a:rPr lang="en-US" dirty="0"/>
              <a:t> — </a:t>
            </a:r>
            <a:r>
              <a:rPr lang="en-US" dirty="0" err="1"/>
              <a:t>เพราะมันแก้ปัญหาตอน</a:t>
            </a:r>
            <a:r>
              <a:rPr lang="en-US" dirty="0"/>
              <a:t> </a:t>
            </a:r>
            <a:r>
              <a:rPr lang="en-US" b="1" dirty="0"/>
              <a:t>insert</a:t>
            </a:r>
            <a:r>
              <a:rPr lang="en-US" dirty="0"/>
              <a:t> (</a:t>
            </a:r>
            <a:r>
              <a:rPr lang="en-US" dirty="0" err="1"/>
              <a:t>สาเหตุที่</a:t>
            </a:r>
            <a:r>
              <a:rPr lang="en-US" dirty="0"/>
              <a:t> 1) </a:t>
            </a:r>
            <a:r>
              <a:rPr lang="en-US" dirty="0" err="1"/>
              <a:t>แต่ยังต้องตัดสินใจว่าจะทำอย่างไรตอน</a:t>
            </a:r>
            <a:r>
              <a:rPr lang="en-US" dirty="0"/>
              <a:t> </a:t>
            </a:r>
            <a:r>
              <a:rPr lang="en-US" b="1" dirty="0"/>
              <a:t>delete/update parent</a:t>
            </a:r>
            <a:r>
              <a:rPr lang="en-US" dirty="0"/>
              <a:t> (</a:t>
            </a:r>
            <a:r>
              <a:rPr lang="en-US" dirty="0" err="1"/>
              <a:t>สาเหตุที่</a:t>
            </a:r>
            <a:r>
              <a:rPr lang="en-US" dirty="0"/>
              <a:t> 2)</a:t>
            </a:r>
          </a:p>
        </p:txBody>
      </p:sp>
      <p:sp>
        <p:nvSpPr>
          <p:cNvPr id="4" name="Slide Number Placeholder 3"/>
          <p:cNvSpPr>
            <a:spLocks noGrp="1"/>
          </p:cNvSpPr>
          <p:nvPr>
            <p:ph type="sldNum" sz="quarter" idx="5"/>
          </p:nvPr>
        </p:nvSpPr>
        <p:spPr/>
        <p:txBody>
          <a:bodyPr/>
          <a:lstStyle/>
          <a:p>
            <a:fld id="{1D365982-E270-4D76-B330-4BD640934B0E}" type="slidenum">
              <a:rPr lang="en-US" smtClean="0"/>
              <a:t>13</a:t>
            </a:fld>
            <a:endParaRPr lang="en-US"/>
          </a:p>
        </p:txBody>
      </p:sp>
    </p:spTree>
    <p:extLst>
      <p:ext uri="{BB962C8B-B14F-4D97-AF65-F5344CB8AC3E}">
        <p14:creationId xmlns:p14="http://schemas.microsoft.com/office/powerpoint/2010/main" val="1751662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1" dirty="0"/>
              <a:t>NO ACTION</a:t>
            </a:r>
            <a:r>
              <a:rPr lang="en-US" dirty="0"/>
              <a:t> — </a:t>
            </a:r>
            <a:r>
              <a:rPr lang="en-US" dirty="0" err="1"/>
              <a:t>ปฏิเสธ</a:t>
            </a:r>
            <a:r>
              <a:rPr lang="en-US" dirty="0"/>
              <a:t> </a:t>
            </a:r>
            <a:r>
              <a:rPr lang="en-US" dirty="0" err="1"/>
              <a:t>ไม่ให้ลบ</a:t>
            </a:r>
            <a:r>
              <a:rPr lang="en-US" dirty="0"/>
              <a:t>/</a:t>
            </a:r>
            <a:r>
              <a:rPr lang="en-US" dirty="0" err="1"/>
              <a:t>แก้</a:t>
            </a:r>
            <a:r>
              <a:rPr lang="en-US" dirty="0"/>
              <a:t> </a:t>
            </a:r>
            <a:r>
              <a:rPr lang="en-US" dirty="0" err="1"/>
              <a:t>ถ้ายังมี</a:t>
            </a:r>
            <a:r>
              <a:rPr lang="en-US" dirty="0"/>
              <a:t> child </a:t>
            </a:r>
            <a:r>
              <a:rPr lang="en-US" dirty="0" err="1"/>
              <a:t>อ้างอิงอยู่</a:t>
            </a:r>
            <a:endParaRPr lang="en-US" dirty="0"/>
          </a:p>
          <a:p>
            <a:pPr lvl="0"/>
            <a:r>
              <a:rPr lang="en-US" b="1" dirty="0"/>
              <a:t>SET NULL</a:t>
            </a:r>
            <a:r>
              <a:rPr lang="en-US" dirty="0"/>
              <a:t> — </a:t>
            </a:r>
            <a:r>
              <a:rPr lang="en-US" dirty="0" err="1"/>
              <a:t>ยอมให้ลบ</a:t>
            </a:r>
            <a:r>
              <a:rPr lang="en-US" dirty="0"/>
              <a:t>/</a:t>
            </a:r>
            <a:r>
              <a:rPr lang="en-US" dirty="0" err="1"/>
              <a:t>แก้</a:t>
            </a:r>
            <a:r>
              <a:rPr lang="en-US" dirty="0"/>
              <a:t> </a:t>
            </a:r>
            <a:r>
              <a:rPr lang="en-US" dirty="0" err="1"/>
              <a:t>แต่</a:t>
            </a:r>
            <a:r>
              <a:rPr lang="en-US" dirty="0"/>
              <a:t> FK </a:t>
            </a:r>
            <a:r>
              <a:rPr lang="en-US" dirty="0" err="1"/>
              <a:t>ใน</a:t>
            </a:r>
            <a:r>
              <a:rPr lang="en-US" dirty="0"/>
              <a:t> child </a:t>
            </a:r>
            <a:r>
              <a:rPr lang="en-US" dirty="0" err="1"/>
              <a:t>จะถูกตั้งเป็น</a:t>
            </a:r>
            <a:r>
              <a:rPr lang="en-US" dirty="0"/>
              <a:t> NULL</a:t>
            </a:r>
          </a:p>
          <a:p>
            <a:pPr lvl="0"/>
            <a:r>
              <a:rPr lang="en-US" b="1" dirty="0"/>
              <a:t>CASCADE</a:t>
            </a:r>
            <a:r>
              <a:rPr lang="en-US" dirty="0"/>
              <a:t> — </a:t>
            </a:r>
            <a:r>
              <a:rPr lang="en-US" dirty="0" err="1"/>
              <a:t>ยอมให้ลบ</a:t>
            </a:r>
            <a:r>
              <a:rPr lang="en-US" dirty="0"/>
              <a:t>/</a:t>
            </a:r>
            <a:r>
              <a:rPr lang="en-US" dirty="0" err="1"/>
              <a:t>แก้</a:t>
            </a:r>
            <a:r>
              <a:rPr lang="en-US" dirty="0"/>
              <a:t> </a:t>
            </a:r>
            <a:r>
              <a:rPr lang="en-US" dirty="0" err="1"/>
              <a:t>แล้วลาก</a:t>
            </a:r>
            <a:r>
              <a:rPr lang="en-US" dirty="0"/>
              <a:t> child </a:t>
            </a:r>
            <a:r>
              <a:rPr lang="en-US" dirty="0" err="1"/>
              <a:t>ที่เกี่ยวข้องไปด้วย</a:t>
            </a:r>
            <a:r>
              <a:rPr lang="en-US" dirty="0"/>
              <a:t> (</a:t>
            </a:r>
            <a:r>
              <a:rPr lang="en-US" dirty="0" err="1"/>
              <a:t>ลบตาม</a:t>
            </a:r>
            <a:r>
              <a:rPr lang="en-US" dirty="0"/>
              <a:t> </a:t>
            </a:r>
            <a:r>
              <a:rPr lang="en-US" dirty="0" err="1"/>
              <a:t>หรือแก้ค่าตาม</a:t>
            </a:r>
            <a:r>
              <a:rPr lang="en-US" dirty="0"/>
              <a:t>)</a:t>
            </a:r>
          </a:p>
          <a:p>
            <a:endParaRPr lang="en-US" dirty="0"/>
          </a:p>
        </p:txBody>
      </p:sp>
      <p:sp>
        <p:nvSpPr>
          <p:cNvPr id="4" name="Slide Number Placeholder 3"/>
          <p:cNvSpPr>
            <a:spLocks noGrp="1"/>
          </p:cNvSpPr>
          <p:nvPr>
            <p:ph type="sldNum" sz="quarter" idx="5"/>
          </p:nvPr>
        </p:nvSpPr>
        <p:spPr/>
        <p:txBody>
          <a:bodyPr/>
          <a:lstStyle/>
          <a:p>
            <a:fld id="{1D365982-E270-4D76-B330-4BD640934B0E}" type="slidenum">
              <a:rPr lang="en-US" smtClean="0"/>
              <a:t>14</a:t>
            </a:fld>
            <a:endParaRPr lang="en-US"/>
          </a:p>
        </p:txBody>
      </p:sp>
    </p:spTree>
    <p:extLst>
      <p:ext uri="{BB962C8B-B14F-4D97-AF65-F5344CB8AC3E}">
        <p14:creationId xmlns:p14="http://schemas.microsoft.com/office/powerpoint/2010/main" val="37474418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2407009B-1604-8292-D457-751D235FEFE2}"/>
              </a:ext>
            </a:extLst>
          </p:cNvPr>
          <p:cNvSpPr>
            <a:spLocks noGrp="1" noRot="1" noChangeAspect="1" noChangeArrowheads="1" noTextEdit="1"/>
          </p:cNvSpPr>
          <p:nvPr>
            <p:ph type="sldImg"/>
          </p:nvPr>
        </p:nvSpPr>
        <p:spPr>
          <a:xfrm>
            <a:off x="457200" y="720725"/>
            <a:ext cx="6400800" cy="3600450"/>
          </a:xfrm>
          <a:ln/>
        </p:spPr>
      </p:sp>
      <p:sp>
        <p:nvSpPr>
          <p:cNvPr id="47107" name="Rectangle 3">
            <a:extLst>
              <a:ext uri="{FF2B5EF4-FFF2-40B4-BE49-F238E27FC236}">
                <a16:creationId xmlns:a16="http://schemas.microsoft.com/office/drawing/2014/main" id="{0BFB7F2C-18A3-BF92-2D28-C9702B45BFA5}"/>
              </a:ext>
            </a:extLst>
          </p:cNvPr>
          <p:cNvSpPr>
            <a:spLocks noGrp="1" noChangeArrowheads="1"/>
          </p:cNvSpPr>
          <p:nvPr>
            <p:ph type="body" idx="1"/>
          </p:nvPr>
        </p:nvSpPr>
        <p:spPr>
          <a:xfrm>
            <a:off x="974725" y="4560888"/>
            <a:ext cx="5365750" cy="4319587"/>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4400"/>
            <a:endParaRPr lang="en-US" altLang="en-US">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Image Placeholder 1">
            <a:extLst>
              <a:ext uri="{FF2B5EF4-FFF2-40B4-BE49-F238E27FC236}">
                <a16:creationId xmlns:a16="http://schemas.microsoft.com/office/drawing/2014/main" id="{7B8DABDE-5F1E-9DCE-67C5-39F6242344AC}"/>
              </a:ext>
            </a:extLst>
          </p:cNvPr>
          <p:cNvSpPr>
            <a:spLocks noGrp="1" noRot="1" noChangeAspect="1" noChangeArrowheads="1" noTextEdit="1"/>
          </p:cNvSpPr>
          <p:nvPr>
            <p:ph type="sldImg"/>
          </p:nvPr>
        </p:nvSpPr>
        <p:spPr>
          <a:ln/>
        </p:spPr>
      </p:sp>
      <p:sp>
        <p:nvSpPr>
          <p:cNvPr id="49155" name="Notes Placeholder 2">
            <a:extLst>
              <a:ext uri="{FF2B5EF4-FFF2-40B4-BE49-F238E27FC236}">
                <a16:creationId xmlns:a16="http://schemas.microsoft.com/office/drawing/2014/main" id="{F15189CC-04FC-92E9-2B2C-DD646D77247C}"/>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lstStyle/>
          <a:p>
            <a:endParaRPr lang="en-US" altLang="en-US">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a:extLst>
              <a:ext uri="{FF2B5EF4-FFF2-40B4-BE49-F238E27FC236}">
                <a16:creationId xmlns:a16="http://schemas.microsoft.com/office/drawing/2014/main" id="{F1EF0BF0-E651-D027-D69C-7BD18408289B}"/>
              </a:ext>
            </a:extLst>
          </p:cNvPr>
          <p:cNvSpPr>
            <a:spLocks noGrp="1" noRot="1" noChangeAspect="1" noChangeArrowheads="1" noTextEdit="1"/>
          </p:cNvSpPr>
          <p:nvPr>
            <p:ph type="sldImg"/>
          </p:nvPr>
        </p:nvSpPr>
        <p:spPr>
          <a:ln/>
        </p:spPr>
      </p:sp>
      <p:sp>
        <p:nvSpPr>
          <p:cNvPr id="51203" name="Notes Placeholder 2">
            <a:extLst>
              <a:ext uri="{FF2B5EF4-FFF2-40B4-BE49-F238E27FC236}">
                <a16:creationId xmlns:a16="http://schemas.microsoft.com/office/drawing/2014/main" id="{E680EB4C-1276-32DD-C435-A3B70CA9BDFF}"/>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lstStyle/>
          <a:p>
            <a:pPr eaLnBrk="1" hangingPunct="1">
              <a:spcBef>
                <a:spcPct val="0"/>
              </a:spcBef>
            </a:pPr>
            <a:r>
              <a:rPr lang="en-US" altLang="en-US" b="1" dirty="0">
                <a:solidFill>
                  <a:srgbClr val="0070C0"/>
                </a:solidFill>
                <a:latin typeface="Arial" panose="020B0604020202020204" pitchFamily="34" charset="0"/>
              </a:rPr>
              <a:t>CREATE TABLE Department (</a:t>
            </a:r>
          </a:p>
          <a:p>
            <a:pPr eaLnBrk="1" hangingPunct="1">
              <a:spcBef>
                <a:spcPct val="0"/>
              </a:spcBef>
            </a:pPr>
            <a:r>
              <a:rPr lang="en-US" altLang="en-US" b="1" dirty="0">
                <a:solidFill>
                  <a:srgbClr val="0070C0"/>
                </a:solidFill>
                <a:latin typeface="Arial" panose="020B0604020202020204" pitchFamily="34" charset="0"/>
              </a:rPr>
              <a:t>    Id   INT PRIMARY KEY,</a:t>
            </a:r>
          </a:p>
          <a:p>
            <a:pPr eaLnBrk="1" hangingPunct="1">
              <a:spcBef>
                <a:spcPct val="0"/>
              </a:spcBef>
            </a:pPr>
            <a:r>
              <a:rPr lang="en-US" altLang="en-US" b="1" dirty="0">
                <a:solidFill>
                  <a:srgbClr val="0070C0"/>
                </a:solidFill>
                <a:latin typeface="Arial" panose="020B0604020202020204" pitchFamily="34" charset="0"/>
              </a:rPr>
              <a:t>    Name VARCHAR(50)</a:t>
            </a:r>
          </a:p>
          <a:p>
            <a:pPr eaLnBrk="1" hangingPunct="1">
              <a:spcBef>
                <a:spcPct val="0"/>
              </a:spcBef>
            </a:pPr>
            <a:r>
              <a:rPr lang="en-US" altLang="en-US" b="1" dirty="0">
                <a:solidFill>
                  <a:srgbClr val="0070C0"/>
                </a:solidFill>
                <a:latin typeface="Arial" panose="020B0604020202020204" pitchFamily="34" charset="0"/>
              </a:rPr>
              <a:t>);</a:t>
            </a:r>
          </a:p>
          <a:p>
            <a:pPr eaLnBrk="1" hangingPunct="1">
              <a:spcBef>
                <a:spcPct val="0"/>
              </a:spcBef>
            </a:pPr>
            <a:endParaRPr lang="en-US" altLang="en-US" b="1" dirty="0">
              <a:solidFill>
                <a:srgbClr val="0070C0"/>
              </a:solidFill>
              <a:latin typeface="Arial" panose="020B0604020202020204" pitchFamily="34" charset="0"/>
            </a:endParaRPr>
          </a:p>
          <a:p>
            <a:pPr eaLnBrk="1" hangingPunct="1">
              <a:spcBef>
                <a:spcPct val="0"/>
              </a:spcBef>
            </a:pPr>
            <a:r>
              <a:rPr lang="en-US" altLang="en-US" b="1" dirty="0">
                <a:solidFill>
                  <a:srgbClr val="0070C0"/>
                </a:solidFill>
                <a:latin typeface="Arial" panose="020B0604020202020204" pitchFamily="34" charset="0"/>
              </a:rPr>
              <a:t>-- Insert some test data in Department Table</a:t>
            </a:r>
          </a:p>
          <a:p>
            <a:pPr eaLnBrk="1" hangingPunct="1">
              <a:spcBef>
                <a:spcPct val="0"/>
              </a:spcBef>
            </a:pPr>
            <a:r>
              <a:rPr lang="en-US" altLang="en-US" b="1" dirty="0">
                <a:solidFill>
                  <a:srgbClr val="0070C0"/>
                </a:solidFill>
                <a:latin typeface="Arial" panose="020B0604020202020204" pitchFamily="34" charset="0"/>
              </a:rPr>
              <a:t>INSERT INTO Department VALUES (10, 'IT');</a:t>
            </a:r>
          </a:p>
          <a:p>
            <a:pPr eaLnBrk="1" hangingPunct="1">
              <a:spcBef>
                <a:spcPct val="0"/>
              </a:spcBef>
            </a:pPr>
            <a:r>
              <a:rPr lang="en-US" altLang="en-US" b="1" dirty="0">
                <a:solidFill>
                  <a:srgbClr val="0070C0"/>
                </a:solidFill>
                <a:latin typeface="Arial" panose="020B0604020202020204" pitchFamily="34" charset="0"/>
              </a:rPr>
              <a:t>INSERT INTO Department VALUES (20, 'HR');</a:t>
            </a:r>
          </a:p>
          <a:p>
            <a:pPr eaLnBrk="1" hangingPunct="1">
              <a:spcBef>
                <a:spcPct val="0"/>
              </a:spcBef>
            </a:pPr>
            <a:r>
              <a:rPr lang="en-US" altLang="en-US" b="1" dirty="0">
                <a:solidFill>
                  <a:srgbClr val="0070C0"/>
                </a:solidFill>
                <a:latin typeface="Arial" panose="020B0604020202020204" pitchFamily="34" charset="0"/>
              </a:rPr>
              <a:t>INSERT INTO Department VALUES (30, 'INFRA');</a:t>
            </a:r>
          </a:p>
          <a:p>
            <a:pPr eaLnBrk="1" hangingPunct="1">
              <a:spcBef>
                <a:spcPct val="0"/>
              </a:spcBef>
            </a:pPr>
            <a:endParaRPr lang="en-US" altLang="en-US" b="1" dirty="0">
              <a:solidFill>
                <a:srgbClr val="0070C0"/>
              </a:solidFill>
              <a:latin typeface="Arial" panose="020B0604020202020204" pitchFamily="34" charset="0"/>
            </a:endParaRPr>
          </a:p>
          <a:p>
            <a:pPr eaLnBrk="1" hangingPunct="1">
              <a:spcBef>
                <a:spcPct val="0"/>
              </a:spcBef>
            </a:pPr>
            <a:r>
              <a:rPr lang="en-US" altLang="en-US" b="1" dirty="0">
                <a:solidFill>
                  <a:srgbClr val="0070C0"/>
                </a:solidFill>
                <a:latin typeface="Arial" panose="020B0604020202020204" pitchFamily="34" charset="0"/>
              </a:rPr>
              <a:t>CREATE TABLE Employees (</a:t>
            </a:r>
          </a:p>
          <a:p>
            <a:pPr eaLnBrk="1" hangingPunct="1">
              <a:spcBef>
                <a:spcPct val="0"/>
              </a:spcBef>
            </a:pPr>
            <a:r>
              <a:rPr lang="en-US" altLang="en-US" b="1" dirty="0">
                <a:solidFill>
                  <a:srgbClr val="0070C0"/>
                </a:solidFill>
                <a:latin typeface="Arial" panose="020B0604020202020204" pitchFamily="34" charset="0"/>
              </a:rPr>
              <a:t>    Id           INT PRIMARY KEY,</a:t>
            </a:r>
          </a:p>
          <a:p>
            <a:pPr eaLnBrk="1" hangingPunct="1">
              <a:spcBef>
                <a:spcPct val="0"/>
              </a:spcBef>
            </a:pPr>
            <a:r>
              <a:rPr lang="en-US" altLang="en-US" b="1" dirty="0">
                <a:solidFill>
                  <a:srgbClr val="0070C0"/>
                </a:solidFill>
                <a:latin typeface="Arial" panose="020B0604020202020204" pitchFamily="34" charset="0"/>
              </a:rPr>
              <a:t>    Name         VARCHAR(100) NOT NULL,</a:t>
            </a:r>
          </a:p>
          <a:p>
            <a:pPr eaLnBrk="1" hangingPunct="1">
              <a:spcBef>
                <a:spcPct val="0"/>
              </a:spcBef>
            </a:pPr>
            <a:r>
              <a:rPr lang="en-US" altLang="en-US" b="1" dirty="0">
                <a:solidFill>
                  <a:srgbClr val="0070C0"/>
                </a:solidFill>
                <a:latin typeface="Arial" panose="020B0604020202020204" pitchFamily="34" charset="0"/>
              </a:rPr>
              <a:t>    </a:t>
            </a:r>
            <a:r>
              <a:rPr lang="en-US" altLang="en-US" b="1" dirty="0" err="1">
                <a:solidFill>
                  <a:srgbClr val="0070C0"/>
                </a:solidFill>
                <a:latin typeface="Arial" panose="020B0604020202020204" pitchFamily="34" charset="0"/>
              </a:rPr>
              <a:t>DepartmentId</a:t>
            </a:r>
            <a:r>
              <a:rPr lang="en-US" altLang="en-US" b="1" dirty="0">
                <a:solidFill>
                  <a:srgbClr val="0070C0"/>
                </a:solidFill>
                <a:latin typeface="Arial" panose="020B0604020202020204" pitchFamily="34" charset="0"/>
              </a:rPr>
              <a:t> INT,</a:t>
            </a:r>
          </a:p>
          <a:p>
            <a:pPr eaLnBrk="1" hangingPunct="1">
              <a:spcBef>
                <a:spcPct val="0"/>
              </a:spcBef>
            </a:pPr>
            <a:r>
              <a:rPr lang="en-US" altLang="en-US" b="1" dirty="0">
                <a:solidFill>
                  <a:srgbClr val="0070C0"/>
                </a:solidFill>
                <a:latin typeface="Arial" panose="020B0604020202020204" pitchFamily="34" charset="0"/>
              </a:rPr>
              <a:t>    FOREIGN KEY (</a:t>
            </a:r>
            <a:r>
              <a:rPr lang="en-US" altLang="en-US" b="1" dirty="0" err="1">
                <a:solidFill>
                  <a:srgbClr val="0070C0"/>
                </a:solidFill>
                <a:latin typeface="Arial" panose="020B0604020202020204" pitchFamily="34" charset="0"/>
              </a:rPr>
              <a:t>DepartmentId</a:t>
            </a:r>
            <a:r>
              <a:rPr lang="en-US" altLang="en-US" b="1" dirty="0">
                <a:solidFill>
                  <a:srgbClr val="0070C0"/>
                </a:solidFill>
                <a:latin typeface="Arial" panose="020B0604020202020204" pitchFamily="34" charset="0"/>
              </a:rPr>
              <a:t>) REFERENCES Department(Id)</a:t>
            </a:r>
          </a:p>
          <a:p>
            <a:pPr eaLnBrk="1" hangingPunct="1">
              <a:spcBef>
                <a:spcPct val="0"/>
              </a:spcBef>
            </a:pPr>
            <a:r>
              <a:rPr lang="en-US" altLang="en-US" b="1" dirty="0">
                <a:solidFill>
                  <a:srgbClr val="0070C0"/>
                </a:solidFill>
                <a:latin typeface="Arial" panose="020B0604020202020204" pitchFamily="34" charset="0"/>
              </a:rPr>
              <a:t>        ON DELETE NO ACTION</a:t>
            </a:r>
          </a:p>
          <a:p>
            <a:pPr eaLnBrk="1" hangingPunct="1">
              <a:spcBef>
                <a:spcPct val="0"/>
              </a:spcBef>
            </a:pPr>
            <a:r>
              <a:rPr lang="en-US" altLang="en-US" b="1" dirty="0">
                <a:solidFill>
                  <a:srgbClr val="0070C0"/>
                </a:solidFill>
                <a:latin typeface="Arial" panose="020B0604020202020204" pitchFamily="34" charset="0"/>
              </a:rPr>
              <a:t>        ON UPDATE NO ACTION</a:t>
            </a:r>
          </a:p>
          <a:p>
            <a:pPr eaLnBrk="1" hangingPunct="1">
              <a:spcBef>
                <a:spcPct val="0"/>
              </a:spcBef>
            </a:pPr>
            <a:r>
              <a:rPr lang="en-US" altLang="en-US" b="1" dirty="0">
                <a:solidFill>
                  <a:srgbClr val="0070C0"/>
                </a:solidFill>
                <a:latin typeface="Arial" panose="020B0604020202020204" pitchFamily="34" charset="0"/>
              </a:rPr>
              <a:t>);</a:t>
            </a:r>
          </a:p>
          <a:p>
            <a:pPr eaLnBrk="1" hangingPunct="1">
              <a:spcBef>
                <a:spcPct val="0"/>
              </a:spcBef>
            </a:pPr>
            <a:endParaRPr lang="en-US" altLang="en-US" b="1" dirty="0">
              <a:solidFill>
                <a:srgbClr val="0070C0"/>
              </a:solidFill>
              <a:latin typeface="Arial" panose="020B0604020202020204" pitchFamily="34" charset="0"/>
            </a:endParaRPr>
          </a:p>
          <a:p>
            <a:pPr eaLnBrk="1" hangingPunct="1">
              <a:spcBef>
                <a:spcPct val="0"/>
              </a:spcBef>
            </a:pPr>
            <a:r>
              <a:rPr lang="en-US" altLang="en-US" b="1" dirty="0">
                <a:solidFill>
                  <a:srgbClr val="0070C0"/>
                </a:solidFill>
                <a:latin typeface="Arial" panose="020B0604020202020204" pitchFamily="34" charset="0"/>
              </a:rPr>
              <a:t>INSERT INTO Employees VALUES (101, 'Anurag', 10);</a:t>
            </a:r>
          </a:p>
          <a:p>
            <a:pPr eaLnBrk="1" hangingPunct="1">
              <a:spcBef>
                <a:spcPct val="0"/>
              </a:spcBef>
            </a:pPr>
            <a:r>
              <a:rPr lang="en-US" altLang="en-US" b="1" dirty="0">
                <a:solidFill>
                  <a:srgbClr val="0070C0"/>
                </a:solidFill>
                <a:latin typeface="Arial" panose="020B0604020202020204" pitchFamily="34" charset="0"/>
              </a:rPr>
              <a:t>INSERT INTO Employees VALUES (102, 'Pranaya', 20);</a:t>
            </a:r>
          </a:p>
          <a:p>
            <a:pPr eaLnBrk="1" hangingPunct="1">
              <a:spcBef>
                <a:spcPct val="0"/>
              </a:spcBef>
            </a:pPr>
            <a:r>
              <a:rPr lang="en-US" altLang="en-US" b="1" dirty="0">
                <a:solidFill>
                  <a:srgbClr val="0070C0"/>
                </a:solidFill>
                <a:latin typeface="Arial" panose="020B0604020202020204" pitchFamily="34" charset="0"/>
              </a:rPr>
              <a:t>INSERT INTO Employees VALUES (103, 'Hina', 30);</a:t>
            </a:r>
          </a:p>
          <a:p>
            <a:pPr eaLnBrk="1" hangingPunct="1">
              <a:spcBef>
                <a:spcPct val="0"/>
              </a:spcBef>
            </a:pPr>
            <a:r>
              <a:rPr lang="en-US" altLang="en-US" b="1" dirty="0">
                <a:solidFill>
                  <a:srgbClr val="0070C0"/>
                </a:solidFill>
                <a:latin typeface="Arial" panose="020B0604020202020204" pitchFamily="34" charset="0"/>
              </a:rPr>
              <a:t>INSERT INTO Employees VALUES (104, '</a:t>
            </a:r>
            <a:r>
              <a:rPr lang="en-US" altLang="en-US" b="1" dirty="0" err="1">
                <a:solidFill>
                  <a:srgbClr val="0070C0"/>
                </a:solidFill>
                <a:latin typeface="Arial" panose="020B0604020202020204" pitchFamily="34" charset="0"/>
              </a:rPr>
              <a:t>apirak</a:t>
            </a:r>
            <a:r>
              <a:rPr lang="en-US" altLang="en-US" b="1" dirty="0">
                <a:solidFill>
                  <a:srgbClr val="0070C0"/>
                </a:solidFill>
                <a:latin typeface="Arial" panose="020B0604020202020204" pitchFamily="34" charset="0"/>
              </a:rPr>
              <a:t>', 10);</a:t>
            </a:r>
            <a:endParaRPr lang="en-US" altLang="en-US" dirty="0">
              <a:solidFill>
                <a:srgbClr val="000000"/>
              </a:solidFill>
              <a:latin typeface="Calibri" panose="020F0502020204030204" pitchFamily="34" charset="0"/>
            </a:endParaRPr>
          </a:p>
          <a:p>
            <a:endParaRPr lang="en-US" altLang="en-US" dirty="0">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Image Placeholder 1">
            <a:extLst>
              <a:ext uri="{FF2B5EF4-FFF2-40B4-BE49-F238E27FC236}">
                <a16:creationId xmlns:a16="http://schemas.microsoft.com/office/drawing/2014/main" id="{BD801DE0-42BF-C08E-6C41-FDBD657EAAE3}"/>
              </a:ext>
            </a:extLst>
          </p:cNvPr>
          <p:cNvSpPr>
            <a:spLocks noGrp="1" noRot="1" noChangeAspect="1" noChangeArrowheads="1" noTextEdit="1"/>
          </p:cNvSpPr>
          <p:nvPr>
            <p:ph type="sldImg"/>
          </p:nvPr>
        </p:nvSpPr>
        <p:spPr>
          <a:ln/>
        </p:spPr>
      </p:sp>
      <p:sp>
        <p:nvSpPr>
          <p:cNvPr id="3" name="Notes Placeholder 2">
            <a:extLst>
              <a:ext uri="{FF2B5EF4-FFF2-40B4-BE49-F238E27FC236}">
                <a16:creationId xmlns:a16="http://schemas.microsoft.com/office/drawing/2014/main" id="{F15415F3-C149-71C5-1EB3-CC81B154EC04}"/>
              </a:ext>
            </a:extLst>
          </p:cNvPr>
          <p:cNvSpPr>
            <a:spLocks noGrp="1"/>
          </p:cNvSpPr>
          <p:nvPr>
            <p:ph type="body" idx="1"/>
          </p:nvPr>
        </p:nvSpPr>
        <p:spPr/>
        <p:txBody>
          <a:bodyPr/>
          <a:lstStyle/>
          <a:p>
            <a:pPr>
              <a:spcBef>
                <a:spcPct val="50000"/>
              </a:spcBef>
              <a:spcAft>
                <a:spcPts val="400"/>
              </a:spcAft>
              <a:buClr>
                <a:srgbClr val="0C7B9C"/>
              </a:buClr>
              <a:buSzPct val="70000"/>
              <a:buFont typeface="Wingdings" panose="05000000000000000000" pitchFamily="2" charset="2"/>
              <a:buNone/>
              <a:defRPr/>
            </a:pPr>
            <a:r>
              <a:rPr lang="en-US" b="1" dirty="0">
                <a:solidFill>
                  <a:schemeClr val="tx2">
                    <a:lumMod val="60000"/>
                    <a:lumOff val="40000"/>
                  </a:schemeClr>
                </a:solidFill>
              </a:rPr>
              <a:t>DELETE FROM Department WHERE Id = 10;</a:t>
            </a:r>
          </a:p>
          <a:p>
            <a:pPr>
              <a:spcBef>
                <a:spcPct val="50000"/>
              </a:spcBef>
              <a:spcAft>
                <a:spcPts val="400"/>
              </a:spcAft>
              <a:buClr>
                <a:srgbClr val="0C7B9C"/>
              </a:buClr>
              <a:buSzPct val="70000"/>
              <a:buFont typeface="Wingdings" panose="05000000000000000000" pitchFamily="2" charset="2"/>
              <a:buNone/>
              <a:defRPr/>
            </a:pPr>
            <a:endParaRPr lang="en-US" b="1" dirty="0">
              <a:solidFill>
                <a:schemeClr val="tx2">
                  <a:lumMod val="60000"/>
                  <a:lumOff val="40000"/>
                </a:schemeClr>
              </a:solidFill>
            </a:endParaRPr>
          </a:p>
          <a:p>
            <a:pPr>
              <a:spcBef>
                <a:spcPct val="50000"/>
              </a:spcBef>
              <a:spcAft>
                <a:spcPts val="400"/>
              </a:spcAft>
              <a:buClr>
                <a:srgbClr val="0C7B9C"/>
              </a:buClr>
              <a:buSzPct val="70000"/>
              <a:buFont typeface="Wingdings" panose="05000000000000000000" pitchFamily="2" charset="2"/>
              <a:buNone/>
              <a:defRPr/>
            </a:pPr>
            <a:r>
              <a:rPr lang="en-US" b="1" dirty="0">
                <a:solidFill>
                  <a:schemeClr val="tx2">
                    <a:lumMod val="60000"/>
                    <a:lumOff val="40000"/>
                  </a:schemeClr>
                </a:solidFill>
              </a:rPr>
              <a:t>UPDATE Department SET Id = 40 WHERE Id = 30;</a:t>
            </a:r>
            <a:endParaRPr lang="en-US" dirty="0">
              <a:solidFill>
                <a:srgbClr val="FF0000"/>
              </a:solidFill>
            </a:endParaRPr>
          </a:p>
          <a:p>
            <a:pPr>
              <a:defRPr/>
            </a:pPr>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Image Placeholder 1">
            <a:extLst>
              <a:ext uri="{FF2B5EF4-FFF2-40B4-BE49-F238E27FC236}">
                <a16:creationId xmlns:a16="http://schemas.microsoft.com/office/drawing/2014/main" id="{0C694A71-5E0B-51E3-7016-51022A91419B}"/>
              </a:ext>
            </a:extLst>
          </p:cNvPr>
          <p:cNvSpPr>
            <a:spLocks noGrp="1" noRot="1" noChangeAspect="1" noChangeArrowheads="1" noTextEdit="1"/>
          </p:cNvSpPr>
          <p:nvPr>
            <p:ph type="sldImg"/>
          </p:nvPr>
        </p:nvSpPr>
        <p:spPr>
          <a:ln/>
        </p:spPr>
      </p:sp>
      <p:sp>
        <p:nvSpPr>
          <p:cNvPr id="55299" name="Notes Placeholder 2">
            <a:extLst>
              <a:ext uri="{FF2B5EF4-FFF2-40B4-BE49-F238E27FC236}">
                <a16:creationId xmlns:a16="http://schemas.microsoft.com/office/drawing/2014/main" id="{5A106264-A0C2-5720-CB7F-AD64CFFBE245}"/>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lstStyle/>
          <a:p>
            <a:r>
              <a:rPr lang="en-US" altLang="en-US">
                <a:latin typeface="Arial" panose="020B0604020202020204" pitchFamily="34" charset="0"/>
              </a:rPr>
              <a:t>DELETE FROM Department WHERE Id = 10;</a:t>
            </a:r>
          </a:p>
          <a:p>
            <a:endParaRPr lang="en-US" altLang="en-US">
              <a:latin typeface="Arial" panose="020B0604020202020204" pitchFamily="34" charset="0"/>
            </a:endParaRPr>
          </a:p>
          <a:p>
            <a:r>
              <a:rPr lang="en-US" altLang="en-US">
                <a:latin typeface="Arial" panose="020B0604020202020204" pitchFamily="34" charset="0"/>
              </a:rPr>
              <a:t>UPDATE Department SET Id = 40 WHERE Id = 30;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a:extLst>
              <a:ext uri="{FF2B5EF4-FFF2-40B4-BE49-F238E27FC236}">
                <a16:creationId xmlns:a16="http://schemas.microsoft.com/office/drawing/2014/main" id="{45620BF0-6D43-AB4F-978E-C30D1D7E1990}"/>
              </a:ext>
            </a:extLst>
          </p:cNvPr>
          <p:cNvSpPr>
            <a:spLocks noGrp="1" noRot="1" noChangeAspect="1" noChangeArrowheads="1" noTextEdit="1"/>
          </p:cNvSpPr>
          <p:nvPr>
            <p:ph type="sldImg"/>
          </p:nvPr>
        </p:nvSpPr>
        <p:spPr>
          <a:ln/>
        </p:spPr>
      </p:sp>
      <p:sp>
        <p:nvSpPr>
          <p:cNvPr id="3" name="Notes Placeholder 2">
            <a:extLst>
              <a:ext uri="{FF2B5EF4-FFF2-40B4-BE49-F238E27FC236}">
                <a16:creationId xmlns:a16="http://schemas.microsoft.com/office/drawing/2014/main" id="{5158768C-E4F5-8AFB-8C8D-D353BE382FD4}"/>
              </a:ext>
            </a:extLst>
          </p:cNvPr>
          <p:cNvSpPr>
            <a:spLocks noGrp="1"/>
          </p:cNvSpPr>
          <p:nvPr>
            <p:ph type="body" idx="1"/>
          </p:nvPr>
        </p:nvSpPr>
        <p:spPr/>
        <p:txBody>
          <a:bodyPr/>
          <a:lstStyle/>
          <a:p>
            <a:pPr algn="ctr">
              <a:spcBef>
                <a:spcPct val="50000"/>
              </a:spcBef>
              <a:spcAft>
                <a:spcPts val="400"/>
              </a:spcAft>
              <a:buClr>
                <a:srgbClr val="0C7B9C"/>
              </a:buClr>
              <a:buSzPct val="70000"/>
              <a:buFont typeface="Wingdings" panose="05000000000000000000" pitchFamily="2" charset="2"/>
              <a:buNone/>
              <a:defRPr/>
            </a:pPr>
            <a:endParaRPr lang="th-TH" b="1" dirty="0"/>
          </a:p>
          <a:p>
            <a:pPr>
              <a:spcBef>
                <a:spcPct val="50000"/>
              </a:spcBef>
              <a:spcAft>
                <a:spcPts val="400"/>
              </a:spcAft>
              <a:buClr>
                <a:srgbClr val="0C7B9C"/>
              </a:buClr>
              <a:buSzPct val="70000"/>
              <a:buFont typeface="Wingdings" panose="05000000000000000000" pitchFamily="2" charset="2"/>
              <a:buNone/>
              <a:defRPr/>
            </a:pPr>
            <a:r>
              <a:rPr lang="th-TH" b="1" dirty="0">
                <a:solidFill>
                  <a:schemeClr val="tx2">
                    <a:lumMod val="60000"/>
                    <a:lumOff val="40000"/>
                  </a:schemeClr>
                </a:solidFill>
              </a:rPr>
              <a:t> </a:t>
            </a:r>
            <a:r>
              <a:rPr lang="en-US" b="1" dirty="0">
                <a:solidFill>
                  <a:schemeClr val="tx2">
                    <a:lumMod val="60000"/>
                    <a:lumOff val="40000"/>
                  </a:schemeClr>
                </a:solidFill>
              </a:rPr>
              <a:t>DELETE FROM </a:t>
            </a:r>
            <a:r>
              <a:rPr lang="en-US" b="1" dirty="0">
                <a:solidFill>
                  <a:srgbClr val="FF0000"/>
                </a:solidFill>
              </a:rPr>
              <a:t>employees </a:t>
            </a:r>
            <a:r>
              <a:rPr lang="en-US" b="1" dirty="0">
                <a:solidFill>
                  <a:schemeClr val="tx2">
                    <a:lumMod val="60000"/>
                    <a:lumOff val="40000"/>
                  </a:schemeClr>
                </a:solidFill>
              </a:rPr>
              <a:t>WHERE</a:t>
            </a:r>
            <a:r>
              <a:rPr lang="en-US" b="1" dirty="0">
                <a:solidFill>
                  <a:srgbClr val="FF0000"/>
                </a:solidFill>
              </a:rPr>
              <a:t> Id = 101;</a:t>
            </a:r>
            <a:endParaRPr lang="th-TH" b="1" dirty="0">
              <a:solidFill>
                <a:srgbClr val="FF0000"/>
              </a:solidFill>
            </a:endParaRPr>
          </a:p>
          <a:p>
            <a:pPr algn="ctr">
              <a:spcBef>
                <a:spcPct val="50000"/>
              </a:spcBef>
              <a:spcAft>
                <a:spcPts val="400"/>
              </a:spcAft>
              <a:buClr>
                <a:srgbClr val="0C7B9C"/>
              </a:buClr>
              <a:buSzPct val="70000"/>
              <a:buFont typeface="Wingdings" panose="05000000000000000000" pitchFamily="2" charset="2"/>
              <a:buNone/>
              <a:defRPr/>
            </a:pPr>
            <a:endParaRPr lang="en-US" dirty="0">
              <a:solidFill>
                <a:srgbClr val="FF0000"/>
              </a:solidFill>
            </a:endParaRPr>
          </a:p>
          <a:p>
            <a:pPr>
              <a:defRPr/>
            </a:pPr>
            <a:r>
              <a:rPr lang="th-TH" dirty="0"/>
              <a:t>แล้วถ้าลบต่อ</a:t>
            </a:r>
            <a:r>
              <a:rPr lang="en-US" dirty="0"/>
              <a:t> </a:t>
            </a:r>
          </a:p>
          <a:p>
            <a:pPr>
              <a:defRPr/>
            </a:pPr>
            <a:r>
              <a:rPr lang="th-TH" dirty="0"/>
              <a:t>โดยมี</a:t>
            </a:r>
            <a:endParaRPr lang="en-US" dirty="0"/>
          </a:p>
          <a:p>
            <a:pPr>
              <a:defRPr/>
            </a:pPr>
            <a:r>
              <a:rPr lang="en-US" dirty="0" err="1"/>
              <a:t>department_id</a:t>
            </a:r>
            <a:r>
              <a:rPr lang="en-US" dirty="0"/>
              <a:t> = 10 </a:t>
            </a:r>
            <a:r>
              <a:rPr lang="en-US" dirty="0" err="1"/>
              <a:t>ตอนนี้เหลือ</a:t>
            </a:r>
            <a:r>
              <a:rPr lang="en-US" dirty="0"/>
              <a:t> </a:t>
            </a:r>
            <a:r>
              <a:rPr lang="en-US" dirty="0" err="1"/>
              <a:t>apirak</a:t>
            </a:r>
            <a:r>
              <a:rPr lang="en-US" dirty="0"/>
              <a:t> </a:t>
            </a:r>
            <a:r>
              <a:rPr lang="en-US" dirty="0" err="1"/>
              <a:t>คนเดียวที่อ้างอิงอยู่</a:t>
            </a:r>
            <a:r>
              <a:rPr lang="en-US" dirty="0"/>
              <a:t> (</a:t>
            </a:r>
            <a:r>
              <a:rPr lang="en-US" dirty="0" err="1"/>
              <a:t>แต่ก็ยังมีอยู่</a:t>
            </a:r>
            <a:r>
              <a:rPr lang="en-US" dirty="0"/>
              <a:t> </a:t>
            </a:r>
            <a:r>
              <a:rPr lang="en-US" dirty="0" err="1"/>
              <a:t>ยังลบ</a:t>
            </a:r>
            <a:r>
              <a:rPr lang="en-US" dirty="0"/>
              <a:t> Department id=10 </a:t>
            </a:r>
            <a:r>
              <a:rPr lang="en-US" dirty="0" err="1"/>
              <a:t>ไม่ได้ภายใต้</a:t>
            </a:r>
            <a:r>
              <a:rPr lang="en-US" dirty="0"/>
              <a:t> NO ACTION)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Slide Image Placeholder 1">
            <a:extLst>
              <a:ext uri="{FF2B5EF4-FFF2-40B4-BE49-F238E27FC236}">
                <a16:creationId xmlns:a16="http://schemas.microsoft.com/office/drawing/2014/main" id="{73636726-3640-4044-0EA8-FA900DDCF68F}"/>
              </a:ext>
            </a:extLst>
          </p:cNvPr>
          <p:cNvSpPr>
            <a:spLocks noGrp="1" noRot="1" noChangeAspect="1" noChangeArrowheads="1" noTextEdit="1"/>
          </p:cNvSpPr>
          <p:nvPr>
            <p:ph type="sldImg"/>
          </p:nvPr>
        </p:nvSpPr>
        <p:spPr>
          <a:ln/>
        </p:spPr>
      </p:sp>
      <p:sp>
        <p:nvSpPr>
          <p:cNvPr id="61443" name="Notes Placeholder 2">
            <a:extLst>
              <a:ext uri="{FF2B5EF4-FFF2-40B4-BE49-F238E27FC236}">
                <a16:creationId xmlns:a16="http://schemas.microsoft.com/office/drawing/2014/main" id="{E4F92F27-7518-2E2E-CA6C-2C0C1F69CC34}"/>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lstStyle/>
          <a:p>
            <a:pPr eaLnBrk="1" hangingPunct="1">
              <a:spcBef>
                <a:spcPct val="0"/>
              </a:spcBef>
            </a:pPr>
            <a:r>
              <a:rPr lang="en-US" altLang="en-US" b="1">
                <a:solidFill>
                  <a:srgbClr val="000000"/>
                </a:solidFill>
                <a:latin typeface="Arial" panose="020B0604020202020204" pitchFamily="34" charset="0"/>
              </a:rPr>
              <a:t>CREATE</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TABLE</a:t>
            </a:r>
            <a:r>
              <a:rPr lang="en-US" altLang="en-US">
                <a:solidFill>
                  <a:srgbClr val="000000"/>
                </a:solidFill>
                <a:latin typeface="Arial" panose="020B0604020202020204" pitchFamily="34" charset="0"/>
              </a:rPr>
              <a:t> Department( </a:t>
            </a:r>
          </a:p>
          <a:p>
            <a:pPr eaLnBrk="1" hangingPunct="1">
              <a:spcBef>
                <a:spcPct val="0"/>
              </a:spcBef>
            </a:pPr>
            <a:r>
              <a:rPr lang="th-TH" altLang="en-US">
                <a:solidFill>
                  <a:srgbClr val="000000"/>
                </a:solidFill>
                <a:latin typeface="Arial" panose="020B0604020202020204" pitchFamily="34" charset="0"/>
              </a:rPr>
              <a:t>      </a:t>
            </a:r>
            <a:r>
              <a:rPr lang="en-US" altLang="en-US">
                <a:solidFill>
                  <a:srgbClr val="000000"/>
                </a:solidFill>
                <a:latin typeface="Arial" panose="020B0604020202020204" pitchFamily="34" charset="0"/>
              </a:rPr>
              <a:t>Id </a:t>
            </a:r>
            <a:r>
              <a:rPr lang="en-US" altLang="en-US" b="1">
                <a:solidFill>
                  <a:srgbClr val="000000"/>
                </a:solidFill>
                <a:latin typeface="Arial" panose="020B0604020202020204" pitchFamily="34" charset="0"/>
              </a:rPr>
              <a:t>INT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PRIMARY KEY</a:t>
            </a:r>
            <a:r>
              <a:rPr lang="en-US" altLang="en-US">
                <a:solidFill>
                  <a:srgbClr val="000000"/>
                </a:solidFill>
                <a:latin typeface="Arial" panose="020B0604020202020204" pitchFamily="34" charset="0"/>
              </a:rPr>
              <a:t>, </a:t>
            </a:r>
          </a:p>
          <a:p>
            <a:pPr eaLnBrk="1" hangingPunct="1">
              <a:spcBef>
                <a:spcPct val="0"/>
              </a:spcBef>
            </a:pPr>
            <a:r>
              <a:rPr lang="th-TH" altLang="en-US">
                <a:solidFill>
                  <a:srgbClr val="000000"/>
                </a:solidFill>
                <a:latin typeface="Arial" panose="020B0604020202020204" pitchFamily="34" charset="0"/>
              </a:rPr>
              <a:t>     </a:t>
            </a:r>
            <a:r>
              <a:rPr lang="en-US" altLang="en-US">
                <a:solidFill>
                  <a:srgbClr val="000000"/>
                </a:solidFill>
                <a:latin typeface="Arial" panose="020B0604020202020204" pitchFamily="34" charset="0"/>
              </a:rPr>
              <a:t>Name </a:t>
            </a:r>
            <a:r>
              <a:rPr lang="en-US" altLang="en-US" b="1">
                <a:solidFill>
                  <a:srgbClr val="000000"/>
                </a:solidFill>
                <a:latin typeface="Arial" panose="020B0604020202020204" pitchFamily="34" charset="0"/>
              </a:rPr>
              <a:t>NVARCHAR</a:t>
            </a:r>
            <a:r>
              <a:rPr lang="en-US" altLang="en-US">
                <a:solidFill>
                  <a:srgbClr val="000000"/>
                </a:solidFill>
                <a:latin typeface="Arial" panose="020B0604020202020204" pitchFamily="34" charset="0"/>
              </a:rPr>
              <a:t>(50) </a:t>
            </a:r>
          </a:p>
          <a:p>
            <a:pPr eaLnBrk="1" hangingPunct="1">
              <a:spcBef>
                <a:spcPct val="0"/>
              </a:spcBef>
            </a:pPr>
            <a:r>
              <a:rPr lang="en-US" altLang="en-US">
                <a:solidFill>
                  <a:srgbClr val="000000"/>
                </a:solidFill>
                <a:latin typeface="Arial" panose="020B0604020202020204" pitchFamily="34" charset="0"/>
              </a:rPr>
              <a:t>) ENGINE=INNODB;</a:t>
            </a:r>
          </a:p>
          <a:p>
            <a:pPr eaLnBrk="1" hangingPunct="1">
              <a:spcBef>
                <a:spcPct val="0"/>
              </a:spcBef>
            </a:pPr>
            <a:r>
              <a:rPr lang="en-US" altLang="en-US">
                <a:solidFill>
                  <a:srgbClr val="000000"/>
                </a:solidFill>
                <a:latin typeface="Arial" panose="020B0604020202020204" pitchFamily="34" charset="0"/>
              </a:rPr>
              <a:t>-- Insert some test data in Department Table</a:t>
            </a:r>
          </a:p>
          <a:p>
            <a:pPr eaLnBrk="1" hangingPunct="1">
              <a:spcBef>
                <a:spcPct val="0"/>
              </a:spcBef>
            </a:pPr>
            <a:r>
              <a:rPr lang="en-US" altLang="en-US" b="1">
                <a:solidFill>
                  <a:srgbClr val="000000"/>
                </a:solidFill>
                <a:latin typeface="Arial" panose="020B0604020202020204" pitchFamily="34" charset="0"/>
              </a:rPr>
              <a:t>Insert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into</a:t>
            </a:r>
            <a:r>
              <a:rPr lang="en-US" altLang="en-US">
                <a:solidFill>
                  <a:srgbClr val="000000"/>
                </a:solidFill>
                <a:latin typeface="Arial" panose="020B0604020202020204" pitchFamily="34" charset="0"/>
              </a:rPr>
              <a:t> Department values (10, 'IT');</a:t>
            </a:r>
          </a:p>
          <a:p>
            <a:pPr eaLnBrk="1" hangingPunct="1">
              <a:spcBef>
                <a:spcPct val="0"/>
              </a:spcBef>
            </a:pPr>
            <a:r>
              <a:rPr lang="en-US" altLang="en-US" b="1">
                <a:solidFill>
                  <a:srgbClr val="000000"/>
                </a:solidFill>
                <a:latin typeface="Arial" panose="020B0604020202020204" pitchFamily="34" charset="0"/>
              </a:rPr>
              <a:t>Insert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into</a:t>
            </a:r>
            <a:r>
              <a:rPr lang="en-US" altLang="en-US">
                <a:solidFill>
                  <a:srgbClr val="000000"/>
                </a:solidFill>
                <a:latin typeface="Arial" panose="020B0604020202020204" pitchFamily="34" charset="0"/>
              </a:rPr>
              <a:t> Department values (20, 'HR');</a:t>
            </a:r>
          </a:p>
          <a:p>
            <a:pPr eaLnBrk="1" hangingPunct="1">
              <a:spcBef>
                <a:spcPct val="0"/>
              </a:spcBef>
            </a:pPr>
            <a:r>
              <a:rPr lang="en-US" altLang="en-US" b="1">
                <a:solidFill>
                  <a:srgbClr val="000000"/>
                </a:solidFill>
                <a:latin typeface="Arial" panose="020B0604020202020204" pitchFamily="34" charset="0"/>
              </a:rPr>
              <a:t>Insert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into</a:t>
            </a:r>
            <a:r>
              <a:rPr lang="en-US" altLang="en-US">
                <a:solidFill>
                  <a:srgbClr val="000000"/>
                </a:solidFill>
                <a:latin typeface="Arial" panose="020B0604020202020204" pitchFamily="34" charset="0"/>
              </a:rPr>
              <a:t> Department values (30, 'INFRA’);</a:t>
            </a:r>
          </a:p>
          <a:p>
            <a:pPr eaLnBrk="1" hangingPunct="1">
              <a:spcBef>
                <a:spcPct val="0"/>
              </a:spcBef>
            </a:pPr>
            <a:r>
              <a:rPr lang="en-US" altLang="en-US">
                <a:solidFill>
                  <a:srgbClr val="000000"/>
                </a:solidFill>
                <a:latin typeface="Arial" panose="020B0604020202020204" pitchFamily="34" charset="0"/>
              </a:rPr>
              <a:t>--</a:t>
            </a:r>
          </a:p>
          <a:p>
            <a:pPr eaLnBrk="1" hangingPunct="1">
              <a:spcBef>
                <a:spcPct val="0"/>
              </a:spcBef>
            </a:pPr>
            <a:r>
              <a:rPr lang="en-US" altLang="en-US" b="1">
                <a:solidFill>
                  <a:srgbClr val="0070C0"/>
                </a:solidFill>
                <a:latin typeface="Arial" panose="020B0604020202020204" pitchFamily="34" charset="0"/>
              </a:rPr>
              <a:t>CREATE</a:t>
            </a:r>
            <a:r>
              <a:rPr lang="en-US" altLang="en-US">
                <a:solidFill>
                  <a:srgbClr val="0070C0"/>
                </a:solidFill>
                <a:latin typeface="Arial" panose="020B0604020202020204" pitchFamily="34" charset="0"/>
              </a:rPr>
              <a:t> </a:t>
            </a:r>
            <a:r>
              <a:rPr lang="en-US" altLang="en-US" b="1">
                <a:solidFill>
                  <a:srgbClr val="0070C0"/>
                </a:solidFill>
                <a:latin typeface="Arial" panose="020B0604020202020204" pitchFamily="34" charset="0"/>
              </a:rPr>
              <a:t>TABLE</a:t>
            </a:r>
            <a:r>
              <a:rPr lang="en-US" altLang="en-US">
                <a:solidFill>
                  <a:srgbClr val="0070C0"/>
                </a:solidFill>
                <a:latin typeface="Arial" panose="020B0604020202020204" pitchFamily="34" charset="0"/>
              </a:rPr>
              <a:t> </a:t>
            </a:r>
            <a:r>
              <a:rPr lang="en-US" altLang="en-US">
                <a:solidFill>
                  <a:srgbClr val="000000"/>
                </a:solidFill>
                <a:latin typeface="Arial" panose="020B0604020202020204" pitchFamily="34" charset="0"/>
              </a:rPr>
              <a:t>Employees(</a:t>
            </a:r>
          </a:p>
          <a:p>
            <a:pPr eaLnBrk="1" hangingPunct="1">
              <a:spcBef>
                <a:spcPct val="0"/>
              </a:spcBef>
            </a:pPr>
            <a:r>
              <a:rPr lang="th-TH" altLang="en-US">
                <a:solidFill>
                  <a:srgbClr val="000000"/>
                </a:solidFill>
                <a:latin typeface="Arial" panose="020B0604020202020204" pitchFamily="34" charset="0"/>
              </a:rPr>
              <a:t>            </a:t>
            </a:r>
            <a:r>
              <a:rPr lang="en-US" altLang="en-US">
                <a:solidFill>
                  <a:srgbClr val="000000"/>
                </a:solidFill>
                <a:latin typeface="Arial" panose="020B0604020202020204" pitchFamily="34" charset="0"/>
              </a:rPr>
              <a:t>Id </a:t>
            </a:r>
            <a:r>
              <a:rPr lang="en-US" altLang="en-US" b="1">
                <a:solidFill>
                  <a:srgbClr val="0070C0"/>
                </a:solidFill>
                <a:latin typeface="Arial" panose="020B0604020202020204" pitchFamily="34" charset="0"/>
              </a:rPr>
              <a:t>INT</a:t>
            </a:r>
            <a:r>
              <a:rPr lang="en-US" altLang="en-US">
                <a:solidFill>
                  <a:srgbClr val="0070C0"/>
                </a:solidFill>
                <a:latin typeface="Arial" panose="020B0604020202020204" pitchFamily="34" charset="0"/>
              </a:rPr>
              <a:t> </a:t>
            </a:r>
            <a:r>
              <a:rPr lang="en-US" altLang="en-US" b="1">
                <a:solidFill>
                  <a:srgbClr val="0070C0"/>
                </a:solidFill>
                <a:latin typeface="Arial" panose="020B0604020202020204" pitchFamily="34" charset="0"/>
              </a:rPr>
              <a:t>PRIMARY KEY</a:t>
            </a:r>
            <a:r>
              <a:rPr lang="en-US" altLang="en-US">
                <a:solidFill>
                  <a:srgbClr val="000000"/>
                </a:solidFill>
                <a:latin typeface="Arial" panose="020B0604020202020204" pitchFamily="34" charset="0"/>
              </a:rPr>
              <a:t>,</a:t>
            </a:r>
          </a:p>
          <a:p>
            <a:pPr eaLnBrk="1" hangingPunct="1">
              <a:spcBef>
                <a:spcPct val="0"/>
              </a:spcBef>
            </a:pPr>
            <a:r>
              <a:rPr lang="th-TH" altLang="en-US">
                <a:solidFill>
                  <a:srgbClr val="000000"/>
                </a:solidFill>
                <a:latin typeface="Arial" panose="020B0604020202020204" pitchFamily="34" charset="0"/>
              </a:rPr>
              <a:t>           </a:t>
            </a:r>
            <a:r>
              <a:rPr lang="en-US" altLang="en-US">
                <a:solidFill>
                  <a:srgbClr val="000000"/>
                </a:solidFill>
                <a:latin typeface="Arial" panose="020B0604020202020204" pitchFamily="34" charset="0"/>
              </a:rPr>
              <a:t>Name </a:t>
            </a:r>
            <a:r>
              <a:rPr lang="en-US" altLang="en-US" b="1">
                <a:solidFill>
                  <a:srgbClr val="0070C0"/>
                </a:solidFill>
                <a:latin typeface="Arial" panose="020B0604020202020204" pitchFamily="34" charset="0"/>
              </a:rPr>
              <a:t>VARCHAR</a:t>
            </a:r>
            <a:r>
              <a:rPr lang="en-US" altLang="en-US">
                <a:solidFill>
                  <a:srgbClr val="0070C0"/>
                </a:solidFill>
                <a:latin typeface="Arial" panose="020B0604020202020204" pitchFamily="34" charset="0"/>
              </a:rPr>
              <a:t>(100) </a:t>
            </a:r>
            <a:r>
              <a:rPr lang="en-US" altLang="en-US" b="1">
                <a:solidFill>
                  <a:srgbClr val="0070C0"/>
                </a:solidFill>
                <a:latin typeface="Arial" panose="020B0604020202020204" pitchFamily="34" charset="0"/>
              </a:rPr>
              <a:t>NOT NULL</a:t>
            </a:r>
            <a:r>
              <a:rPr lang="en-US" altLang="en-US">
                <a:solidFill>
                  <a:srgbClr val="000000"/>
                </a:solidFill>
                <a:latin typeface="Arial" panose="020B0604020202020204" pitchFamily="34" charset="0"/>
              </a:rPr>
              <a:t>,</a:t>
            </a:r>
          </a:p>
          <a:p>
            <a:pPr eaLnBrk="1" hangingPunct="1">
              <a:spcBef>
                <a:spcPct val="0"/>
              </a:spcBef>
            </a:pPr>
            <a:r>
              <a:rPr lang="th-TH" altLang="en-US">
                <a:solidFill>
                  <a:srgbClr val="000000"/>
                </a:solidFill>
                <a:latin typeface="Arial" panose="020B0604020202020204" pitchFamily="34" charset="0"/>
              </a:rPr>
              <a:t>           </a:t>
            </a:r>
            <a:r>
              <a:rPr lang="en-US" altLang="en-US">
                <a:solidFill>
                  <a:srgbClr val="000000"/>
                </a:solidFill>
                <a:latin typeface="Arial" panose="020B0604020202020204" pitchFamily="34" charset="0"/>
              </a:rPr>
              <a:t>DepartmentID </a:t>
            </a:r>
            <a:r>
              <a:rPr lang="en-US" altLang="en-US" b="1">
                <a:solidFill>
                  <a:srgbClr val="000000"/>
                </a:solidFill>
                <a:latin typeface="Arial" panose="020B0604020202020204" pitchFamily="34" charset="0"/>
              </a:rPr>
              <a:t>INT</a:t>
            </a:r>
            <a:r>
              <a:rPr lang="en-US" altLang="en-US">
                <a:solidFill>
                  <a:srgbClr val="000000"/>
                </a:solidFill>
                <a:latin typeface="Arial" panose="020B0604020202020204" pitchFamily="34" charset="0"/>
              </a:rPr>
              <a:t>,</a:t>
            </a:r>
          </a:p>
          <a:p>
            <a:pPr eaLnBrk="1" hangingPunct="1">
              <a:spcBef>
                <a:spcPct val="0"/>
              </a:spcBef>
            </a:pPr>
            <a:r>
              <a:rPr lang="th-TH" altLang="en-US" b="1">
                <a:solidFill>
                  <a:srgbClr val="0070C0"/>
                </a:solidFill>
                <a:latin typeface="Arial" panose="020B0604020202020204" pitchFamily="34" charset="0"/>
              </a:rPr>
              <a:t>         </a:t>
            </a:r>
            <a:r>
              <a:rPr lang="en-US" altLang="en-US" b="1">
                <a:solidFill>
                  <a:srgbClr val="0070C0"/>
                </a:solidFill>
                <a:latin typeface="Arial" panose="020B0604020202020204" pitchFamily="34" charset="0"/>
              </a:rPr>
              <a:t>FOREIGN KEY</a:t>
            </a:r>
            <a:r>
              <a:rPr lang="en-US" altLang="en-US">
                <a:solidFill>
                  <a:srgbClr val="0070C0"/>
                </a:solidFill>
                <a:latin typeface="Arial" panose="020B0604020202020204" pitchFamily="34" charset="0"/>
              </a:rPr>
              <a:t> </a:t>
            </a:r>
            <a:r>
              <a:rPr lang="en-US" altLang="en-US">
                <a:solidFill>
                  <a:srgbClr val="000000"/>
                </a:solidFill>
                <a:latin typeface="Arial" panose="020B0604020202020204" pitchFamily="34" charset="0"/>
              </a:rPr>
              <a:t>(DepartmentId) </a:t>
            </a:r>
            <a:r>
              <a:rPr lang="en-US" altLang="en-US" b="1">
                <a:solidFill>
                  <a:srgbClr val="0070C0"/>
                </a:solidFill>
                <a:latin typeface="Arial" panose="020B0604020202020204" pitchFamily="34" charset="0"/>
              </a:rPr>
              <a:t>REFERENCES</a:t>
            </a:r>
            <a:r>
              <a:rPr lang="th-TH" altLang="en-US" b="1">
                <a:solidFill>
                  <a:srgbClr val="000000"/>
                </a:solidFill>
                <a:latin typeface="Arial" panose="020B0604020202020204" pitchFamily="34" charset="0"/>
              </a:rPr>
              <a:t> </a:t>
            </a:r>
            <a:r>
              <a:rPr lang="en-US" altLang="en-US">
                <a:solidFill>
                  <a:srgbClr val="000000"/>
                </a:solidFill>
                <a:latin typeface="Arial" panose="020B0604020202020204" pitchFamily="34" charset="0"/>
              </a:rPr>
              <a:t>Department(Id)</a:t>
            </a:r>
          </a:p>
          <a:p>
            <a:pPr eaLnBrk="1" hangingPunct="1">
              <a:spcBef>
                <a:spcPct val="0"/>
              </a:spcBef>
            </a:pPr>
            <a:r>
              <a:rPr lang="th-TH" altLang="en-US" b="1">
                <a:solidFill>
                  <a:srgbClr val="000000"/>
                </a:solidFill>
                <a:latin typeface="Arial" panose="020B0604020202020204" pitchFamily="34" charset="0"/>
              </a:rPr>
              <a:t>         </a:t>
            </a:r>
            <a:r>
              <a:rPr lang="en-US" altLang="en-US" b="1">
                <a:solidFill>
                  <a:srgbClr val="0070C0"/>
                </a:solidFill>
                <a:latin typeface="Arial" panose="020B0604020202020204" pitchFamily="34" charset="0"/>
              </a:rPr>
              <a:t>ON</a:t>
            </a:r>
            <a:r>
              <a:rPr lang="en-US" altLang="en-US">
                <a:solidFill>
                  <a:srgbClr val="0070C0"/>
                </a:solidFill>
                <a:latin typeface="Arial" panose="020B0604020202020204" pitchFamily="34" charset="0"/>
              </a:rPr>
              <a:t> </a:t>
            </a:r>
            <a:r>
              <a:rPr lang="en-US" altLang="en-US" b="1">
                <a:solidFill>
                  <a:srgbClr val="0070C0"/>
                </a:solidFill>
                <a:latin typeface="Arial" panose="020B0604020202020204" pitchFamily="34" charset="0"/>
              </a:rPr>
              <a:t>DELETE</a:t>
            </a:r>
            <a:r>
              <a:rPr lang="en-US" altLang="en-US">
                <a:solidFill>
                  <a:srgbClr val="0070C0"/>
                </a:solidFill>
                <a:latin typeface="Arial" panose="020B0604020202020204" pitchFamily="34" charset="0"/>
              </a:rPr>
              <a:t> </a:t>
            </a:r>
            <a:r>
              <a:rPr lang="en-US" altLang="en-US" b="1">
                <a:solidFill>
                  <a:srgbClr val="0070C0"/>
                </a:solidFill>
                <a:latin typeface="Arial" panose="020B0604020202020204" pitchFamily="34" charset="0"/>
              </a:rPr>
              <a:t>CASCADE</a:t>
            </a:r>
            <a:r>
              <a:rPr lang="en-US" altLang="en-US">
                <a:solidFill>
                  <a:srgbClr val="0070C0"/>
                </a:solidFill>
                <a:latin typeface="Arial" panose="020B0604020202020204" pitchFamily="34" charset="0"/>
              </a:rPr>
              <a:t> </a:t>
            </a:r>
          </a:p>
          <a:p>
            <a:pPr eaLnBrk="1" hangingPunct="1">
              <a:spcBef>
                <a:spcPct val="0"/>
              </a:spcBef>
            </a:pPr>
            <a:r>
              <a:rPr lang="th-TH" altLang="en-US" b="1">
                <a:solidFill>
                  <a:srgbClr val="0070C0"/>
                </a:solidFill>
                <a:latin typeface="Arial" panose="020B0604020202020204" pitchFamily="34" charset="0"/>
              </a:rPr>
              <a:t>         </a:t>
            </a:r>
            <a:r>
              <a:rPr lang="en-US" altLang="en-US" b="1">
                <a:solidFill>
                  <a:srgbClr val="0070C0"/>
                </a:solidFill>
                <a:latin typeface="Arial" panose="020B0604020202020204" pitchFamily="34" charset="0"/>
              </a:rPr>
              <a:t>ON</a:t>
            </a:r>
            <a:r>
              <a:rPr lang="en-US" altLang="en-US">
                <a:solidFill>
                  <a:srgbClr val="0070C0"/>
                </a:solidFill>
                <a:latin typeface="Arial" panose="020B0604020202020204" pitchFamily="34" charset="0"/>
              </a:rPr>
              <a:t> </a:t>
            </a:r>
            <a:r>
              <a:rPr lang="en-US" altLang="en-US" b="1">
                <a:solidFill>
                  <a:srgbClr val="0070C0"/>
                </a:solidFill>
                <a:latin typeface="Arial" panose="020B0604020202020204" pitchFamily="34" charset="0"/>
              </a:rPr>
              <a:t>UPDATE</a:t>
            </a:r>
            <a:r>
              <a:rPr lang="en-US" altLang="en-US">
                <a:solidFill>
                  <a:srgbClr val="0070C0"/>
                </a:solidFill>
                <a:latin typeface="Arial" panose="020B0604020202020204" pitchFamily="34" charset="0"/>
              </a:rPr>
              <a:t> </a:t>
            </a:r>
            <a:r>
              <a:rPr lang="en-US" altLang="en-US" b="1">
                <a:solidFill>
                  <a:srgbClr val="0070C0"/>
                </a:solidFill>
                <a:latin typeface="Arial" panose="020B0604020202020204" pitchFamily="34" charset="0"/>
              </a:rPr>
              <a:t>CASCADE</a:t>
            </a:r>
            <a:endParaRPr lang="en-US" altLang="en-US">
              <a:solidFill>
                <a:srgbClr val="0070C0"/>
              </a:solidFill>
              <a:latin typeface="Arial" panose="020B0604020202020204" pitchFamily="34" charset="0"/>
            </a:endParaRPr>
          </a:p>
          <a:p>
            <a:pPr eaLnBrk="1" hangingPunct="1">
              <a:spcBef>
                <a:spcPct val="0"/>
              </a:spcBef>
            </a:pPr>
            <a:r>
              <a:rPr lang="en-US" altLang="en-US">
                <a:solidFill>
                  <a:srgbClr val="000000"/>
                </a:solidFill>
                <a:latin typeface="Arial" panose="020B0604020202020204" pitchFamily="34" charset="0"/>
              </a:rPr>
              <a:t>) ENGINE=INNODB;</a:t>
            </a:r>
          </a:p>
          <a:p>
            <a:pPr eaLnBrk="1" hangingPunct="1">
              <a:spcBef>
                <a:spcPct val="0"/>
              </a:spcBef>
            </a:pPr>
            <a:r>
              <a:rPr lang="en-US" altLang="en-US">
                <a:solidFill>
                  <a:srgbClr val="000000"/>
                </a:solidFill>
                <a:latin typeface="Arial" panose="020B0604020202020204" pitchFamily="34" charset="0"/>
              </a:rPr>
              <a:t>-- Insert some test data in Employees Table</a:t>
            </a:r>
          </a:p>
          <a:p>
            <a:pPr eaLnBrk="1" hangingPunct="1">
              <a:spcBef>
                <a:spcPct val="0"/>
              </a:spcBef>
            </a:pPr>
            <a:r>
              <a:rPr lang="en-US" altLang="en-US" b="1">
                <a:solidFill>
                  <a:srgbClr val="000000"/>
                </a:solidFill>
                <a:latin typeface="Arial" panose="020B0604020202020204" pitchFamily="34" charset="0"/>
              </a:rPr>
              <a:t>INSERT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into</a:t>
            </a:r>
            <a:r>
              <a:rPr lang="en-US" altLang="en-US">
                <a:solidFill>
                  <a:srgbClr val="000000"/>
                </a:solidFill>
                <a:latin typeface="Arial" panose="020B0604020202020204" pitchFamily="34" charset="0"/>
              </a:rPr>
              <a:t> Employees </a:t>
            </a:r>
            <a:r>
              <a:rPr lang="en-US" altLang="en-US" b="1">
                <a:solidFill>
                  <a:srgbClr val="000000"/>
                </a:solidFill>
                <a:latin typeface="Arial" panose="020B0604020202020204" pitchFamily="34" charset="0"/>
              </a:rPr>
              <a:t>VALUES</a:t>
            </a:r>
            <a:r>
              <a:rPr lang="en-US" altLang="en-US">
                <a:solidFill>
                  <a:srgbClr val="000000"/>
                </a:solidFill>
                <a:latin typeface="Arial" panose="020B0604020202020204" pitchFamily="34" charset="0"/>
              </a:rPr>
              <a:t> (101, 'Anurag', 10); </a:t>
            </a:r>
          </a:p>
          <a:p>
            <a:pPr eaLnBrk="1" hangingPunct="1">
              <a:spcBef>
                <a:spcPct val="0"/>
              </a:spcBef>
            </a:pPr>
            <a:r>
              <a:rPr lang="en-US" altLang="en-US" b="1">
                <a:solidFill>
                  <a:srgbClr val="000000"/>
                </a:solidFill>
                <a:latin typeface="Arial" panose="020B0604020202020204" pitchFamily="34" charset="0"/>
              </a:rPr>
              <a:t>INSERT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into</a:t>
            </a:r>
            <a:r>
              <a:rPr lang="en-US" altLang="en-US">
                <a:solidFill>
                  <a:srgbClr val="000000"/>
                </a:solidFill>
                <a:latin typeface="Arial" panose="020B0604020202020204" pitchFamily="34" charset="0"/>
              </a:rPr>
              <a:t> Employees </a:t>
            </a:r>
            <a:r>
              <a:rPr lang="en-US" altLang="en-US" b="1">
                <a:solidFill>
                  <a:srgbClr val="000000"/>
                </a:solidFill>
                <a:latin typeface="Arial" panose="020B0604020202020204" pitchFamily="34" charset="0"/>
              </a:rPr>
              <a:t>VALUES</a:t>
            </a:r>
            <a:r>
              <a:rPr lang="en-US" altLang="en-US">
                <a:solidFill>
                  <a:srgbClr val="000000"/>
                </a:solidFill>
                <a:latin typeface="Arial" panose="020B0604020202020204" pitchFamily="34" charset="0"/>
              </a:rPr>
              <a:t> (102, 'Pranaya', 20); </a:t>
            </a:r>
          </a:p>
          <a:p>
            <a:pPr eaLnBrk="1" hangingPunct="1">
              <a:spcBef>
                <a:spcPct val="0"/>
              </a:spcBef>
            </a:pPr>
            <a:r>
              <a:rPr lang="en-US" altLang="en-US" b="1">
                <a:solidFill>
                  <a:srgbClr val="000000"/>
                </a:solidFill>
                <a:latin typeface="Arial" panose="020B0604020202020204" pitchFamily="34" charset="0"/>
              </a:rPr>
              <a:t>INSERT</a:t>
            </a:r>
            <a:r>
              <a:rPr lang="en-US" altLang="en-US">
                <a:solidFill>
                  <a:srgbClr val="000000"/>
                </a:solidFill>
                <a:latin typeface="Arial" panose="020B0604020202020204" pitchFamily="34" charset="0"/>
              </a:rPr>
              <a:t> </a:t>
            </a:r>
            <a:r>
              <a:rPr lang="en-US" altLang="en-US" b="1">
                <a:solidFill>
                  <a:srgbClr val="000000"/>
                </a:solidFill>
                <a:latin typeface="Arial" panose="020B0604020202020204" pitchFamily="34" charset="0"/>
              </a:rPr>
              <a:t>into</a:t>
            </a:r>
            <a:r>
              <a:rPr lang="en-US" altLang="en-US">
                <a:solidFill>
                  <a:srgbClr val="000000"/>
                </a:solidFill>
                <a:latin typeface="Arial" panose="020B0604020202020204" pitchFamily="34" charset="0"/>
              </a:rPr>
              <a:t> Employees </a:t>
            </a:r>
            <a:r>
              <a:rPr lang="en-US" altLang="en-US" b="1">
                <a:solidFill>
                  <a:srgbClr val="000000"/>
                </a:solidFill>
                <a:latin typeface="Arial" panose="020B0604020202020204" pitchFamily="34" charset="0"/>
              </a:rPr>
              <a:t>VALUES</a:t>
            </a:r>
            <a:r>
              <a:rPr lang="en-US" altLang="en-US">
                <a:solidFill>
                  <a:srgbClr val="000000"/>
                </a:solidFill>
                <a:latin typeface="Arial" panose="020B0604020202020204" pitchFamily="34" charset="0"/>
              </a:rPr>
              <a:t> (103, 'Hina', 30);</a:t>
            </a:r>
          </a:p>
          <a:p>
            <a:pPr eaLnBrk="1" hangingPunct="1">
              <a:spcBef>
                <a:spcPct val="0"/>
              </a:spcBef>
            </a:pPr>
            <a:r>
              <a:rPr lang="en-US" altLang="en-US" b="1">
                <a:solidFill>
                  <a:srgbClr val="000000"/>
                </a:solidFill>
                <a:latin typeface="Arial" panose="020B0604020202020204" pitchFamily="34" charset="0"/>
              </a:rPr>
              <a:t>INSERT into </a:t>
            </a:r>
            <a:r>
              <a:rPr lang="en-US" altLang="en-US">
                <a:solidFill>
                  <a:srgbClr val="000000"/>
                </a:solidFill>
                <a:latin typeface="Arial" panose="020B0604020202020204" pitchFamily="34" charset="0"/>
              </a:rPr>
              <a:t>Employees</a:t>
            </a:r>
            <a:r>
              <a:rPr lang="en-US" altLang="en-US" b="1">
                <a:solidFill>
                  <a:srgbClr val="000000"/>
                </a:solidFill>
                <a:latin typeface="Arial" panose="020B0604020202020204" pitchFamily="34" charset="0"/>
              </a:rPr>
              <a:t> VALUES </a:t>
            </a:r>
            <a:r>
              <a:rPr lang="en-US" altLang="en-US">
                <a:solidFill>
                  <a:srgbClr val="000000"/>
                </a:solidFill>
                <a:latin typeface="Arial" panose="020B0604020202020204" pitchFamily="34" charset="0"/>
              </a:rPr>
              <a:t>(104, 'apirak', 10); </a:t>
            </a:r>
          </a:p>
          <a:p>
            <a:pPr eaLnBrk="1" hangingPunct="1">
              <a:spcBef>
                <a:spcPct val="0"/>
              </a:spcBef>
            </a:pPr>
            <a:endParaRPr lang="en-US" altLang="en-US">
              <a:solidFill>
                <a:srgbClr val="000000"/>
              </a:solidFill>
              <a:latin typeface="Arial" panose="020B0604020202020204" pitchFamily="34" charset="0"/>
            </a:endParaRPr>
          </a:p>
          <a:p>
            <a:endParaRPr lang="en-US" altLang="en-US">
              <a:latin typeface="Arial" panose="020B0604020202020204" pitchFamily="34"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Slide Image Placeholder 1">
            <a:extLst>
              <a:ext uri="{FF2B5EF4-FFF2-40B4-BE49-F238E27FC236}">
                <a16:creationId xmlns:a16="http://schemas.microsoft.com/office/drawing/2014/main" id="{E48FE049-3FE3-2ECD-7CAF-F572CB736F41}"/>
              </a:ext>
            </a:extLst>
          </p:cNvPr>
          <p:cNvSpPr>
            <a:spLocks noGrp="1" noRot="1" noChangeAspect="1" noChangeArrowheads="1" noTextEdit="1"/>
          </p:cNvSpPr>
          <p:nvPr>
            <p:ph type="sldImg"/>
          </p:nvPr>
        </p:nvSpPr>
        <p:spPr>
          <a:ln/>
        </p:spPr>
      </p:sp>
      <p:sp>
        <p:nvSpPr>
          <p:cNvPr id="64515" name="Notes Placeholder 2">
            <a:extLst>
              <a:ext uri="{FF2B5EF4-FFF2-40B4-BE49-F238E27FC236}">
                <a16:creationId xmlns:a16="http://schemas.microsoft.com/office/drawing/2014/main" id="{555935E8-8ABA-1C7A-4D52-27109D02B6F5}"/>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lstStyle/>
          <a:p>
            <a:pPr eaLnBrk="1" hangingPunct="1">
              <a:spcBef>
                <a:spcPct val="0"/>
              </a:spcBef>
            </a:pPr>
            <a:endParaRPr lang="th-TH" altLang="en-US" b="1">
              <a:solidFill>
                <a:srgbClr val="0070C0"/>
              </a:solidFill>
              <a:latin typeface="Arial" panose="020B0604020202020204" pitchFamily="34" charset="0"/>
            </a:endParaRPr>
          </a:p>
          <a:p>
            <a:pPr eaLnBrk="1" hangingPunct="1">
              <a:spcBef>
                <a:spcPct val="0"/>
              </a:spcBef>
            </a:pPr>
            <a:r>
              <a:rPr lang="en-US" altLang="en-US" b="1">
                <a:solidFill>
                  <a:srgbClr val="0070C0"/>
                </a:solidFill>
                <a:latin typeface="Arial" panose="020B0604020202020204" pitchFamily="34" charset="0"/>
              </a:rPr>
              <a:t>   DELETE FROM  </a:t>
            </a:r>
            <a:r>
              <a:rPr lang="en-US" altLang="en-US" b="1">
                <a:solidFill>
                  <a:srgbClr val="000000"/>
                </a:solidFill>
                <a:latin typeface="Arial" panose="020B0604020202020204" pitchFamily="34" charset="0"/>
              </a:rPr>
              <a:t>employees</a:t>
            </a:r>
            <a:r>
              <a:rPr lang="en-US" altLang="en-US" b="1">
                <a:solidFill>
                  <a:srgbClr val="0070C0"/>
                </a:solidFill>
                <a:latin typeface="Arial" panose="020B0604020202020204" pitchFamily="34" charset="0"/>
              </a:rPr>
              <a:t> WHERE </a:t>
            </a:r>
            <a:r>
              <a:rPr lang="en-US" altLang="en-US" b="1">
                <a:solidFill>
                  <a:srgbClr val="000000"/>
                </a:solidFill>
                <a:latin typeface="Arial" panose="020B0604020202020204" pitchFamily="34" charset="0"/>
              </a:rPr>
              <a:t>Id = 102 </a:t>
            </a:r>
            <a:r>
              <a:rPr lang="en-US" altLang="en-US" b="1">
                <a:solidFill>
                  <a:srgbClr val="0070C0"/>
                </a:solidFill>
                <a:latin typeface="Arial" panose="020B0604020202020204" pitchFamily="34" charset="0"/>
              </a:rPr>
              <a:t>;</a:t>
            </a:r>
          </a:p>
          <a:p>
            <a:pPr eaLnBrk="1" hangingPunct="1">
              <a:spcBef>
                <a:spcPct val="0"/>
              </a:spcBef>
            </a:pPr>
            <a:r>
              <a:rPr lang="en-US" altLang="en-US">
                <a:latin typeface="Arial" panose="020B0604020202020204" pitchFamily="34" charset="0"/>
              </a:rPr>
              <a:t>DELETE FROM  department WHERE Id = 20 ;</a:t>
            </a:r>
          </a:p>
          <a:p>
            <a:pPr eaLnBrk="1" hangingPunct="1">
              <a:spcBef>
                <a:spcPct val="0"/>
              </a:spcBef>
            </a:pPr>
            <a:endParaRPr lang="en-US" altLang="en-US">
              <a:solidFill>
                <a:srgbClr val="000000"/>
              </a:solidFill>
              <a:latin typeface="Arial" panose="020B0604020202020204" pitchFamily="34" charset="0"/>
            </a:endParaRPr>
          </a:p>
          <a:p>
            <a:endParaRPr lang="en-US" altLang="en-US">
              <a:latin typeface="Arial" panose="020B0604020202020204" pitchFamily="34" charset="0"/>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Slide Image Placeholder 1">
            <a:extLst>
              <a:ext uri="{FF2B5EF4-FFF2-40B4-BE49-F238E27FC236}">
                <a16:creationId xmlns:a16="http://schemas.microsoft.com/office/drawing/2014/main" id="{6AF1DEA6-FD82-5418-40AB-7D53E619AF8A}"/>
              </a:ext>
            </a:extLst>
          </p:cNvPr>
          <p:cNvSpPr>
            <a:spLocks noGrp="1" noRot="1" noChangeAspect="1" noChangeArrowheads="1" noTextEdit="1"/>
          </p:cNvSpPr>
          <p:nvPr>
            <p:ph type="sldImg"/>
          </p:nvPr>
        </p:nvSpPr>
        <p:spPr>
          <a:ln/>
        </p:spPr>
      </p:sp>
      <p:sp>
        <p:nvSpPr>
          <p:cNvPr id="66563" name="Notes Placeholder 2">
            <a:extLst>
              <a:ext uri="{FF2B5EF4-FFF2-40B4-BE49-F238E27FC236}">
                <a16:creationId xmlns:a16="http://schemas.microsoft.com/office/drawing/2014/main" id="{4BC3FE0A-D2F8-BF87-7745-E4074C9435F5}"/>
              </a:ext>
            </a:extLst>
          </p:cNvPr>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lstStyle/>
          <a:p>
            <a:pPr eaLnBrk="1" hangingPunct="1">
              <a:spcBef>
                <a:spcPct val="0"/>
              </a:spcBef>
            </a:pPr>
            <a:r>
              <a:rPr lang="en-US" altLang="en-US" b="1">
                <a:solidFill>
                  <a:srgbClr val="0070C0"/>
                </a:solidFill>
                <a:latin typeface="Arial" panose="020B0604020202020204" pitchFamily="34" charset="0"/>
              </a:rPr>
              <a:t>CREATE TABLE </a:t>
            </a:r>
            <a:r>
              <a:rPr lang="en-US" altLang="en-US">
                <a:solidFill>
                  <a:srgbClr val="000000"/>
                </a:solidFill>
                <a:latin typeface="Arial" panose="020B0604020202020204" pitchFamily="34" charset="0"/>
              </a:rPr>
              <a:t>Department(     Id   </a:t>
            </a:r>
            <a:r>
              <a:rPr lang="en-US" altLang="en-US" b="1">
                <a:solidFill>
                  <a:srgbClr val="0070C0"/>
                </a:solidFill>
                <a:latin typeface="Arial" panose="020B0604020202020204" pitchFamily="34" charset="0"/>
              </a:rPr>
              <a:t>INT PRIMARY KEY</a:t>
            </a:r>
            <a:r>
              <a:rPr lang="en-US" altLang="en-US">
                <a:solidFill>
                  <a:srgbClr val="000000"/>
                </a:solidFill>
                <a:latin typeface="Arial" panose="020B0604020202020204" pitchFamily="34" charset="0"/>
              </a:rPr>
              <a:t>,     </a:t>
            </a:r>
            <a:r>
              <a:rPr lang="en-US" altLang="en-US" b="1">
                <a:solidFill>
                  <a:srgbClr val="0070C0"/>
                </a:solidFill>
                <a:latin typeface="Arial" panose="020B0604020202020204" pitchFamily="34" charset="0"/>
              </a:rPr>
              <a:t>Name NVARCHAR(50) </a:t>
            </a:r>
            <a:r>
              <a:rPr lang="en-US" altLang="en-US">
                <a:solidFill>
                  <a:srgbClr val="000000"/>
                </a:solidFill>
                <a:latin typeface="Arial" panose="020B0604020202020204" pitchFamily="34" charset="0"/>
              </a:rPr>
              <a:t>)</a:t>
            </a:r>
          </a:p>
          <a:p>
            <a:pPr eaLnBrk="1" hangingPunct="1">
              <a:spcBef>
                <a:spcPct val="0"/>
              </a:spcBef>
            </a:pPr>
            <a:r>
              <a:rPr lang="en-US" altLang="en-US">
                <a:solidFill>
                  <a:srgbClr val="000000"/>
                </a:solidFill>
                <a:latin typeface="Arial" panose="020B0604020202020204" pitchFamily="34" charset="0"/>
              </a:rPr>
              <a:t>ENGINE=INNODB;</a:t>
            </a:r>
            <a:endParaRPr lang="th-TH" altLang="en-US">
              <a:solidFill>
                <a:srgbClr val="000000"/>
              </a:solidFill>
              <a:latin typeface="Arial" panose="020B0604020202020204" pitchFamily="34" charset="0"/>
            </a:endParaRPr>
          </a:p>
          <a:p>
            <a:pPr eaLnBrk="1" hangingPunct="1">
              <a:spcBef>
                <a:spcPct val="0"/>
              </a:spcBef>
            </a:pPr>
            <a:endParaRPr lang="th-TH" altLang="en-US">
              <a:solidFill>
                <a:srgbClr val="000000"/>
              </a:solidFill>
              <a:latin typeface="Arial" panose="020B0604020202020204" pitchFamily="34" charset="0"/>
            </a:endParaRPr>
          </a:p>
          <a:p>
            <a:pPr eaLnBrk="1" hangingPunct="1">
              <a:spcBef>
                <a:spcPct val="0"/>
              </a:spcBef>
            </a:pPr>
            <a:r>
              <a:rPr lang="en-US" altLang="en-US">
                <a:solidFill>
                  <a:srgbClr val="000000"/>
                </a:solidFill>
                <a:latin typeface="Arial" panose="020B0604020202020204" pitchFamily="34" charset="0"/>
              </a:rPr>
              <a:t>-- Insert some test data in Department Table</a:t>
            </a:r>
            <a:endParaRPr lang="th-TH" altLang="en-US">
              <a:solidFill>
                <a:srgbClr val="000000"/>
              </a:solidFill>
              <a:latin typeface="Arial" panose="020B0604020202020204" pitchFamily="34" charset="0"/>
            </a:endParaRPr>
          </a:p>
          <a:p>
            <a:pPr eaLnBrk="1" hangingPunct="1">
              <a:spcBef>
                <a:spcPct val="0"/>
              </a:spcBef>
            </a:pPr>
            <a:r>
              <a:rPr lang="en-US" altLang="en-US" b="1">
                <a:solidFill>
                  <a:srgbClr val="0070C0"/>
                </a:solidFill>
                <a:latin typeface="Arial" panose="020B0604020202020204" pitchFamily="34" charset="0"/>
              </a:rPr>
              <a:t>Insert </a:t>
            </a:r>
            <a:r>
              <a:rPr lang="th-TH" altLang="en-US" b="1">
                <a:solidFill>
                  <a:srgbClr val="0070C0"/>
                </a:solidFill>
                <a:latin typeface="Arial" panose="020B0604020202020204" pitchFamily="34" charset="0"/>
              </a:rPr>
              <a:t>  </a:t>
            </a:r>
            <a:r>
              <a:rPr lang="en-US" altLang="en-US" b="1">
                <a:solidFill>
                  <a:srgbClr val="0070C0"/>
                </a:solidFill>
                <a:latin typeface="Arial" panose="020B0604020202020204" pitchFamily="34" charset="0"/>
              </a:rPr>
              <a:t>into </a:t>
            </a:r>
            <a:r>
              <a:rPr lang="th-TH" altLang="en-US" b="1">
                <a:solidFill>
                  <a:srgbClr val="0070C0"/>
                </a:solidFill>
                <a:latin typeface="Arial" panose="020B0604020202020204" pitchFamily="34" charset="0"/>
              </a:rPr>
              <a:t>  </a:t>
            </a:r>
            <a:r>
              <a:rPr lang="en-US" altLang="en-US">
                <a:solidFill>
                  <a:srgbClr val="000000"/>
                </a:solidFill>
                <a:latin typeface="Arial" panose="020B0604020202020204" pitchFamily="34" charset="0"/>
              </a:rPr>
              <a:t>Department values (10, 'IT');</a:t>
            </a:r>
            <a:endParaRPr lang="th-TH" altLang="en-US">
              <a:solidFill>
                <a:srgbClr val="000000"/>
              </a:solidFill>
              <a:latin typeface="Arial" panose="020B0604020202020204" pitchFamily="34" charset="0"/>
            </a:endParaRPr>
          </a:p>
          <a:p>
            <a:pPr eaLnBrk="1" hangingPunct="1">
              <a:spcBef>
                <a:spcPct val="0"/>
              </a:spcBef>
            </a:pPr>
            <a:r>
              <a:rPr lang="en-US" altLang="en-US" b="1">
                <a:solidFill>
                  <a:srgbClr val="0070C0"/>
                </a:solidFill>
                <a:latin typeface="Arial" panose="020B0604020202020204" pitchFamily="34" charset="0"/>
              </a:rPr>
              <a:t>Insert </a:t>
            </a:r>
            <a:r>
              <a:rPr lang="th-TH" altLang="en-US" b="1">
                <a:solidFill>
                  <a:srgbClr val="0070C0"/>
                </a:solidFill>
                <a:latin typeface="Arial" panose="020B0604020202020204" pitchFamily="34" charset="0"/>
              </a:rPr>
              <a:t>  </a:t>
            </a:r>
            <a:r>
              <a:rPr lang="en-US" altLang="en-US" b="1">
                <a:solidFill>
                  <a:srgbClr val="0070C0"/>
                </a:solidFill>
                <a:latin typeface="Arial" panose="020B0604020202020204" pitchFamily="34" charset="0"/>
              </a:rPr>
              <a:t>into </a:t>
            </a:r>
            <a:r>
              <a:rPr lang="th-TH" altLang="en-US" b="1">
                <a:solidFill>
                  <a:srgbClr val="0070C0"/>
                </a:solidFill>
                <a:latin typeface="Arial" panose="020B0604020202020204" pitchFamily="34" charset="0"/>
              </a:rPr>
              <a:t>  </a:t>
            </a:r>
            <a:r>
              <a:rPr lang="en-US" altLang="en-US">
                <a:solidFill>
                  <a:srgbClr val="000000"/>
                </a:solidFill>
                <a:latin typeface="Arial" panose="020B0604020202020204" pitchFamily="34" charset="0"/>
              </a:rPr>
              <a:t>Department values (20, 'HR');</a:t>
            </a:r>
            <a:endParaRPr lang="th-TH" altLang="en-US">
              <a:solidFill>
                <a:srgbClr val="000000"/>
              </a:solidFill>
              <a:latin typeface="Arial" panose="020B0604020202020204" pitchFamily="34" charset="0"/>
            </a:endParaRPr>
          </a:p>
          <a:p>
            <a:pPr eaLnBrk="1" hangingPunct="1">
              <a:spcBef>
                <a:spcPct val="0"/>
              </a:spcBef>
            </a:pPr>
            <a:r>
              <a:rPr lang="en-US" altLang="en-US" b="1">
                <a:solidFill>
                  <a:srgbClr val="0070C0"/>
                </a:solidFill>
                <a:latin typeface="Arial" panose="020B0604020202020204" pitchFamily="34" charset="0"/>
              </a:rPr>
              <a:t>Insert </a:t>
            </a:r>
            <a:r>
              <a:rPr lang="th-TH" altLang="en-US" b="1">
                <a:solidFill>
                  <a:srgbClr val="0070C0"/>
                </a:solidFill>
                <a:latin typeface="Arial" panose="020B0604020202020204" pitchFamily="34" charset="0"/>
              </a:rPr>
              <a:t>  </a:t>
            </a:r>
            <a:r>
              <a:rPr lang="en-US" altLang="en-US" b="1">
                <a:solidFill>
                  <a:srgbClr val="0070C0"/>
                </a:solidFill>
                <a:latin typeface="Arial" panose="020B0604020202020204" pitchFamily="34" charset="0"/>
              </a:rPr>
              <a:t>into </a:t>
            </a:r>
            <a:r>
              <a:rPr lang="th-TH" altLang="en-US" b="1">
                <a:solidFill>
                  <a:srgbClr val="0070C0"/>
                </a:solidFill>
                <a:latin typeface="Arial" panose="020B0604020202020204" pitchFamily="34" charset="0"/>
              </a:rPr>
              <a:t>  </a:t>
            </a:r>
            <a:r>
              <a:rPr lang="en-US" altLang="en-US">
                <a:solidFill>
                  <a:srgbClr val="000000"/>
                </a:solidFill>
                <a:latin typeface="Arial" panose="020B0604020202020204" pitchFamily="34" charset="0"/>
              </a:rPr>
              <a:t>Department values (30, 'INFRA');</a:t>
            </a:r>
            <a:endParaRPr lang="th-TH" altLang="en-US">
              <a:solidFill>
                <a:srgbClr val="000000"/>
              </a:solidFill>
              <a:latin typeface="Arial" panose="020B0604020202020204" pitchFamily="34" charset="0"/>
            </a:endParaRPr>
          </a:p>
          <a:p>
            <a:pPr eaLnBrk="1" hangingPunct="1">
              <a:spcBef>
                <a:spcPct val="0"/>
              </a:spcBef>
            </a:pPr>
            <a:endParaRPr lang="en-US" altLang="en-US">
              <a:solidFill>
                <a:srgbClr val="000000"/>
              </a:solidFill>
              <a:latin typeface="Arial" panose="020B0604020202020204" pitchFamily="34" charset="0"/>
            </a:endParaRPr>
          </a:p>
          <a:p>
            <a:pPr eaLnBrk="1" hangingPunct="1">
              <a:spcBef>
                <a:spcPct val="0"/>
              </a:spcBef>
            </a:pPr>
            <a:r>
              <a:rPr lang="en-US" altLang="en-US" b="1">
                <a:solidFill>
                  <a:srgbClr val="0070C0"/>
                </a:solidFill>
                <a:latin typeface="Calibri" panose="020F0502020204030204" pitchFamily="34" charset="0"/>
              </a:rPr>
              <a:t>CREATE</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TABLE</a:t>
            </a:r>
            <a:r>
              <a:rPr lang="en-US" altLang="en-US">
                <a:solidFill>
                  <a:srgbClr val="0070C0"/>
                </a:solidFill>
                <a:latin typeface="Calibri" panose="020F0502020204030204" pitchFamily="34" charset="0"/>
              </a:rPr>
              <a:t> </a:t>
            </a:r>
            <a:r>
              <a:rPr lang="en-US" altLang="en-US">
                <a:solidFill>
                  <a:srgbClr val="000000"/>
                </a:solidFill>
                <a:latin typeface="Calibri" panose="020F0502020204030204" pitchFamily="34" charset="0"/>
              </a:rPr>
              <a:t>Employees(</a:t>
            </a:r>
          </a:p>
          <a:p>
            <a:pPr eaLnBrk="1" hangingPunct="1">
              <a:spcBef>
                <a:spcPct val="0"/>
              </a:spcBef>
            </a:pPr>
            <a:r>
              <a:rPr lang="th-TH" altLang="en-US">
                <a:solidFill>
                  <a:srgbClr val="000000"/>
                </a:solidFill>
                <a:latin typeface="Calibri" panose="020F0502020204030204" pitchFamily="34" charset="0"/>
              </a:rPr>
              <a:t>          </a:t>
            </a:r>
            <a:r>
              <a:rPr lang="en-US" altLang="en-US">
                <a:solidFill>
                  <a:srgbClr val="000000"/>
                </a:solidFill>
                <a:latin typeface="Calibri" panose="020F0502020204030204" pitchFamily="34" charset="0"/>
              </a:rPr>
              <a:t>Id </a:t>
            </a:r>
            <a:r>
              <a:rPr lang="en-US" altLang="en-US" b="1">
                <a:solidFill>
                  <a:srgbClr val="0070C0"/>
                </a:solidFill>
                <a:latin typeface="Calibri" panose="020F0502020204030204" pitchFamily="34" charset="0"/>
              </a:rPr>
              <a:t>INT</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PRIMARY KEY</a:t>
            </a:r>
            <a:r>
              <a:rPr lang="en-US" altLang="en-US">
                <a:solidFill>
                  <a:srgbClr val="000000"/>
                </a:solidFill>
                <a:latin typeface="Calibri" panose="020F0502020204030204" pitchFamily="34" charset="0"/>
              </a:rPr>
              <a:t>,</a:t>
            </a:r>
          </a:p>
          <a:p>
            <a:pPr eaLnBrk="1" hangingPunct="1">
              <a:spcBef>
                <a:spcPct val="0"/>
              </a:spcBef>
            </a:pPr>
            <a:r>
              <a:rPr lang="th-TH" altLang="en-US">
                <a:solidFill>
                  <a:srgbClr val="000000"/>
                </a:solidFill>
                <a:latin typeface="Calibri" panose="020F0502020204030204" pitchFamily="34" charset="0"/>
              </a:rPr>
              <a:t>          </a:t>
            </a:r>
            <a:r>
              <a:rPr lang="en-US" altLang="en-US">
                <a:solidFill>
                  <a:srgbClr val="000000"/>
                </a:solidFill>
                <a:latin typeface="Calibri" panose="020F0502020204030204" pitchFamily="34" charset="0"/>
              </a:rPr>
              <a:t>Name </a:t>
            </a:r>
            <a:r>
              <a:rPr lang="en-US" altLang="en-US" b="1">
                <a:solidFill>
                  <a:srgbClr val="0070C0"/>
                </a:solidFill>
                <a:latin typeface="Calibri" panose="020F0502020204030204" pitchFamily="34" charset="0"/>
              </a:rPr>
              <a:t>VARCHAR</a:t>
            </a:r>
            <a:r>
              <a:rPr lang="en-US" altLang="en-US">
                <a:solidFill>
                  <a:srgbClr val="0070C0"/>
                </a:solidFill>
                <a:latin typeface="Calibri" panose="020F0502020204030204" pitchFamily="34" charset="0"/>
              </a:rPr>
              <a:t>(100) </a:t>
            </a:r>
            <a:r>
              <a:rPr lang="en-US" altLang="en-US" b="1">
                <a:solidFill>
                  <a:srgbClr val="0070C0"/>
                </a:solidFill>
                <a:latin typeface="Calibri" panose="020F0502020204030204" pitchFamily="34" charset="0"/>
              </a:rPr>
              <a:t>NOT NULL</a:t>
            </a:r>
            <a:r>
              <a:rPr lang="en-US" altLang="en-US">
                <a:solidFill>
                  <a:srgbClr val="000000"/>
                </a:solidFill>
                <a:latin typeface="Calibri" panose="020F0502020204030204" pitchFamily="34" charset="0"/>
              </a:rPr>
              <a:t>,</a:t>
            </a:r>
          </a:p>
          <a:p>
            <a:pPr eaLnBrk="1" hangingPunct="1">
              <a:spcBef>
                <a:spcPct val="0"/>
              </a:spcBef>
            </a:pPr>
            <a:r>
              <a:rPr lang="th-TH" altLang="en-US">
                <a:solidFill>
                  <a:srgbClr val="000000"/>
                </a:solidFill>
                <a:latin typeface="Calibri" panose="020F0502020204030204" pitchFamily="34" charset="0"/>
              </a:rPr>
              <a:t>          </a:t>
            </a:r>
            <a:r>
              <a:rPr lang="en-US" altLang="en-US">
                <a:solidFill>
                  <a:srgbClr val="000000"/>
                </a:solidFill>
                <a:latin typeface="Calibri" panose="020F0502020204030204" pitchFamily="34" charset="0"/>
              </a:rPr>
              <a:t>DepartmentID </a:t>
            </a:r>
            <a:r>
              <a:rPr lang="en-US" altLang="en-US" b="1">
                <a:solidFill>
                  <a:srgbClr val="0070C0"/>
                </a:solidFill>
                <a:latin typeface="Calibri" panose="020F0502020204030204" pitchFamily="34" charset="0"/>
              </a:rPr>
              <a:t>INT</a:t>
            </a:r>
            <a:r>
              <a:rPr lang="en-US" altLang="en-US">
                <a:solidFill>
                  <a:srgbClr val="000000"/>
                </a:solidFill>
                <a:latin typeface="Calibri" panose="020F0502020204030204" pitchFamily="34" charset="0"/>
              </a:rPr>
              <a:t>,</a:t>
            </a:r>
          </a:p>
          <a:p>
            <a:pPr eaLnBrk="1" hangingPunct="1">
              <a:spcBef>
                <a:spcPct val="0"/>
              </a:spcBef>
            </a:pPr>
            <a:r>
              <a:rPr lang="th-TH" altLang="en-US" b="1">
                <a:solidFill>
                  <a:srgbClr val="000000"/>
                </a:solidFill>
                <a:latin typeface="Calibri" panose="020F0502020204030204" pitchFamily="34" charset="0"/>
              </a:rPr>
              <a:t>        </a:t>
            </a:r>
            <a:r>
              <a:rPr lang="en-US" altLang="en-US" b="1">
                <a:solidFill>
                  <a:srgbClr val="0070C0"/>
                </a:solidFill>
                <a:latin typeface="Calibri" panose="020F0502020204030204" pitchFamily="34" charset="0"/>
              </a:rPr>
              <a:t>FOREIGN KEY</a:t>
            </a:r>
            <a:r>
              <a:rPr lang="en-US" altLang="en-US">
                <a:solidFill>
                  <a:srgbClr val="0070C0"/>
                </a:solidFill>
                <a:latin typeface="Calibri" panose="020F0502020204030204" pitchFamily="34" charset="0"/>
              </a:rPr>
              <a:t> </a:t>
            </a:r>
            <a:r>
              <a:rPr lang="en-US" altLang="en-US">
                <a:solidFill>
                  <a:srgbClr val="000000"/>
                </a:solidFill>
                <a:latin typeface="Calibri" panose="020F0502020204030204" pitchFamily="34" charset="0"/>
              </a:rPr>
              <a:t>(DepartmentId) </a:t>
            </a:r>
            <a:r>
              <a:rPr lang="en-US" altLang="en-US" b="1">
                <a:solidFill>
                  <a:srgbClr val="0070C0"/>
                </a:solidFill>
                <a:latin typeface="Calibri" panose="020F0502020204030204" pitchFamily="34" charset="0"/>
              </a:rPr>
              <a:t>REFERENCES</a:t>
            </a:r>
            <a:r>
              <a:rPr lang="en-US" altLang="en-US">
                <a:solidFill>
                  <a:srgbClr val="000000"/>
                </a:solidFill>
                <a:latin typeface="Calibri" panose="020F0502020204030204" pitchFamily="34" charset="0"/>
              </a:rPr>
              <a:t> Department(Id)</a:t>
            </a:r>
          </a:p>
          <a:p>
            <a:pPr eaLnBrk="1" hangingPunct="1">
              <a:spcBef>
                <a:spcPct val="0"/>
              </a:spcBef>
            </a:pPr>
            <a:r>
              <a:rPr lang="th-TH" altLang="en-US" b="1">
                <a:solidFill>
                  <a:srgbClr val="000000"/>
                </a:solidFill>
                <a:latin typeface="Calibri" panose="020F0502020204030204" pitchFamily="34" charset="0"/>
              </a:rPr>
              <a:t>        </a:t>
            </a:r>
            <a:r>
              <a:rPr lang="en-US" altLang="en-US" b="1">
                <a:solidFill>
                  <a:srgbClr val="0070C0"/>
                </a:solidFill>
                <a:latin typeface="Calibri" panose="020F0502020204030204" pitchFamily="34" charset="0"/>
              </a:rPr>
              <a:t>ON</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DELETE</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SET</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NULL</a:t>
            </a:r>
            <a:r>
              <a:rPr lang="en-US" altLang="en-US">
                <a:solidFill>
                  <a:srgbClr val="0070C0"/>
                </a:solidFill>
                <a:latin typeface="Calibri" panose="020F0502020204030204" pitchFamily="34" charset="0"/>
              </a:rPr>
              <a:t> </a:t>
            </a:r>
          </a:p>
          <a:p>
            <a:pPr eaLnBrk="1" hangingPunct="1">
              <a:spcBef>
                <a:spcPct val="0"/>
              </a:spcBef>
            </a:pPr>
            <a:r>
              <a:rPr lang="th-TH" altLang="en-US" b="1">
                <a:solidFill>
                  <a:srgbClr val="000000"/>
                </a:solidFill>
                <a:latin typeface="Calibri" panose="020F0502020204030204" pitchFamily="34" charset="0"/>
              </a:rPr>
              <a:t>        </a:t>
            </a:r>
            <a:r>
              <a:rPr lang="en-US" altLang="en-US" b="1">
                <a:solidFill>
                  <a:srgbClr val="0070C0"/>
                </a:solidFill>
                <a:latin typeface="Calibri" panose="020F0502020204030204" pitchFamily="34" charset="0"/>
              </a:rPr>
              <a:t>ON</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UPDATE</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SET</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NULL</a:t>
            </a:r>
            <a:r>
              <a:rPr lang="en-US" altLang="en-US">
                <a:solidFill>
                  <a:srgbClr val="0070C0"/>
                </a:solidFill>
                <a:latin typeface="Calibri" panose="020F0502020204030204" pitchFamily="34" charset="0"/>
              </a:rPr>
              <a:t> </a:t>
            </a:r>
          </a:p>
          <a:p>
            <a:pPr eaLnBrk="1" hangingPunct="1">
              <a:spcBef>
                <a:spcPct val="0"/>
              </a:spcBef>
            </a:pPr>
            <a:r>
              <a:rPr lang="en-US" altLang="en-US">
                <a:solidFill>
                  <a:srgbClr val="000000"/>
                </a:solidFill>
                <a:latin typeface="Calibri" panose="020F0502020204030204" pitchFamily="34" charset="0"/>
              </a:rPr>
              <a:t>) ENGINE=INNODB;</a:t>
            </a:r>
            <a:endParaRPr lang="th-TH" altLang="en-US">
              <a:solidFill>
                <a:srgbClr val="000000"/>
              </a:solidFill>
              <a:latin typeface="Calibri" panose="020F0502020204030204" pitchFamily="34" charset="0"/>
            </a:endParaRPr>
          </a:p>
          <a:p>
            <a:pPr eaLnBrk="1" hangingPunct="1">
              <a:spcBef>
                <a:spcPct val="0"/>
              </a:spcBef>
            </a:pPr>
            <a:endParaRPr lang="th-TH" altLang="en-US">
              <a:solidFill>
                <a:srgbClr val="000000"/>
              </a:solidFill>
              <a:latin typeface="Calibri" panose="020F0502020204030204" pitchFamily="34" charset="0"/>
            </a:endParaRPr>
          </a:p>
          <a:p>
            <a:pPr eaLnBrk="1" hangingPunct="1">
              <a:spcBef>
                <a:spcPct val="0"/>
              </a:spcBef>
            </a:pPr>
            <a:r>
              <a:rPr lang="en-US" altLang="en-US" b="1">
                <a:solidFill>
                  <a:srgbClr val="0070C0"/>
                </a:solidFill>
                <a:latin typeface="Calibri" panose="020F0502020204030204" pitchFamily="34" charset="0"/>
              </a:rPr>
              <a:t>INSERT</a:t>
            </a:r>
            <a:r>
              <a:rPr lang="th-TH" altLang="en-US" b="1">
                <a:solidFill>
                  <a:srgbClr val="0070C0"/>
                </a:solidFill>
                <a:latin typeface="Calibri" panose="020F0502020204030204" pitchFamily="34" charset="0"/>
              </a:rPr>
              <a:t>  </a:t>
            </a:r>
            <a:r>
              <a:rPr lang="en-US"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into</a:t>
            </a:r>
            <a:r>
              <a:rPr lang="en-US" altLang="en-US">
                <a:solidFill>
                  <a:srgbClr val="0070C0"/>
                </a:solidFill>
                <a:latin typeface="Calibri" panose="020F0502020204030204" pitchFamily="34" charset="0"/>
              </a:rPr>
              <a:t> </a:t>
            </a:r>
            <a:r>
              <a:rPr lang="th-TH" altLang="en-US">
                <a:solidFill>
                  <a:srgbClr val="0070C0"/>
                </a:solidFill>
                <a:latin typeface="Calibri" panose="020F0502020204030204" pitchFamily="34" charset="0"/>
              </a:rPr>
              <a:t>  </a:t>
            </a:r>
            <a:r>
              <a:rPr lang="en-US" altLang="en-US">
                <a:solidFill>
                  <a:srgbClr val="000000"/>
                </a:solidFill>
                <a:latin typeface="Calibri" panose="020F0502020204030204" pitchFamily="34" charset="0"/>
              </a:rPr>
              <a:t>Employees </a:t>
            </a:r>
            <a:r>
              <a:rPr lang="en-US" altLang="en-US" b="1">
                <a:solidFill>
                  <a:srgbClr val="000000"/>
                </a:solidFill>
                <a:latin typeface="Calibri" panose="020F0502020204030204" pitchFamily="34" charset="0"/>
              </a:rPr>
              <a:t>VALUES</a:t>
            </a:r>
            <a:r>
              <a:rPr lang="en-US" altLang="en-US">
                <a:solidFill>
                  <a:srgbClr val="000000"/>
                </a:solidFill>
                <a:latin typeface="Calibri" panose="020F0502020204030204" pitchFamily="34" charset="0"/>
              </a:rPr>
              <a:t> (101, 'Anurag', 10); </a:t>
            </a:r>
          </a:p>
          <a:p>
            <a:pPr eaLnBrk="1" hangingPunct="1">
              <a:spcBef>
                <a:spcPct val="0"/>
              </a:spcBef>
            </a:pPr>
            <a:r>
              <a:rPr lang="en-US" altLang="en-US" b="1">
                <a:solidFill>
                  <a:srgbClr val="0070C0"/>
                </a:solidFill>
                <a:latin typeface="Calibri" panose="020F0502020204030204" pitchFamily="34" charset="0"/>
              </a:rPr>
              <a:t>INSERT</a:t>
            </a:r>
            <a:r>
              <a:rPr lang="en-US" altLang="en-US">
                <a:solidFill>
                  <a:srgbClr val="0070C0"/>
                </a:solidFill>
                <a:latin typeface="Calibri" panose="020F0502020204030204" pitchFamily="34" charset="0"/>
              </a:rPr>
              <a:t> </a:t>
            </a:r>
            <a:r>
              <a:rPr lang="th-TH"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into</a:t>
            </a:r>
            <a:r>
              <a:rPr lang="en-US" altLang="en-US">
                <a:solidFill>
                  <a:srgbClr val="0070C0"/>
                </a:solidFill>
                <a:latin typeface="Calibri" panose="020F0502020204030204" pitchFamily="34" charset="0"/>
              </a:rPr>
              <a:t> </a:t>
            </a:r>
            <a:r>
              <a:rPr lang="th-TH" altLang="en-US">
                <a:solidFill>
                  <a:srgbClr val="0070C0"/>
                </a:solidFill>
                <a:latin typeface="Calibri" panose="020F0502020204030204" pitchFamily="34" charset="0"/>
              </a:rPr>
              <a:t>  </a:t>
            </a:r>
            <a:r>
              <a:rPr lang="en-US" altLang="en-US">
                <a:solidFill>
                  <a:srgbClr val="000000"/>
                </a:solidFill>
                <a:latin typeface="Calibri" panose="020F0502020204030204" pitchFamily="34" charset="0"/>
              </a:rPr>
              <a:t>Employees </a:t>
            </a:r>
            <a:r>
              <a:rPr lang="en-US" altLang="en-US" b="1">
                <a:solidFill>
                  <a:srgbClr val="000000"/>
                </a:solidFill>
                <a:latin typeface="Calibri" panose="020F0502020204030204" pitchFamily="34" charset="0"/>
              </a:rPr>
              <a:t>VALUES</a:t>
            </a:r>
            <a:r>
              <a:rPr lang="en-US" altLang="en-US">
                <a:solidFill>
                  <a:srgbClr val="000000"/>
                </a:solidFill>
                <a:latin typeface="Calibri" panose="020F0502020204030204" pitchFamily="34" charset="0"/>
              </a:rPr>
              <a:t> (102, 'Pranaya', 20); </a:t>
            </a:r>
          </a:p>
          <a:p>
            <a:pPr eaLnBrk="1" hangingPunct="1">
              <a:spcBef>
                <a:spcPct val="0"/>
              </a:spcBef>
            </a:pPr>
            <a:r>
              <a:rPr lang="en-US" altLang="en-US" b="1">
                <a:solidFill>
                  <a:srgbClr val="0070C0"/>
                </a:solidFill>
                <a:latin typeface="Calibri" panose="020F0502020204030204" pitchFamily="34" charset="0"/>
              </a:rPr>
              <a:t>INSERT</a:t>
            </a:r>
            <a:r>
              <a:rPr lang="en-US" altLang="en-US">
                <a:solidFill>
                  <a:srgbClr val="0070C0"/>
                </a:solidFill>
                <a:latin typeface="Calibri" panose="020F0502020204030204" pitchFamily="34" charset="0"/>
              </a:rPr>
              <a:t> </a:t>
            </a:r>
            <a:r>
              <a:rPr lang="th-TH" altLang="en-US">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into</a:t>
            </a:r>
            <a:r>
              <a:rPr lang="en-US" altLang="en-US">
                <a:solidFill>
                  <a:srgbClr val="0070C0"/>
                </a:solidFill>
                <a:latin typeface="Calibri" panose="020F0502020204030204" pitchFamily="34" charset="0"/>
              </a:rPr>
              <a:t> </a:t>
            </a:r>
            <a:r>
              <a:rPr lang="th-TH" altLang="en-US">
                <a:solidFill>
                  <a:srgbClr val="0070C0"/>
                </a:solidFill>
                <a:latin typeface="Calibri" panose="020F0502020204030204" pitchFamily="34" charset="0"/>
              </a:rPr>
              <a:t>  </a:t>
            </a:r>
            <a:r>
              <a:rPr lang="en-US" altLang="en-US">
                <a:solidFill>
                  <a:srgbClr val="000000"/>
                </a:solidFill>
                <a:latin typeface="Calibri" panose="020F0502020204030204" pitchFamily="34" charset="0"/>
              </a:rPr>
              <a:t>Employees </a:t>
            </a:r>
            <a:r>
              <a:rPr lang="en-US" altLang="en-US" b="1">
                <a:solidFill>
                  <a:srgbClr val="000000"/>
                </a:solidFill>
                <a:latin typeface="Calibri" panose="020F0502020204030204" pitchFamily="34" charset="0"/>
              </a:rPr>
              <a:t>VALUES</a:t>
            </a:r>
            <a:r>
              <a:rPr lang="en-US" altLang="en-US">
                <a:solidFill>
                  <a:srgbClr val="000000"/>
                </a:solidFill>
                <a:latin typeface="Calibri" panose="020F0502020204030204" pitchFamily="34" charset="0"/>
              </a:rPr>
              <a:t> (103, 'Hina', 30);</a:t>
            </a:r>
          </a:p>
          <a:p>
            <a:pPr eaLnBrk="1" hangingPunct="1">
              <a:spcBef>
                <a:spcPct val="0"/>
              </a:spcBef>
            </a:pPr>
            <a:r>
              <a:rPr lang="en-US" altLang="en-US" b="1">
                <a:solidFill>
                  <a:srgbClr val="0070C0"/>
                </a:solidFill>
                <a:latin typeface="Calibri" panose="020F0502020204030204" pitchFamily="34" charset="0"/>
              </a:rPr>
              <a:t>INSERT </a:t>
            </a:r>
            <a:r>
              <a:rPr lang="th-TH" altLang="en-US" b="1">
                <a:solidFill>
                  <a:srgbClr val="0070C0"/>
                </a:solidFill>
                <a:latin typeface="Calibri" panose="020F0502020204030204" pitchFamily="34" charset="0"/>
              </a:rPr>
              <a:t> </a:t>
            </a:r>
            <a:r>
              <a:rPr lang="en-US" altLang="en-US" b="1">
                <a:solidFill>
                  <a:srgbClr val="0070C0"/>
                </a:solidFill>
                <a:latin typeface="Calibri" panose="020F0502020204030204" pitchFamily="34" charset="0"/>
              </a:rPr>
              <a:t>into </a:t>
            </a:r>
            <a:r>
              <a:rPr lang="th-TH" altLang="en-US" b="1">
                <a:solidFill>
                  <a:srgbClr val="0070C0"/>
                </a:solidFill>
                <a:latin typeface="Calibri" panose="020F0502020204030204" pitchFamily="34" charset="0"/>
              </a:rPr>
              <a:t>  </a:t>
            </a:r>
            <a:r>
              <a:rPr lang="en-US" altLang="en-US">
                <a:solidFill>
                  <a:srgbClr val="000000"/>
                </a:solidFill>
                <a:latin typeface="Calibri" panose="020F0502020204030204" pitchFamily="34" charset="0"/>
              </a:rPr>
              <a:t>Employees</a:t>
            </a:r>
            <a:r>
              <a:rPr lang="en-US" altLang="en-US" b="1">
                <a:solidFill>
                  <a:srgbClr val="000000"/>
                </a:solidFill>
                <a:latin typeface="Calibri" panose="020F0502020204030204" pitchFamily="34" charset="0"/>
              </a:rPr>
              <a:t> VALUES </a:t>
            </a:r>
            <a:r>
              <a:rPr lang="en-US" altLang="en-US">
                <a:solidFill>
                  <a:srgbClr val="000000"/>
                </a:solidFill>
                <a:latin typeface="Calibri" panose="020F0502020204030204" pitchFamily="34" charset="0"/>
              </a:rPr>
              <a:t>(104, 'apirak', 10); </a:t>
            </a:r>
          </a:p>
          <a:p>
            <a:pPr eaLnBrk="1" hangingPunct="1">
              <a:spcBef>
                <a:spcPct val="0"/>
              </a:spcBef>
            </a:pPr>
            <a:endParaRPr lang="en-US" altLang="en-US">
              <a:solidFill>
                <a:srgbClr val="000000"/>
              </a:solidFill>
              <a:latin typeface="Calibri" panose="020F0502020204030204" pitchFamily="34" charset="0"/>
            </a:endParaRPr>
          </a:p>
          <a:p>
            <a:endParaRPr lang="en-US" altLang="en-US">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5855F-F6BA-5244-962B-803AA73845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482875-EE79-695B-F1FB-0EA636D8AA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CF124-ACDA-F213-47CC-BC6BCAD64A31}"/>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5" name="Footer Placeholder 4">
            <a:extLst>
              <a:ext uri="{FF2B5EF4-FFF2-40B4-BE49-F238E27FC236}">
                <a16:creationId xmlns:a16="http://schemas.microsoft.com/office/drawing/2014/main" id="{143D2A00-CC24-1B36-D227-5F1F505887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2DE0C-09FB-1B46-B08B-3004DEC6FF86}"/>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36545666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E3F1-468F-A39E-B1B2-C7C0476252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467F86-3087-D3DA-EF68-EE91B682CA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BAF20-37EF-B590-DD2A-F144DF4BDB51}"/>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5" name="Footer Placeholder 4">
            <a:extLst>
              <a:ext uri="{FF2B5EF4-FFF2-40B4-BE49-F238E27FC236}">
                <a16:creationId xmlns:a16="http://schemas.microsoft.com/office/drawing/2014/main" id="{609A64C4-D3E1-A272-D99A-412BE917D5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C779C5-275C-BD52-63FA-B1E4B8BED50F}"/>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347808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39AE1-FC69-0B64-E259-945AC40236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D3715C5-2179-30AB-C6E1-8176D4F4F97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B737A7-BF31-5A60-D723-C8EE723E532B}"/>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5" name="Footer Placeholder 4">
            <a:extLst>
              <a:ext uri="{FF2B5EF4-FFF2-40B4-BE49-F238E27FC236}">
                <a16:creationId xmlns:a16="http://schemas.microsoft.com/office/drawing/2014/main" id="{100AD6A0-0E59-3FD3-5250-47D6D93845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D4D296-1E46-A1F0-A3C2-1FEEECBE4781}"/>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953858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044C1-F865-C38B-144F-43E2A3022FC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020ECC-1D2F-9A67-A034-BBA289250F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8D23226-5219-FBA2-80A9-BAD2FEED39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19F84A-9832-0250-9CF7-6E8F95E9C478}"/>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6" name="Footer Placeholder 5">
            <a:extLst>
              <a:ext uri="{FF2B5EF4-FFF2-40B4-BE49-F238E27FC236}">
                <a16:creationId xmlns:a16="http://schemas.microsoft.com/office/drawing/2014/main" id="{252635BB-E41B-E4A9-0709-3F6DBC58EEF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234CAC-7E26-776D-4D40-D9BDF538C3E6}"/>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40376634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05355-5BCF-EF33-E35D-3438B8D350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DDC7FE-86D9-A46F-A5C9-A4F950B19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4761368-BB88-79F6-FE6E-544D8626CE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A50D638-069A-C346-D259-5AEFBCE6B3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142159-A2CF-53AB-898A-85012B61F1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B6AD2BE-526A-72B9-0659-6BB04FF9483D}"/>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8" name="Footer Placeholder 7">
            <a:extLst>
              <a:ext uri="{FF2B5EF4-FFF2-40B4-BE49-F238E27FC236}">
                <a16:creationId xmlns:a16="http://schemas.microsoft.com/office/drawing/2014/main" id="{91E0317A-F144-2489-7856-473575188E5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7F6C439-4E40-1488-727B-4275D252AA69}"/>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2394810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DF64F-2EA3-6EBF-72AC-6BB19A70557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4BD4AB-019C-2E27-9AE3-447CFC902550}"/>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4" name="Footer Placeholder 3">
            <a:extLst>
              <a:ext uri="{FF2B5EF4-FFF2-40B4-BE49-F238E27FC236}">
                <a16:creationId xmlns:a16="http://schemas.microsoft.com/office/drawing/2014/main" id="{6AAEAEAA-DF22-3987-7B7F-0F4285C9645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FF05045-21F5-FA7F-EFDF-85AE6995CCA2}"/>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320022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18C9A5-281B-338A-5541-7801C5FA5002}"/>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3" name="Footer Placeholder 2">
            <a:extLst>
              <a:ext uri="{FF2B5EF4-FFF2-40B4-BE49-F238E27FC236}">
                <a16:creationId xmlns:a16="http://schemas.microsoft.com/office/drawing/2014/main" id="{CF2C6EC9-D6FA-7B52-90A2-12EC75E982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55AE9C5-D9F9-29AF-8BB2-2926300CD072}"/>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1441507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19AE8-E4A0-3469-B39E-620241ECB2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074867-3546-A379-3314-56532E2B2F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8FB7110-7E73-C8D9-4899-671C3540C9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300663-A83F-2FF6-883F-84BC751CED1D}"/>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6" name="Footer Placeholder 5">
            <a:extLst>
              <a:ext uri="{FF2B5EF4-FFF2-40B4-BE49-F238E27FC236}">
                <a16:creationId xmlns:a16="http://schemas.microsoft.com/office/drawing/2014/main" id="{A3F5F499-856E-5359-908E-4C20A226BE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A133CE-46F6-31E9-CEC4-E98A9EC56313}"/>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12981331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6615B-162E-337F-0012-1E6BF7F7F7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82DA6C-41B3-B606-4F6E-3EFB9E630C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749F55-96A2-AF91-47E9-E14C74D089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6664BC-FB2F-79D6-7B86-BA5C2A07E3C9}"/>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6" name="Footer Placeholder 5">
            <a:extLst>
              <a:ext uri="{FF2B5EF4-FFF2-40B4-BE49-F238E27FC236}">
                <a16:creationId xmlns:a16="http://schemas.microsoft.com/office/drawing/2014/main" id="{2736F2E3-EAD6-3BE5-11E7-47BE774B54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D8320D-800B-6BD5-BF0D-37DB87BE1219}"/>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27309122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D0519-AF59-793A-3C3C-4EA86B6F37D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0F4CF08-6B57-060C-AB84-414F6369E3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2A8A99-4A66-6B49-19CB-24A4D7465424}"/>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5" name="Footer Placeholder 4">
            <a:extLst>
              <a:ext uri="{FF2B5EF4-FFF2-40B4-BE49-F238E27FC236}">
                <a16:creationId xmlns:a16="http://schemas.microsoft.com/office/drawing/2014/main" id="{BF17D751-8909-C43B-A20C-C20D54DD12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C316A9-12D6-5CA4-3979-40DFDF7FB925}"/>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2511511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6F6244-D593-A929-ACCB-41AB4C2DFB9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9D36775-F56F-C3B2-1CBB-AD27923704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7F24A9-B1F7-79AC-1A19-13AD4A49C3EA}"/>
              </a:ext>
            </a:extLst>
          </p:cNvPr>
          <p:cNvSpPr>
            <a:spLocks noGrp="1"/>
          </p:cNvSpPr>
          <p:nvPr>
            <p:ph type="dt" sz="half" idx="10"/>
          </p:nvPr>
        </p:nvSpPr>
        <p:spPr/>
        <p:txBody>
          <a:bodyPr/>
          <a:lstStyle/>
          <a:p>
            <a:fld id="{8FC250B4-AA0F-4F96-8F8F-2C4CD426623E}" type="datetimeFigureOut">
              <a:rPr lang="en-US" smtClean="0"/>
              <a:t>25/08/2026</a:t>
            </a:fld>
            <a:endParaRPr lang="en-US"/>
          </a:p>
        </p:txBody>
      </p:sp>
      <p:sp>
        <p:nvSpPr>
          <p:cNvPr id="5" name="Footer Placeholder 4">
            <a:extLst>
              <a:ext uri="{FF2B5EF4-FFF2-40B4-BE49-F238E27FC236}">
                <a16:creationId xmlns:a16="http://schemas.microsoft.com/office/drawing/2014/main" id="{6772BAD7-2418-A2A3-B2BA-34CA056175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D8BC7B-C48A-B571-EFB2-85780CDE8604}"/>
              </a:ext>
            </a:extLst>
          </p:cNvPr>
          <p:cNvSpPr>
            <a:spLocks noGrp="1"/>
          </p:cNvSpPr>
          <p:nvPr>
            <p:ph type="sldNum" sz="quarter" idx="12"/>
          </p:nvPr>
        </p:nvSpPr>
        <p:spPr/>
        <p:txBody>
          <a:bodyPr/>
          <a:lstStyle/>
          <a:p>
            <a:fld id="{9AC82583-F550-42AB-81A2-30A5291A861A}" type="slidenum">
              <a:rPr lang="en-US" smtClean="0"/>
              <a:t>‹#›</a:t>
            </a:fld>
            <a:endParaRPr lang="en-US"/>
          </a:p>
        </p:txBody>
      </p:sp>
    </p:spTree>
    <p:extLst>
      <p:ext uri="{BB962C8B-B14F-4D97-AF65-F5344CB8AC3E}">
        <p14:creationId xmlns:p14="http://schemas.microsoft.com/office/powerpoint/2010/main" val="134737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4B59FE-17CA-116E-6B4B-53B4AD41FB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01BEC13-9A94-9C41-8D95-69BA74649F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DAF725-7B43-9696-F4B4-527831A5C4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C250B4-AA0F-4F96-8F8F-2C4CD426623E}" type="datetimeFigureOut">
              <a:rPr lang="en-US" smtClean="0"/>
              <a:t>25/08/2026</a:t>
            </a:fld>
            <a:endParaRPr lang="en-US"/>
          </a:p>
        </p:txBody>
      </p:sp>
      <p:sp>
        <p:nvSpPr>
          <p:cNvPr id="5" name="Footer Placeholder 4">
            <a:extLst>
              <a:ext uri="{FF2B5EF4-FFF2-40B4-BE49-F238E27FC236}">
                <a16:creationId xmlns:a16="http://schemas.microsoft.com/office/drawing/2014/main" id="{0E69827F-F2FF-D9EB-8B40-A6F68F4713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C719FB-8F9C-EE5C-BA3E-A6FD3C4676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AC82583-F550-42AB-81A2-30A5291A861A}" type="slidenum">
              <a:rPr lang="en-US" smtClean="0"/>
              <a:t>‹#›</a:t>
            </a:fld>
            <a:endParaRPr lang="en-US"/>
          </a:p>
        </p:txBody>
      </p:sp>
    </p:spTree>
    <p:extLst>
      <p:ext uri="{BB962C8B-B14F-4D97-AF65-F5344CB8AC3E}">
        <p14:creationId xmlns:p14="http://schemas.microsoft.com/office/powerpoint/2010/main" val="29047412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4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BAAFD-0F63-88C6-63D7-80B5858F7F87}"/>
              </a:ext>
            </a:extLst>
          </p:cNvPr>
          <p:cNvSpPr>
            <a:spLocks noGrp="1"/>
          </p:cNvSpPr>
          <p:nvPr>
            <p:ph type="ctrTitle"/>
          </p:nvPr>
        </p:nvSpPr>
        <p:spPr/>
        <p:txBody>
          <a:bodyPr/>
          <a:lstStyle/>
          <a:p>
            <a:r>
              <a:rPr lang="en-US" dirty="0"/>
              <a:t>Database</a:t>
            </a:r>
          </a:p>
        </p:txBody>
      </p:sp>
      <p:sp>
        <p:nvSpPr>
          <p:cNvPr id="3" name="Subtitle 2">
            <a:extLst>
              <a:ext uri="{FF2B5EF4-FFF2-40B4-BE49-F238E27FC236}">
                <a16:creationId xmlns:a16="http://schemas.microsoft.com/office/drawing/2014/main" id="{CBADD58E-8A02-46AC-889F-F9250510AAA6}"/>
              </a:ext>
            </a:extLst>
          </p:cNvPr>
          <p:cNvSpPr>
            <a:spLocks noGrp="1"/>
          </p:cNvSpPr>
          <p:nvPr>
            <p:ph type="subTitle" idx="1"/>
          </p:nvPr>
        </p:nvSpPr>
        <p:spPr/>
        <p:txBody>
          <a:bodyPr/>
          <a:lstStyle/>
          <a:p>
            <a:r>
              <a:rPr lang="en-US" dirty="0"/>
              <a:t>The Relational Data Model</a:t>
            </a:r>
          </a:p>
        </p:txBody>
      </p:sp>
    </p:spTree>
    <p:extLst>
      <p:ext uri="{BB962C8B-B14F-4D97-AF65-F5344CB8AC3E}">
        <p14:creationId xmlns:p14="http://schemas.microsoft.com/office/powerpoint/2010/main" val="1822489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630F0-7F7F-3466-A431-6BED6A3B66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6D1B8-3717-9521-1630-FA66413EB526}"/>
              </a:ext>
            </a:extLst>
          </p:cNvPr>
          <p:cNvSpPr>
            <a:spLocks noGrp="1"/>
          </p:cNvSpPr>
          <p:nvPr>
            <p:ph type="title"/>
          </p:nvPr>
        </p:nvSpPr>
        <p:spPr/>
        <p:txBody>
          <a:bodyPr/>
          <a:lstStyle/>
          <a:p>
            <a:r>
              <a:rPr lang="en-US" dirty="0"/>
              <a:t>The Relational Data Model Concepts</a:t>
            </a:r>
          </a:p>
        </p:txBody>
      </p:sp>
      <p:sp>
        <p:nvSpPr>
          <p:cNvPr id="3" name="Content Placeholder 2">
            <a:extLst>
              <a:ext uri="{FF2B5EF4-FFF2-40B4-BE49-F238E27FC236}">
                <a16:creationId xmlns:a16="http://schemas.microsoft.com/office/drawing/2014/main" id="{518D51B1-0572-3164-E331-2B925484F5F6}"/>
              </a:ext>
            </a:extLst>
          </p:cNvPr>
          <p:cNvSpPr>
            <a:spLocks noGrp="1"/>
          </p:cNvSpPr>
          <p:nvPr>
            <p:ph idx="1"/>
          </p:nvPr>
        </p:nvSpPr>
        <p:spPr/>
        <p:txBody>
          <a:bodyPr/>
          <a:lstStyle/>
          <a:p>
            <a:pPr marL="0" indent="0">
              <a:buNone/>
            </a:pPr>
            <a:r>
              <a:rPr lang="en-US" dirty="0"/>
              <a:t>Set</a:t>
            </a:r>
          </a:p>
          <a:p>
            <a:r>
              <a:rPr lang="en-US" dirty="0"/>
              <a:t>Name = {Benjamin Bayer, Chung-cha Kim}</a:t>
            </a:r>
          </a:p>
          <a:p>
            <a:r>
              <a:rPr lang="en-US" dirty="0"/>
              <a:t>Address = {2918 Bluebonnet Lane, 125 Kirby Road}</a:t>
            </a:r>
          </a:p>
          <a:p>
            <a:r>
              <a:rPr lang="en-US" dirty="0"/>
              <a:t>Age = {19, 18}</a:t>
            </a:r>
          </a:p>
          <a:p>
            <a:pPr marL="0" indent="0">
              <a:buNone/>
            </a:pPr>
            <a:endParaRPr lang="en-US" dirty="0"/>
          </a:p>
        </p:txBody>
      </p:sp>
    </p:spTree>
    <p:extLst>
      <p:ext uri="{BB962C8B-B14F-4D97-AF65-F5344CB8AC3E}">
        <p14:creationId xmlns:p14="http://schemas.microsoft.com/office/powerpoint/2010/main" val="2546957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794F3-8DFE-9085-A1B2-C2C9B74A89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1B3641-7013-DBBB-B08D-55674F9AE823}"/>
              </a:ext>
            </a:extLst>
          </p:cNvPr>
          <p:cNvSpPr>
            <a:spLocks noGrp="1"/>
          </p:cNvSpPr>
          <p:nvPr>
            <p:ph type="title"/>
          </p:nvPr>
        </p:nvSpPr>
        <p:spPr/>
        <p:txBody>
          <a:bodyPr/>
          <a:lstStyle/>
          <a:p>
            <a:r>
              <a:rPr lang="en-US" dirty="0"/>
              <a:t>The Relational Data Model Concepts</a:t>
            </a:r>
          </a:p>
        </p:txBody>
      </p:sp>
      <p:sp>
        <p:nvSpPr>
          <p:cNvPr id="3" name="Content Placeholder 2">
            <a:extLst>
              <a:ext uri="{FF2B5EF4-FFF2-40B4-BE49-F238E27FC236}">
                <a16:creationId xmlns:a16="http://schemas.microsoft.com/office/drawing/2014/main" id="{9F48D9C4-AF1E-F57E-9D4C-FBC29570D062}"/>
              </a:ext>
            </a:extLst>
          </p:cNvPr>
          <p:cNvSpPr>
            <a:spLocks noGrp="1"/>
          </p:cNvSpPr>
          <p:nvPr>
            <p:ph idx="1"/>
          </p:nvPr>
        </p:nvSpPr>
        <p:spPr/>
        <p:txBody>
          <a:bodyPr>
            <a:normAutofit/>
          </a:bodyPr>
          <a:lstStyle/>
          <a:p>
            <a:pPr marL="0" indent="0">
              <a:buNone/>
            </a:pPr>
            <a:r>
              <a:rPr lang="en-US" dirty="0"/>
              <a:t>Cartesian of </a:t>
            </a:r>
            <a:r>
              <a:rPr lang="en-US" dirty="0">
                <a:solidFill>
                  <a:srgbClr val="FF0000"/>
                </a:solidFill>
              </a:rPr>
              <a:t>Name</a:t>
            </a:r>
            <a:r>
              <a:rPr lang="en-US" dirty="0"/>
              <a:t> x </a:t>
            </a:r>
            <a:r>
              <a:rPr lang="en-US" dirty="0">
                <a:solidFill>
                  <a:srgbClr val="FF0000"/>
                </a:solidFill>
              </a:rPr>
              <a:t>Address</a:t>
            </a:r>
            <a:r>
              <a:rPr lang="en-US" dirty="0"/>
              <a:t> x </a:t>
            </a:r>
            <a:r>
              <a:rPr lang="en-US" dirty="0">
                <a:solidFill>
                  <a:srgbClr val="FF0000"/>
                </a:solidFill>
              </a:rPr>
              <a:t>Age</a:t>
            </a:r>
            <a:r>
              <a:rPr lang="en-US" dirty="0"/>
              <a:t> </a:t>
            </a:r>
          </a:p>
          <a:p>
            <a:r>
              <a:rPr lang="en-US" dirty="0">
                <a:solidFill>
                  <a:srgbClr val="FF0000"/>
                </a:solidFill>
              </a:rPr>
              <a:t>Name</a:t>
            </a:r>
            <a:r>
              <a:rPr lang="en-US" dirty="0"/>
              <a:t> x </a:t>
            </a:r>
            <a:r>
              <a:rPr lang="en-US" dirty="0">
                <a:solidFill>
                  <a:srgbClr val="FF0000"/>
                </a:solidFill>
              </a:rPr>
              <a:t>Address</a:t>
            </a:r>
            <a:r>
              <a:rPr lang="en-US" dirty="0"/>
              <a:t> x </a:t>
            </a:r>
            <a:r>
              <a:rPr lang="en-US" dirty="0">
                <a:solidFill>
                  <a:srgbClr val="FF0000"/>
                </a:solidFill>
              </a:rPr>
              <a:t>Age</a:t>
            </a:r>
            <a:r>
              <a:rPr lang="en-US" dirty="0"/>
              <a:t> = {&lt;</a:t>
            </a:r>
            <a:r>
              <a:rPr lang="en-US" dirty="0">
                <a:solidFill>
                  <a:srgbClr val="00B050"/>
                </a:solidFill>
              </a:rPr>
              <a:t>Benjamin Bayer, 2918 Bluebonnet Lane, 19</a:t>
            </a:r>
            <a:r>
              <a:rPr lang="en-US" dirty="0"/>
              <a:t>&gt;, &lt; </a:t>
            </a:r>
            <a:r>
              <a:rPr lang="en-US" dirty="0">
                <a:solidFill>
                  <a:srgbClr val="00B050"/>
                </a:solidFill>
              </a:rPr>
              <a:t>Benjamin Bayer, 2918 Bluebonnet Lane, 18 </a:t>
            </a:r>
            <a:r>
              <a:rPr lang="en-US" dirty="0"/>
              <a:t>&gt;, &lt; </a:t>
            </a:r>
            <a:r>
              <a:rPr lang="en-US" dirty="0">
                <a:solidFill>
                  <a:srgbClr val="00B050"/>
                </a:solidFill>
              </a:rPr>
              <a:t>Benjamin Bayer, 125 Kirby Road, 19</a:t>
            </a:r>
            <a:r>
              <a:rPr lang="en-US" dirty="0"/>
              <a:t> &gt;, &lt; </a:t>
            </a:r>
            <a:r>
              <a:rPr lang="en-US" dirty="0">
                <a:solidFill>
                  <a:srgbClr val="00B050"/>
                </a:solidFill>
              </a:rPr>
              <a:t>Benjamin Bayer, 125 Kirby Road, 18</a:t>
            </a:r>
            <a:r>
              <a:rPr lang="en-US" dirty="0"/>
              <a:t> &gt;, &lt; </a:t>
            </a:r>
            <a:r>
              <a:rPr lang="en-US" dirty="0">
                <a:solidFill>
                  <a:srgbClr val="0070C0"/>
                </a:solidFill>
              </a:rPr>
              <a:t>Chung-cha Kim, 2918 Bluebonnet Lane, 19</a:t>
            </a:r>
            <a:r>
              <a:rPr lang="en-US" dirty="0"/>
              <a:t> &gt;, &lt; </a:t>
            </a:r>
            <a:r>
              <a:rPr lang="en-US" dirty="0">
                <a:solidFill>
                  <a:srgbClr val="0070C0"/>
                </a:solidFill>
              </a:rPr>
              <a:t>Chung-cha Kim, 2918 Bluebonnet Lane, 18</a:t>
            </a:r>
            <a:r>
              <a:rPr lang="en-US" dirty="0"/>
              <a:t> &gt;, &lt; </a:t>
            </a:r>
            <a:r>
              <a:rPr lang="en-US" dirty="0">
                <a:solidFill>
                  <a:srgbClr val="0070C0"/>
                </a:solidFill>
              </a:rPr>
              <a:t>Chung-cha Kim, 125 Kirby Road, 19</a:t>
            </a:r>
            <a:r>
              <a:rPr lang="en-US" dirty="0"/>
              <a:t> &gt;, &lt; </a:t>
            </a:r>
            <a:r>
              <a:rPr lang="en-US" dirty="0">
                <a:solidFill>
                  <a:srgbClr val="0070C0"/>
                </a:solidFill>
              </a:rPr>
              <a:t>Chung-cha Kim, 125 Kirby Road, 18</a:t>
            </a:r>
            <a:r>
              <a:rPr lang="en-US" dirty="0"/>
              <a:t> &gt;}</a:t>
            </a:r>
            <a:endParaRPr lang="en-US" dirty="0">
              <a:solidFill>
                <a:srgbClr val="FF0000"/>
              </a:solidFill>
            </a:endParaRPr>
          </a:p>
          <a:p>
            <a:pPr marL="0" indent="0">
              <a:buNone/>
            </a:pPr>
            <a:endParaRPr lang="en-US" dirty="0"/>
          </a:p>
        </p:txBody>
      </p:sp>
    </p:spTree>
    <p:extLst>
      <p:ext uri="{BB962C8B-B14F-4D97-AF65-F5344CB8AC3E}">
        <p14:creationId xmlns:p14="http://schemas.microsoft.com/office/powerpoint/2010/main" val="1082700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D774B-6E96-9CB5-FDA5-88FD3C27F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A1600F-45F8-1116-735D-352C6E422BF4}"/>
              </a:ext>
            </a:extLst>
          </p:cNvPr>
          <p:cNvSpPr>
            <a:spLocks noGrp="1"/>
          </p:cNvSpPr>
          <p:nvPr>
            <p:ph type="title"/>
          </p:nvPr>
        </p:nvSpPr>
        <p:spPr/>
        <p:txBody>
          <a:bodyPr/>
          <a:lstStyle/>
          <a:p>
            <a:r>
              <a:rPr lang="en-US" dirty="0"/>
              <a:t>The Relational Data Model Concepts</a:t>
            </a:r>
          </a:p>
        </p:txBody>
      </p:sp>
      <p:sp>
        <p:nvSpPr>
          <p:cNvPr id="3" name="Content Placeholder 2">
            <a:extLst>
              <a:ext uri="{FF2B5EF4-FFF2-40B4-BE49-F238E27FC236}">
                <a16:creationId xmlns:a16="http://schemas.microsoft.com/office/drawing/2014/main" id="{9549B72A-F201-45EB-D6BF-875B07912C8B}"/>
              </a:ext>
            </a:extLst>
          </p:cNvPr>
          <p:cNvSpPr>
            <a:spLocks noGrp="1"/>
          </p:cNvSpPr>
          <p:nvPr>
            <p:ph idx="1"/>
          </p:nvPr>
        </p:nvSpPr>
        <p:spPr/>
        <p:txBody>
          <a:bodyPr/>
          <a:lstStyle/>
          <a:p>
            <a:r>
              <a:rPr lang="en-US" dirty="0"/>
              <a:t>Subset of </a:t>
            </a:r>
            <a:r>
              <a:rPr lang="en-US" dirty="0">
                <a:solidFill>
                  <a:srgbClr val="FF0000"/>
                </a:solidFill>
              </a:rPr>
              <a:t>Name</a:t>
            </a:r>
            <a:r>
              <a:rPr lang="en-US" dirty="0"/>
              <a:t> x </a:t>
            </a:r>
            <a:r>
              <a:rPr lang="en-US" dirty="0">
                <a:solidFill>
                  <a:srgbClr val="FF0000"/>
                </a:solidFill>
              </a:rPr>
              <a:t>Address</a:t>
            </a:r>
            <a:r>
              <a:rPr lang="en-US" dirty="0"/>
              <a:t> x </a:t>
            </a:r>
            <a:r>
              <a:rPr lang="en-US" dirty="0">
                <a:solidFill>
                  <a:srgbClr val="FF0000"/>
                </a:solidFill>
              </a:rPr>
              <a:t>Age = </a:t>
            </a:r>
            <a:r>
              <a:rPr lang="en-US" dirty="0"/>
              <a:t>{&lt;</a:t>
            </a:r>
            <a:r>
              <a:rPr lang="en-US" dirty="0">
                <a:solidFill>
                  <a:srgbClr val="00B050"/>
                </a:solidFill>
              </a:rPr>
              <a:t> Benjamin Bayer, 2918 Bluebonnet Lane, 19 </a:t>
            </a:r>
            <a:r>
              <a:rPr lang="en-US" dirty="0"/>
              <a:t>&gt;, &lt; </a:t>
            </a:r>
            <a:r>
              <a:rPr lang="en-US" dirty="0">
                <a:solidFill>
                  <a:srgbClr val="0070C0"/>
                </a:solidFill>
              </a:rPr>
              <a:t>Chung-cha Kim, 125 Kirby Road, 18</a:t>
            </a:r>
            <a:r>
              <a:rPr lang="en-US" dirty="0"/>
              <a:t> &gt;}</a:t>
            </a:r>
          </a:p>
          <a:p>
            <a:r>
              <a:rPr lang="en-US" dirty="0"/>
              <a:t>Subset of </a:t>
            </a:r>
            <a:r>
              <a:rPr lang="en-US" dirty="0">
                <a:solidFill>
                  <a:srgbClr val="FF0000"/>
                </a:solidFill>
              </a:rPr>
              <a:t>Name</a:t>
            </a:r>
            <a:r>
              <a:rPr lang="en-US" dirty="0"/>
              <a:t> x </a:t>
            </a:r>
            <a:r>
              <a:rPr lang="en-US" dirty="0">
                <a:solidFill>
                  <a:srgbClr val="FF0000"/>
                </a:solidFill>
              </a:rPr>
              <a:t>Address</a:t>
            </a:r>
            <a:r>
              <a:rPr lang="en-US" dirty="0"/>
              <a:t> x </a:t>
            </a:r>
            <a:r>
              <a:rPr lang="en-US" dirty="0">
                <a:solidFill>
                  <a:srgbClr val="FF0000"/>
                </a:solidFill>
              </a:rPr>
              <a:t>Age = Relation (Student)</a:t>
            </a:r>
            <a:endParaRPr lang="en-US" dirty="0"/>
          </a:p>
          <a:p>
            <a:endParaRPr lang="en-US" dirty="0"/>
          </a:p>
        </p:txBody>
      </p:sp>
      <p:graphicFrame>
        <p:nvGraphicFramePr>
          <p:cNvPr id="4" name="Table 3">
            <a:extLst>
              <a:ext uri="{FF2B5EF4-FFF2-40B4-BE49-F238E27FC236}">
                <a16:creationId xmlns:a16="http://schemas.microsoft.com/office/drawing/2014/main" id="{19821652-4C80-32BF-30DB-2970C1FFAFF1}"/>
              </a:ext>
            </a:extLst>
          </p:cNvPr>
          <p:cNvGraphicFramePr>
            <a:graphicFrameLocks noGrp="1"/>
          </p:cNvGraphicFramePr>
          <p:nvPr>
            <p:extLst>
              <p:ext uri="{D42A27DB-BD31-4B8C-83A1-F6EECF244321}">
                <p14:modId xmlns:p14="http://schemas.microsoft.com/office/powerpoint/2010/main" val="4286733043"/>
              </p:ext>
            </p:extLst>
          </p:nvPr>
        </p:nvGraphicFramePr>
        <p:xfrm>
          <a:off x="1687870" y="4636740"/>
          <a:ext cx="8127999" cy="111252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4107731093"/>
                    </a:ext>
                  </a:extLst>
                </a:gridCol>
                <a:gridCol w="2709333">
                  <a:extLst>
                    <a:ext uri="{9D8B030D-6E8A-4147-A177-3AD203B41FA5}">
                      <a16:colId xmlns:a16="http://schemas.microsoft.com/office/drawing/2014/main" val="4253352412"/>
                    </a:ext>
                  </a:extLst>
                </a:gridCol>
                <a:gridCol w="2709333">
                  <a:extLst>
                    <a:ext uri="{9D8B030D-6E8A-4147-A177-3AD203B41FA5}">
                      <a16:colId xmlns:a16="http://schemas.microsoft.com/office/drawing/2014/main" val="2649354395"/>
                    </a:ext>
                  </a:extLst>
                </a:gridCol>
              </a:tblGrid>
              <a:tr h="370840">
                <a:tc>
                  <a:txBody>
                    <a:bodyPr/>
                    <a:lstStyle/>
                    <a:p>
                      <a:r>
                        <a:rPr lang="en-US" dirty="0"/>
                        <a:t>Name</a:t>
                      </a:r>
                    </a:p>
                  </a:txBody>
                  <a:tcPr/>
                </a:tc>
                <a:tc>
                  <a:txBody>
                    <a:bodyPr/>
                    <a:lstStyle/>
                    <a:p>
                      <a:r>
                        <a:rPr lang="en-US" dirty="0"/>
                        <a:t>Address</a:t>
                      </a:r>
                    </a:p>
                  </a:txBody>
                  <a:tcPr/>
                </a:tc>
                <a:tc>
                  <a:txBody>
                    <a:bodyPr/>
                    <a:lstStyle/>
                    <a:p>
                      <a:r>
                        <a:rPr lang="en-US" dirty="0"/>
                        <a:t>Age</a:t>
                      </a:r>
                    </a:p>
                  </a:txBody>
                  <a:tcPr/>
                </a:tc>
                <a:extLst>
                  <a:ext uri="{0D108BD9-81ED-4DB2-BD59-A6C34878D82A}">
                    <a16:rowId xmlns:a16="http://schemas.microsoft.com/office/drawing/2014/main" val="3935508911"/>
                  </a:ext>
                </a:extLst>
              </a:tr>
              <a:tr h="370840">
                <a:tc>
                  <a:txBody>
                    <a:bodyPr/>
                    <a:lstStyle/>
                    <a:p>
                      <a:r>
                        <a:rPr lang="en-US" dirty="0">
                          <a:solidFill>
                            <a:srgbClr val="00B050"/>
                          </a:solidFill>
                        </a:rPr>
                        <a:t>Benjamin Bayer</a:t>
                      </a:r>
                      <a:endParaRPr lang="en-US" dirty="0"/>
                    </a:p>
                  </a:txBody>
                  <a:tcPr/>
                </a:tc>
                <a:tc>
                  <a:txBody>
                    <a:bodyPr/>
                    <a:lstStyle/>
                    <a:p>
                      <a:r>
                        <a:rPr lang="en-US" dirty="0">
                          <a:solidFill>
                            <a:srgbClr val="00B050"/>
                          </a:solidFill>
                        </a:rPr>
                        <a:t>2918 Bluebonnet Lane</a:t>
                      </a:r>
                      <a:endParaRPr lang="en-US" dirty="0"/>
                    </a:p>
                  </a:txBody>
                  <a:tcPr/>
                </a:tc>
                <a:tc>
                  <a:txBody>
                    <a:bodyPr/>
                    <a:lstStyle/>
                    <a:p>
                      <a:r>
                        <a:rPr lang="en-US" dirty="0">
                          <a:solidFill>
                            <a:srgbClr val="00B050"/>
                          </a:solidFill>
                        </a:rPr>
                        <a:t>19</a:t>
                      </a:r>
                      <a:endParaRPr lang="en-US" dirty="0"/>
                    </a:p>
                  </a:txBody>
                  <a:tcPr/>
                </a:tc>
                <a:extLst>
                  <a:ext uri="{0D108BD9-81ED-4DB2-BD59-A6C34878D82A}">
                    <a16:rowId xmlns:a16="http://schemas.microsoft.com/office/drawing/2014/main" val="4201052431"/>
                  </a:ext>
                </a:extLst>
              </a:tr>
              <a:tr h="370840">
                <a:tc>
                  <a:txBody>
                    <a:bodyPr/>
                    <a:lstStyle/>
                    <a:p>
                      <a:r>
                        <a:rPr lang="en-US" dirty="0">
                          <a:solidFill>
                            <a:srgbClr val="0070C0"/>
                          </a:solidFill>
                        </a:rPr>
                        <a:t>Chung-cha Kim</a:t>
                      </a:r>
                      <a:endParaRPr lang="en-US" dirty="0"/>
                    </a:p>
                  </a:txBody>
                  <a:tcPr/>
                </a:tc>
                <a:tc>
                  <a:txBody>
                    <a:bodyPr/>
                    <a:lstStyle/>
                    <a:p>
                      <a:r>
                        <a:rPr lang="en-US" dirty="0">
                          <a:solidFill>
                            <a:srgbClr val="0070C0"/>
                          </a:solidFill>
                        </a:rPr>
                        <a:t>125 Kirby Road</a:t>
                      </a:r>
                      <a:endParaRPr lang="en-US" dirty="0"/>
                    </a:p>
                  </a:txBody>
                  <a:tcPr/>
                </a:tc>
                <a:tc>
                  <a:txBody>
                    <a:bodyPr/>
                    <a:lstStyle/>
                    <a:p>
                      <a:r>
                        <a:rPr lang="en-US" dirty="0">
                          <a:solidFill>
                            <a:srgbClr val="0070C0"/>
                          </a:solidFill>
                        </a:rPr>
                        <a:t>18</a:t>
                      </a:r>
                      <a:endParaRPr lang="en-US" dirty="0"/>
                    </a:p>
                  </a:txBody>
                  <a:tcPr/>
                </a:tc>
                <a:extLst>
                  <a:ext uri="{0D108BD9-81ED-4DB2-BD59-A6C34878D82A}">
                    <a16:rowId xmlns:a16="http://schemas.microsoft.com/office/drawing/2014/main" val="1393338171"/>
                  </a:ext>
                </a:extLst>
              </a:tr>
            </a:tbl>
          </a:graphicData>
        </a:graphic>
      </p:graphicFrame>
      <p:sp>
        <p:nvSpPr>
          <p:cNvPr id="7" name="TextBox 6">
            <a:extLst>
              <a:ext uri="{FF2B5EF4-FFF2-40B4-BE49-F238E27FC236}">
                <a16:creationId xmlns:a16="http://schemas.microsoft.com/office/drawing/2014/main" id="{2FEC41C6-8E31-6C74-6E9D-952C623B46E6}"/>
              </a:ext>
            </a:extLst>
          </p:cNvPr>
          <p:cNvSpPr txBox="1"/>
          <p:nvPr/>
        </p:nvSpPr>
        <p:spPr>
          <a:xfrm>
            <a:off x="1616301" y="3962362"/>
            <a:ext cx="1977977" cy="646331"/>
          </a:xfrm>
          <a:prstGeom prst="rect">
            <a:avLst/>
          </a:prstGeom>
          <a:noFill/>
        </p:spPr>
        <p:txBody>
          <a:bodyPr wrap="none" rtlCol="0">
            <a:spAutoFit/>
          </a:bodyPr>
          <a:lstStyle/>
          <a:p>
            <a:r>
              <a:rPr lang="en-US" dirty="0"/>
              <a:t>Table Student </a:t>
            </a:r>
            <a:br>
              <a:rPr lang="en-US" dirty="0"/>
            </a:br>
            <a:r>
              <a:rPr lang="en-US" dirty="0"/>
              <a:t>(Relation Student)</a:t>
            </a:r>
          </a:p>
        </p:txBody>
      </p:sp>
      <p:grpSp>
        <p:nvGrpSpPr>
          <p:cNvPr id="14" name="Group 13">
            <a:extLst>
              <a:ext uri="{FF2B5EF4-FFF2-40B4-BE49-F238E27FC236}">
                <a16:creationId xmlns:a16="http://schemas.microsoft.com/office/drawing/2014/main" id="{662B171E-2487-5293-5F1F-BBD337D72252}"/>
              </a:ext>
            </a:extLst>
          </p:cNvPr>
          <p:cNvGrpSpPr/>
          <p:nvPr/>
        </p:nvGrpSpPr>
        <p:grpSpPr>
          <a:xfrm>
            <a:off x="1006701" y="5193374"/>
            <a:ext cx="609600" cy="325612"/>
            <a:chOff x="1258530" y="5755640"/>
            <a:chExt cx="609600" cy="325612"/>
          </a:xfrm>
        </p:grpSpPr>
        <p:cxnSp>
          <p:nvCxnSpPr>
            <p:cNvPr id="9" name="Straight Arrow Connector 8">
              <a:extLst>
                <a:ext uri="{FF2B5EF4-FFF2-40B4-BE49-F238E27FC236}">
                  <a16:creationId xmlns:a16="http://schemas.microsoft.com/office/drawing/2014/main" id="{5B8EF805-8D67-89A2-2A1A-711EFCE4AEE2}"/>
                </a:ext>
              </a:extLst>
            </p:cNvPr>
            <p:cNvCxnSpPr>
              <a:cxnSpLocks/>
            </p:cNvCxnSpPr>
            <p:nvPr/>
          </p:nvCxnSpPr>
          <p:spPr>
            <a:xfrm flipV="1">
              <a:off x="1258530" y="5755640"/>
              <a:ext cx="609600" cy="12782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FD7191EE-4584-068D-0D38-792F2BB9B491}"/>
                </a:ext>
              </a:extLst>
            </p:cNvPr>
            <p:cNvCxnSpPr>
              <a:cxnSpLocks/>
            </p:cNvCxnSpPr>
            <p:nvPr/>
          </p:nvCxnSpPr>
          <p:spPr>
            <a:xfrm>
              <a:off x="1258530" y="5883460"/>
              <a:ext cx="609600" cy="197792"/>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grpSp>
      <p:sp>
        <p:nvSpPr>
          <p:cNvPr id="15" name="TextBox 14">
            <a:extLst>
              <a:ext uri="{FF2B5EF4-FFF2-40B4-BE49-F238E27FC236}">
                <a16:creationId xmlns:a16="http://schemas.microsoft.com/office/drawing/2014/main" id="{F0C1A699-CF84-29C6-8A6C-1DEF3E22950D}"/>
              </a:ext>
            </a:extLst>
          </p:cNvPr>
          <p:cNvSpPr txBox="1"/>
          <p:nvPr/>
        </p:nvSpPr>
        <p:spPr>
          <a:xfrm>
            <a:off x="74786" y="5123926"/>
            <a:ext cx="838563" cy="369332"/>
          </a:xfrm>
          <a:prstGeom prst="rect">
            <a:avLst/>
          </a:prstGeom>
          <a:noFill/>
        </p:spPr>
        <p:txBody>
          <a:bodyPr wrap="none" rtlCol="0">
            <a:spAutoFit/>
          </a:bodyPr>
          <a:lstStyle/>
          <a:p>
            <a:r>
              <a:rPr lang="en-US" dirty="0"/>
              <a:t>Tuples</a:t>
            </a:r>
          </a:p>
        </p:txBody>
      </p:sp>
      <p:cxnSp>
        <p:nvCxnSpPr>
          <p:cNvPr id="17" name="Straight Arrow Connector 16">
            <a:extLst>
              <a:ext uri="{FF2B5EF4-FFF2-40B4-BE49-F238E27FC236}">
                <a16:creationId xmlns:a16="http://schemas.microsoft.com/office/drawing/2014/main" id="{690AD60C-CE28-118B-6A47-CFFDBB1321A8}"/>
              </a:ext>
            </a:extLst>
          </p:cNvPr>
          <p:cNvCxnSpPr>
            <a:cxnSpLocks/>
          </p:cNvCxnSpPr>
          <p:nvPr/>
        </p:nvCxnSpPr>
        <p:spPr>
          <a:xfrm flipV="1">
            <a:off x="2674374" y="3827425"/>
            <a:ext cx="2428568" cy="1000214"/>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0" name="Straight Arrow Connector 19">
            <a:extLst>
              <a:ext uri="{FF2B5EF4-FFF2-40B4-BE49-F238E27FC236}">
                <a16:creationId xmlns:a16="http://schemas.microsoft.com/office/drawing/2014/main" id="{CA445EBA-102C-4A6B-F72F-BDA692C1FB24}"/>
              </a:ext>
            </a:extLst>
          </p:cNvPr>
          <p:cNvCxnSpPr>
            <a:cxnSpLocks/>
          </p:cNvCxnSpPr>
          <p:nvPr/>
        </p:nvCxnSpPr>
        <p:spPr>
          <a:xfrm flipH="1" flipV="1">
            <a:off x="5102942" y="3827425"/>
            <a:ext cx="327510" cy="1000214"/>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3" name="Straight Arrow Connector 22">
            <a:extLst>
              <a:ext uri="{FF2B5EF4-FFF2-40B4-BE49-F238E27FC236}">
                <a16:creationId xmlns:a16="http://schemas.microsoft.com/office/drawing/2014/main" id="{F6269948-9597-4488-6BD0-3BE2489F8F90}"/>
              </a:ext>
            </a:extLst>
          </p:cNvPr>
          <p:cNvCxnSpPr>
            <a:cxnSpLocks/>
          </p:cNvCxnSpPr>
          <p:nvPr/>
        </p:nvCxnSpPr>
        <p:spPr>
          <a:xfrm flipH="1" flipV="1">
            <a:off x="5102942" y="3827425"/>
            <a:ext cx="2428568" cy="809315"/>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6" name="TextBox 25">
            <a:extLst>
              <a:ext uri="{FF2B5EF4-FFF2-40B4-BE49-F238E27FC236}">
                <a16:creationId xmlns:a16="http://schemas.microsoft.com/office/drawing/2014/main" id="{B482FD15-4305-ABCA-B9DF-9018815669C0}"/>
              </a:ext>
            </a:extLst>
          </p:cNvPr>
          <p:cNvSpPr txBox="1"/>
          <p:nvPr/>
        </p:nvSpPr>
        <p:spPr>
          <a:xfrm>
            <a:off x="4518390" y="3444070"/>
            <a:ext cx="1169103" cy="369332"/>
          </a:xfrm>
          <a:prstGeom prst="rect">
            <a:avLst/>
          </a:prstGeom>
          <a:noFill/>
        </p:spPr>
        <p:txBody>
          <a:bodyPr wrap="none" rtlCol="0">
            <a:spAutoFit/>
          </a:bodyPr>
          <a:lstStyle/>
          <a:p>
            <a:r>
              <a:rPr lang="en-US" dirty="0"/>
              <a:t>Attributes</a:t>
            </a:r>
          </a:p>
        </p:txBody>
      </p:sp>
    </p:spTree>
    <p:extLst>
      <p:ext uri="{BB962C8B-B14F-4D97-AF65-F5344CB8AC3E}">
        <p14:creationId xmlns:p14="http://schemas.microsoft.com/office/powerpoint/2010/main" val="331307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6E12C-D44E-2171-A1EB-82C14E5857DD}"/>
              </a:ext>
            </a:extLst>
          </p:cNvPr>
          <p:cNvSpPr>
            <a:spLocks noGrp="1"/>
          </p:cNvSpPr>
          <p:nvPr>
            <p:ph type="title"/>
          </p:nvPr>
        </p:nvSpPr>
        <p:spPr/>
        <p:txBody>
          <a:bodyPr/>
          <a:lstStyle/>
          <a:p>
            <a:r>
              <a:rPr lang="en-US" dirty="0"/>
              <a:t>The Relational Data Model Concepts</a:t>
            </a:r>
          </a:p>
        </p:txBody>
      </p:sp>
      <p:sp>
        <p:nvSpPr>
          <p:cNvPr id="3" name="Content Placeholder 2">
            <a:extLst>
              <a:ext uri="{FF2B5EF4-FFF2-40B4-BE49-F238E27FC236}">
                <a16:creationId xmlns:a16="http://schemas.microsoft.com/office/drawing/2014/main" id="{A64FCA2D-033D-DE5A-CE7A-40CA27B0D8D4}"/>
              </a:ext>
            </a:extLst>
          </p:cNvPr>
          <p:cNvSpPr>
            <a:spLocks noGrp="1"/>
          </p:cNvSpPr>
          <p:nvPr>
            <p:ph idx="1"/>
          </p:nvPr>
        </p:nvSpPr>
        <p:spPr/>
        <p:txBody>
          <a:bodyPr/>
          <a:lstStyle/>
          <a:p>
            <a:r>
              <a:rPr lang="en-US" b="1" dirty="0"/>
              <a:t>Ordering of Tuples in a Relation</a:t>
            </a:r>
            <a:r>
              <a:rPr lang="en-US" dirty="0"/>
              <a:t> is a relation is defined as a </a:t>
            </a:r>
            <a:r>
              <a:rPr lang="en-US" i="1" dirty="0"/>
              <a:t>set </a:t>
            </a:r>
            <a:r>
              <a:rPr lang="en-US" dirty="0"/>
              <a:t>of tuples. Mathematically, elements of a set have </a:t>
            </a:r>
            <a:r>
              <a:rPr lang="en-US" i="1" dirty="0">
                <a:solidFill>
                  <a:srgbClr val="FF0000"/>
                </a:solidFill>
              </a:rPr>
              <a:t>no order </a:t>
            </a:r>
            <a:r>
              <a:rPr lang="en-US" dirty="0"/>
              <a:t>among them. However, in a file, records are physically stored on disk (or in memory), so there always is </a:t>
            </a:r>
            <a:r>
              <a:rPr lang="en-US" dirty="0">
                <a:solidFill>
                  <a:srgbClr val="FF0000"/>
                </a:solidFill>
              </a:rPr>
              <a:t>an order </a:t>
            </a:r>
            <a:r>
              <a:rPr lang="en-US" dirty="0"/>
              <a:t>among the records. </a:t>
            </a:r>
            <a:br>
              <a:rPr lang="en-US" dirty="0"/>
            </a:br>
            <a:br>
              <a:rPr lang="en-US" dirty="0"/>
            </a:br>
            <a:endParaRPr lang="en-US" dirty="0"/>
          </a:p>
        </p:txBody>
      </p:sp>
    </p:spTree>
    <p:extLst>
      <p:ext uri="{BB962C8B-B14F-4D97-AF65-F5344CB8AC3E}">
        <p14:creationId xmlns:p14="http://schemas.microsoft.com/office/powerpoint/2010/main" val="5626180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B21F0-0D1C-9FC9-A8DF-448BA7F328A3}"/>
              </a:ext>
            </a:extLst>
          </p:cNvPr>
          <p:cNvSpPr>
            <a:spLocks noGrp="1"/>
          </p:cNvSpPr>
          <p:nvPr>
            <p:ph type="title"/>
          </p:nvPr>
        </p:nvSpPr>
        <p:spPr/>
        <p:txBody>
          <a:bodyPr/>
          <a:lstStyle/>
          <a:p>
            <a:r>
              <a:rPr lang="en-US" dirty="0"/>
              <a:t>Relational Model Constraints</a:t>
            </a:r>
          </a:p>
        </p:txBody>
      </p:sp>
      <p:sp>
        <p:nvSpPr>
          <p:cNvPr id="3" name="Content Placeholder 2">
            <a:extLst>
              <a:ext uri="{FF2B5EF4-FFF2-40B4-BE49-F238E27FC236}">
                <a16:creationId xmlns:a16="http://schemas.microsoft.com/office/drawing/2014/main" id="{20A78BF6-235A-67DD-E491-C7E9748B3413}"/>
              </a:ext>
            </a:extLst>
          </p:cNvPr>
          <p:cNvSpPr>
            <a:spLocks noGrp="1"/>
          </p:cNvSpPr>
          <p:nvPr>
            <p:ph idx="1"/>
          </p:nvPr>
        </p:nvSpPr>
        <p:spPr/>
        <p:txBody>
          <a:bodyPr>
            <a:normAutofit/>
          </a:bodyPr>
          <a:lstStyle/>
          <a:p>
            <a:pPr marL="0" indent="0">
              <a:buNone/>
            </a:pPr>
            <a:r>
              <a:rPr lang="en-US" dirty="0"/>
              <a:t>Domain constraints (A valid range of value in Attributes)</a:t>
            </a:r>
          </a:p>
          <a:p>
            <a:r>
              <a:rPr lang="en-US" dirty="0"/>
              <a:t>The data types associated with domains typically include standard numeric data types for integers and real numbers, Characters, Booleans, fixed-length strings, and variable-length strings are also available, as are date, time, timestamp, and other special data types. </a:t>
            </a:r>
          </a:p>
          <a:p>
            <a:r>
              <a:rPr lang="en-US" dirty="0"/>
              <a:t>Domains can also be described by a subrange of values from a data type or as an enumerated data type in which all possible values are explicitly listed. </a:t>
            </a:r>
            <a:br>
              <a:rPr lang="en-US" dirty="0"/>
            </a:br>
            <a:endParaRPr lang="en-US" dirty="0"/>
          </a:p>
        </p:txBody>
      </p:sp>
    </p:spTree>
    <p:extLst>
      <p:ext uri="{BB962C8B-B14F-4D97-AF65-F5344CB8AC3E}">
        <p14:creationId xmlns:p14="http://schemas.microsoft.com/office/powerpoint/2010/main" val="1174059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C78F8-5D85-58E9-9F90-BB69B3F67389}"/>
              </a:ext>
            </a:extLst>
          </p:cNvPr>
          <p:cNvSpPr>
            <a:spLocks noGrp="1"/>
          </p:cNvSpPr>
          <p:nvPr>
            <p:ph type="title"/>
          </p:nvPr>
        </p:nvSpPr>
        <p:spPr/>
        <p:txBody>
          <a:bodyPr/>
          <a:lstStyle/>
          <a:p>
            <a:r>
              <a:rPr lang="en-US" dirty="0"/>
              <a:t>Relational Model Constraints</a:t>
            </a:r>
          </a:p>
        </p:txBody>
      </p:sp>
      <p:sp>
        <p:nvSpPr>
          <p:cNvPr id="3" name="Content Placeholder 2">
            <a:extLst>
              <a:ext uri="{FF2B5EF4-FFF2-40B4-BE49-F238E27FC236}">
                <a16:creationId xmlns:a16="http://schemas.microsoft.com/office/drawing/2014/main" id="{C75B26D8-190D-4A9F-F08C-184A6E7AC6FA}"/>
              </a:ext>
            </a:extLst>
          </p:cNvPr>
          <p:cNvSpPr>
            <a:spLocks noGrp="1"/>
          </p:cNvSpPr>
          <p:nvPr>
            <p:ph idx="1"/>
          </p:nvPr>
        </p:nvSpPr>
        <p:spPr/>
        <p:txBody>
          <a:bodyPr/>
          <a:lstStyle/>
          <a:p>
            <a:r>
              <a:rPr lang="en-US" dirty="0"/>
              <a:t>Key Constraints - uniqueness</a:t>
            </a:r>
          </a:p>
          <a:p>
            <a:pPr lvl="1"/>
            <a:r>
              <a:rPr lang="en-US" dirty="0"/>
              <a:t>Super Key</a:t>
            </a:r>
          </a:p>
          <a:p>
            <a:pPr lvl="1"/>
            <a:r>
              <a:rPr lang="en-US" dirty="0"/>
              <a:t>Candidate Key</a:t>
            </a:r>
          </a:p>
          <a:p>
            <a:pPr lvl="1"/>
            <a:r>
              <a:rPr lang="en-US" dirty="0"/>
              <a:t>Primary Key</a:t>
            </a:r>
          </a:p>
          <a:p>
            <a:r>
              <a:rPr lang="en-US" dirty="0"/>
              <a:t>NULL values are or are not permitted. </a:t>
            </a:r>
          </a:p>
          <a:p>
            <a:pPr lvl="1"/>
            <a:endParaRPr lang="en-US" dirty="0"/>
          </a:p>
          <a:p>
            <a:pPr lvl="1"/>
            <a:endParaRPr lang="en-US" dirty="0"/>
          </a:p>
        </p:txBody>
      </p:sp>
    </p:spTree>
    <p:extLst>
      <p:ext uri="{BB962C8B-B14F-4D97-AF65-F5344CB8AC3E}">
        <p14:creationId xmlns:p14="http://schemas.microsoft.com/office/powerpoint/2010/main" val="23594192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7CA0B-3A9F-017B-934F-E8DBE8E174B8}"/>
              </a:ext>
            </a:extLst>
          </p:cNvPr>
          <p:cNvSpPr>
            <a:spLocks noGrp="1"/>
          </p:cNvSpPr>
          <p:nvPr>
            <p:ph type="title"/>
          </p:nvPr>
        </p:nvSpPr>
        <p:spPr/>
        <p:txBody>
          <a:bodyPr/>
          <a:lstStyle/>
          <a:p>
            <a:r>
              <a:rPr lang="en-US" dirty="0"/>
              <a:t>Relational Model Constraints</a:t>
            </a:r>
          </a:p>
        </p:txBody>
      </p:sp>
      <p:sp>
        <p:nvSpPr>
          <p:cNvPr id="3" name="Content Placeholder 2">
            <a:extLst>
              <a:ext uri="{FF2B5EF4-FFF2-40B4-BE49-F238E27FC236}">
                <a16:creationId xmlns:a16="http://schemas.microsoft.com/office/drawing/2014/main" id="{DC6C4D06-FCD3-F9ED-4EA5-F87537C04161}"/>
              </a:ext>
            </a:extLst>
          </p:cNvPr>
          <p:cNvSpPr>
            <a:spLocks noGrp="1"/>
          </p:cNvSpPr>
          <p:nvPr>
            <p:ph idx="1"/>
          </p:nvPr>
        </p:nvSpPr>
        <p:spPr/>
        <p:txBody>
          <a:bodyPr>
            <a:normAutofit lnSpcReduction="10000"/>
          </a:bodyPr>
          <a:lstStyle/>
          <a:p>
            <a:pPr marL="0" indent="0">
              <a:buNone/>
            </a:pPr>
            <a:r>
              <a:rPr lang="en-US" dirty="0"/>
              <a:t>Entity Integrity Constraints</a:t>
            </a:r>
          </a:p>
          <a:p>
            <a:r>
              <a:rPr lang="en-US" dirty="0"/>
              <a:t>The </a:t>
            </a:r>
            <a:r>
              <a:rPr lang="en-US" b="1" dirty="0"/>
              <a:t>entity integrity constraint </a:t>
            </a:r>
            <a:r>
              <a:rPr lang="en-US" dirty="0"/>
              <a:t>states that no primary key value can be NULL. This is because the </a:t>
            </a:r>
            <a:r>
              <a:rPr lang="en-US" dirty="0">
                <a:solidFill>
                  <a:srgbClr val="FF0000"/>
                </a:solidFill>
              </a:rPr>
              <a:t>primary key value </a:t>
            </a:r>
            <a:r>
              <a:rPr lang="en-US" dirty="0"/>
              <a:t>is used to </a:t>
            </a:r>
            <a:r>
              <a:rPr lang="en-US" dirty="0">
                <a:solidFill>
                  <a:srgbClr val="FF0000"/>
                </a:solidFill>
              </a:rPr>
              <a:t>identify individual tuples in a relation</a:t>
            </a:r>
            <a:r>
              <a:rPr lang="en-US" dirty="0"/>
              <a:t>.</a:t>
            </a:r>
          </a:p>
          <a:p>
            <a:r>
              <a:rPr lang="en-US" dirty="0">
                <a:solidFill>
                  <a:srgbClr val="FF0000"/>
                </a:solidFill>
              </a:rPr>
              <a:t>Key constraints and entity integrity constraints are specified on individual relations</a:t>
            </a:r>
            <a:r>
              <a:rPr lang="en-US" dirty="0"/>
              <a:t>. </a:t>
            </a:r>
          </a:p>
          <a:p>
            <a:r>
              <a:rPr lang="en-US" dirty="0"/>
              <a:t>The </a:t>
            </a:r>
            <a:r>
              <a:rPr lang="en-US" b="1" dirty="0"/>
              <a:t>referential integrity constraint </a:t>
            </a:r>
            <a:r>
              <a:rPr lang="en-US" dirty="0"/>
              <a:t>is specified between two relations and is used to maintain the consistency among tuples in the two relations – Foreign Key. </a:t>
            </a:r>
            <a:br>
              <a:rPr lang="en-US" dirty="0"/>
            </a:br>
            <a:br>
              <a:rPr lang="en-US" dirty="0"/>
            </a:br>
            <a:endParaRPr lang="en-US" dirty="0"/>
          </a:p>
        </p:txBody>
      </p:sp>
    </p:spTree>
    <p:extLst>
      <p:ext uri="{BB962C8B-B14F-4D97-AF65-F5344CB8AC3E}">
        <p14:creationId xmlns:p14="http://schemas.microsoft.com/office/powerpoint/2010/main" val="2323495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8D946-8599-B830-A608-2AAFD38FE050}"/>
              </a:ext>
            </a:extLst>
          </p:cNvPr>
          <p:cNvSpPr>
            <a:spLocks noGrp="1"/>
          </p:cNvSpPr>
          <p:nvPr>
            <p:ph type="title"/>
          </p:nvPr>
        </p:nvSpPr>
        <p:spPr/>
        <p:txBody>
          <a:bodyPr/>
          <a:lstStyle/>
          <a:p>
            <a:r>
              <a:rPr lang="en-US" dirty="0"/>
              <a:t>A Referential Integrity Constraint</a:t>
            </a:r>
          </a:p>
        </p:txBody>
      </p:sp>
      <p:sp>
        <p:nvSpPr>
          <p:cNvPr id="3" name="Content Placeholder 2">
            <a:extLst>
              <a:ext uri="{FF2B5EF4-FFF2-40B4-BE49-F238E27FC236}">
                <a16:creationId xmlns:a16="http://schemas.microsoft.com/office/drawing/2014/main" id="{2E7CC665-C814-67E4-C709-CF4985883845}"/>
              </a:ext>
            </a:extLst>
          </p:cNvPr>
          <p:cNvSpPr>
            <a:spLocks noGrp="1"/>
          </p:cNvSpPr>
          <p:nvPr>
            <p:ph idx="1"/>
          </p:nvPr>
        </p:nvSpPr>
        <p:spPr/>
        <p:txBody>
          <a:bodyPr/>
          <a:lstStyle/>
          <a:p>
            <a:r>
              <a:rPr lang="th-TH" dirty="0"/>
              <a:t>จากรูป </a:t>
            </a:r>
            <a:r>
              <a:rPr lang="en-US" dirty="0"/>
              <a:t>Department </a:t>
            </a:r>
            <a:r>
              <a:rPr lang="th-TH" dirty="0"/>
              <a:t>เป็น </a:t>
            </a:r>
            <a:r>
              <a:rPr lang="en-US" dirty="0"/>
              <a:t>Parent Table, Employee </a:t>
            </a:r>
            <a:r>
              <a:rPr lang="th-TH" dirty="0"/>
              <a:t>เป็น </a:t>
            </a:r>
            <a:r>
              <a:rPr lang="en-US" dirty="0"/>
              <a:t>Child Table </a:t>
            </a:r>
          </a:p>
          <a:p>
            <a:r>
              <a:rPr lang="th-TH" dirty="0"/>
              <a:t>เพราะ </a:t>
            </a:r>
            <a:r>
              <a:rPr lang="en-US" dirty="0"/>
              <a:t>relation </a:t>
            </a:r>
            <a:r>
              <a:rPr lang="th-TH" dirty="0"/>
              <a:t>ที่เกิดกับ </a:t>
            </a:r>
            <a:r>
              <a:rPr lang="en-US" dirty="0"/>
              <a:t>2 Tables </a:t>
            </a:r>
            <a:r>
              <a:rPr lang="th-TH" dirty="0"/>
              <a:t>มี </a:t>
            </a:r>
            <a:r>
              <a:rPr lang="en-US" dirty="0"/>
              <a:t>Primary Key </a:t>
            </a:r>
            <a:r>
              <a:rPr lang="th-TH" dirty="0"/>
              <a:t>กับ </a:t>
            </a:r>
            <a:r>
              <a:rPr lang="en-US" dirty="0"/>
              <a:t>Foreign Key </a:t>
            </a:r>
            <a:r>
              <a:rPr lang="th-TH" dirty="0"/>
              <a:t>ผูกกันอยู่</a:t>
            </a:r>
            <a:endParaRPr lang="en-US" dirty="0"/>
          </a:p>
          <a:p>
            <a:r>
              <a:rPr lang="th-TH" b="1" u="sng" dirty="0"/>
              <a:t>ดังนั้น </a:t>
            </a:r>
            <a:r>
              <a:rPr lang="en-US" b="1" u="sng" dirty="0"/>
              <a:t>A Referential Integrity Constraint </a:t>
            </a:r>
            <a:r>
              <a:rPr lang="th-TH" b="1" u="sng" dirty="0"/>
              <a:t>จะเป็นตัวที่บอกได้ว่าข้อมูลใน </a:t>
            </a:r>
            <a:r>
              <a:rPr lang="en-US" b="1" u="sng" dirty="0"/>
              <a:t>Field </a:t>
            </a:r>
            <a:r>
              <a:rPr lang="en-US" b="1" u="sng" dirty="0" err="1"/>
              <a:t>DeptID</a:t>
            </a:r>
            <a:r>
              <a:rPr lang="en-US" b="1" u="sng" dirty="0"/>
              <a:t> </a:t>
            </a:r>
            <a:r>
              <a:rPr lang="th-TH" b="1" u="sng" dirty="0"/>
              <a:t>ที่อยู่ใน </a:t>
            </a:r>
            <a:r>
              <a:rPr lang="en-US" b="1" u="sng" dirty="0"/>
              <a:t>Employee </a:t>
            </a:r>
            <a:r>
              <a:rPr lang="th-TH" b="1" u="sng" dirty="0"/>
              <a:t>จะต้องมีอยู่ใน </a:t>
            </a:r>
            <a:r>
              <a:rPr lang="en-US" b="1" u="sng" dirty="0"/>
              <a:t>Department </a:t>
            </a:r>
            <a:r>
              <a:rPr lang="th-TH" b="1" u="sng" dirty="0"/>
              <a:t>ด้วย</a:t>
            </a:r>
            <a:endParaRPr lang="en-US" b="1" u="sng" dirty="0"/>
          </a:p>
        </p:txBody>
      </p:sp>
      <p:grpSp>
        <p:nvGrpSpPr>
          <p:cNvPr id="14" name="Group 13">
            <a:extLst>
              <a:ext uri="{FF2B5EF4-FFF2-40B4-BE49-F238E27FC236}">
                <a16:creationId xmlns:a16="http://schemas.microsoft.com/office/drawing/2014/main" id="{13F7A578-4233-F843-1A6A-F7D588B6FA66}"/>
              </a:ext>
            </a:extLst>
          </p:cNvPr>
          <p:cNvGrpSpPr/>
          <p:nvPr/>
        </p:nvGrpSpPr>
        <p:grpSpPr>
          <a:xfrm>
            <a:off x="3225594" y="4023699"/>
            <a:ext cx="5740811" cy="2153264"/>
            <a:chOff x="2429797" y="2802194"/>
            <a:chExt cx="5740811" cy="2153264"/>
          </a:xfrm>
        </p:grpSpPr>
        <p:grpSp>
          <p:nvGrpSpPr>
            <p:cNvPr id="10" name="Group 9">
              <a:extLst>
                <a:ext uri="{FF2B5EF4-FFF2-40B4-BE49-F238E27FC236}">
                  <a16:creationId xmlns:a16="http://schemas.microsoft.com/office/drawing/2014/main" id="{1A8CFAE9-5ECE-FA7D-A3E3-86E67BE405A7}"/>
                </a:ext>
              </a:extLst>
            </p:cNvPr>
            <p:cNvGrpSpPr/>
            <p:nvPr/>
          </p:nvGrpSpPr>
          <p:grpSpPr>
            <a:xfrm>
              <a:off x="2429797" y="2812026"/>
              <a:ext cx="2074607" cy="2143432"/>
              <a:chOff x="2429797" y="2812026"/>
              <a:chExt cx="2074607" cy="2143432"/>
            </a:xfrm>
          </p:grpSpPr>
          <p:sp>
            <p:nvSpPr>
              <p:cNvPr id="4" name="Rectangle 3">
                <a:extLst>
                  <a:ext uri="{FF2B5EF4-FFF2-40B4-BE49-F238E27FC236}">
                    <a16:creationId xmlns:a16="http://schemas.microsoft.com/office/drawing/2014/main" id="{79EC0C66-3C01-D8E0-D8AA-424FC8193D28}"/>
                  </a:ext>
                </a:extLst>
              </p:cNvPr>
              <p:cNvSpPr/>
              <p:nvPr/>
            </p:nvSpPr>
            <p:spPr>
              <a:xfrm>
                <a:off x="2429797" y="2812026"/>
                <a:ext cx="2074607" cy="3539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Employee</a:t>
                </a:r>
              </a:p>
            </p:txBody>
          </p:sp>
          <p:sp>
            <p:nvSpPr>
              <p:cNvPr id="7" name="Rectangle 6">
                <a:extLst>
                  <a:ext uri="{FF2B5EF4-FFF2-40B4-BE49-F238E27FC236}">
                    <a16:creationId xmlns:a16="http://schemas.microsoft.com/office/drawing/2014/main" id="{B3AD1789-74B4-C4E1-6A19-65E5F0B367B3}"/>
                  </a:ext>
                </a:extLst>
              </p:cNvPr>
              <p:cNvSpPr/>
              <p:nvPr/>
            </p:nvSpPr>
            <p:spPr>
              <a:xfrm>
                <a:off x="2429797" y="3165988"/>
                <a:ext cx="2074607" cy="17894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 </a:t>
                </a:r>
                <a:r>
                  <a:rPr lang="en-US" dirty="0" err="1">
                    <a:solidFill>
                      <a:schemeClr val="tx1"/>
                    </a:solidFill>
                  </a:rPr>
                  <a:t>DeptID</a:t>
                </a:r>
                <a:r>
                  <a:rPr lang="en-US" dirty="0">
                    <a:solidFill>
                      <a:schemeClr val="tx1"/>
                    </a:solidFill>
                  </a:rPr>
                  <a:t> (Foreign Key)</a:t>
                </a:r>
              </a:p>
            </p:txBody>
          </p:sp>
        </p:grpSp>
        <p:grpSp>
          <p:nvGrpSpPr>
            <p:cNvPr id="9" name="Group 8">
              <a:extLst>
                <a:ext uri="{FF2B5EF4-FFF2-40B4-BE49-F238E27FC236}">
                  <a16:creationId xmlns:a16="http://schemas.microsoft.com/office/drawing/2014/main" id="{59447B21-4C3F-A53B-EDA3-798EE970C347}"/>
                </a:ext>
              </a:extLst>
            </p:cNvPr>
            <p:cNvGrpSpPr/>
            <p:nvPr/>
          </p:nvGrpSpPr>
          <p:grpSpPr>
            <a:xfrm>
              <a:off x="6096000" y="2802194"/>
              <a:ext cx="2074608" cy="2143432"/>
              <a:chOff x="6095999" y="2812026"/>
              <a:chExt cx="2074608" cy="2143432"/>
            </a:xfrm>
          </p:grpSpPr>
          <p:sp>
            <p:nvSpPr>
              <p:cNvPr id="5" name="Rectangle 4">
                <a:extLst>
                  <a:ext uri="{FF2B5EF4-FFF2-40B4-BE49-F238E27FC236}">
                    <a16:creationId xmlns:a16="http://schemas.microsoft.com/office/drawing/2014/main" id="{E92630CA-3DEF-E90F-FF5C-F2AD8BE054C1}"/>
                  </a:ext>
                </a:extLst>
              </p:cNvPr>
              <p:cNvSpPr/>
              <p:nvPr/>
            </p:nvSpPr>
            <p:spPr>
              <a:xfrm>
                <a:off x="6096000" y="2812026"/>
                <a:ext cx="2074607" cy="3539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Department</a:t>
                </a:r>
              </a:p>
            </p:txBody>
          </p:sp>
          <p:sp>
            <p:nvSpPr>
              <p:cNvPr id="8" name="Rectangle 7">
                <a:extLst>
                  <a:ext uri="{FF2B5EF4-FFF2-40B4-BE49-F238E27FC236}">
                    <a16:creationId xmlns:a16="http://schemas.microsoft.com/office/drawing/2014/main" id="{1F96252B-E60C-73C9-0B0C-109555E846B3}"/>
                  </a:ext>
                </a:extLst>
              </p:cNvPr>
              <p:cNvSpPr/>
              <p:nvPr/>
            </p:nvSpPr>
            <p:spPr>
              <a:xfrm>
                <a:off x="6095999" y="3165988"/>
                <a:ext cx="2074607" cy="17894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 </a:t>
                </a:r>
                <a:r>
                  <a:rPr lang="en-US" dirty="0" err="1">
                    <a:solidFill>
                      <a:schemeClr val="tx1"/>
                    </a:solidFill>
                  </a:rPr>
                  <a:t>DeptID</a:t>
                </a:r>
                <a:r>
                  <a:rPr lang="en-US" dirty="0">
                    <a:solidFill>
                      <a:schemeClr val="tx1"/>
                    </a:solidFill>
                  </a:rPr>
                  <a:t> (Primary Key)</a:t>
                </a:r>
              </a:p>
            </p:txBody>
          </p:sp>
        </p:grpSp>
        <p:cxnSp>
          <p:nvCxnSpPr>
            <p:cNvPr id="12" name="Straight Connector 11">
              <a:extLst>
                <a:ext uri="{FF2B5EF4-FFF2-40B4-BE49-F238E27FC236}">
                  <a16:creationId xmlns:a16="http://schemas.microsoft.com/office/drawing/2014/main" id="{1F663951-978E-6A3E-2ADB-8E4EFF43A9DD}"/>
                </a:ext>
              </a:extLst>
            </p:cNvPr>
            <p:cNvCxnSpPr>
              <a:cxnSpLocks/>
              <a:stCxn id="7" idx="3"/>
            </p:cNvCxnSpPr>
            <p:nvPr/>
          </p:nvCxnSpPr>
          <p:spPr>
            <a:xfrm>
              <a:off x="4504404" y="4060723"/>
              <a:ext cx="1591596" cy="0"/>
            </a:xfrm>
            <a:prstGeom prst="line">
              <a:avLst/>
            </a:prstGeom>
          </p:spPr>
          <p:style>
            <a:lnRef idx="2">
              <a:schemeClr val="dk1"/>
            </a:lnRef>
            <a:fillRef idx="0">
              <a:schemeClr val="dk1"/>
            </a:fillRef>
            <a:effectRef idx="1">
              <a:schemeClr val="dk1"/>
            </a:effectRef>
            <a:fontRef idx="minor">
              <a:schemeClr val="tx1"/>
            </a:fontRef>
          </p:style>
        </p:cxnSp>
      </p:grpSp>
    </p:spTree>
    <p:extLst>
      <p:ext uri="{BB962C8B-B14F-4D97-AF65-F5344CB8AC3E}">
        <p14:creationId xmlns:p14="http://schemas.microsoft.com/office/powerpoint/2010/main" val="3459024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71B6D-3B99-9B64-5339-E7D4E11CA421}"/>
              </a:ext>
            </a:extLst>
          </p:cNvPr>
          <p:cNvSpPr>
            <a:spLocks noGrp="1"/>
          </p:cNvSpPr>
          <p:nvPr>
            <p:ph type="title"/>
          </p:nvPr>
        </p:nvSpPr>
        <p:spPr/>
        <p:txBody>
          <a:bodyPr/>
          <a:lstStyle/>
          <a:p>
            <a:r>
              <a:rPr lang="th-TH" dirty="0"/>
              <a:t>ความสำคัญของ </a:t>
            </a:r>
            <a:r>
              <a:rPr lang="en-US" dirty="0"/>
              <a:t>A Referential Integrity Constraint</a:t>
            </a:r>
          </a:p>
        </p:txBody>
      </p:sp>
      <p:sp>
        <p:nvSpPr>
          <p:cNvPr id="5" name="Rectangle 2">
            <a:extLst>
              <a:ext uri="{FF2B5EF4-FFF2-40B4-BE49-F238E27FC236}">
                <a16:creationId xmlns:a16="http://schemas.microsoft.com/office/drawing/2014/main" id="{65ED5D0C-B1B2-26E4-9179-BECF902F55CB}"/>
              </a:ext>
            </a:extLst>
          </p:cNvPr>
          <p:cNvSpPr>
            <a:spLocks noGrp="1" noChangeArrowheads="1"/>
          </p:cNvSpPr>
          <p:nvPr>
            <p:ph idx="1"/>
          </p:nvPr>
        </p:nvSpPr>
        <p:spPr bwMode="auto">
          <a:xfrm>
            <a:off x="838200" y="1739136"/>
            <a:ext cx="11485837"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panose="020B0604020202020204" pitchFamily="34" charset="0"/>
              </a:rPr>
              <a:t>Importance of Referential Integrity: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Data Accuracy and Consistency:</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highlight>
                  <a:srgbClr val="FFFF00"/>
                </a:highlight>
                <a:latin typeface="Arial" panose="020B0604020202020204" pitchFamily="34" charset="0"/>
              </a:rPr>
              <a:t>Prevents "orphan" records </a:t>
            </a:r>
            <a:r>
              <a:rPr kumimoji="0" lang="en-US" altLang="en-US" sz="1800" b="0" i="0" u="none" strike="noStrike" cap="none" normalizeH="0" baseline="0" dirty="0">
                <a:ln>
                  <a:noFill/>
                </a:ln>
                <a:solidFill>
                  <a:schemeClr val="tx1"/>
                </a:solidFill>
                <a:effectLst/>
                <a:latin typeface="Arial" panose="020B0604020202020204" pitchFamily="34" charset="0"/>
              </a:rPr>
              <a:t>(e.g., an order referencing a non-existent customer).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Ensures relationships between tables remain logical and intact.</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1800" b="1" i="0" u="none" strike="noStrike" cap="none" normalizeH="0" baseline="0" dirty="0">
                <a:ln>
                  <a:noFill/>
                </a:ln>
                <a:solidFill>
                  <a:schemeClr val="tx1"/>
                </a:solidFill>
                <a:effectLst/>
                <a:latin typeface="Arial" panose="020B0604020202020204" pitchFamily="34" charset="0"/>
              </a:rPr>
              <a:t>Error Prevention:</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Avoids accidental deletion or updates that could break data relationships.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Most databases restrict deletion of referenced rows unless specifically instructed (e.g., with </a:t>
            </a:r>
            <a:r>
              <a:rPr kumimoji="0" lang="en-US" altLang="en-US" sz="1000" b="0" i="0" u="none" strike="noStrike" cap="none" normalizeH="0" baseline="0" dirty="0">
                <a:ln>
                  <a:noFill/>
                </a:ln>
                <a:solidFill>
                  <a:schemeClr val="tx1"/>
                </a:solidFill>
                <a:effectLst/>
                <a:latin typeface="Arial Unicode MS"/>
              </a:rPr>
              <a:t>ON DELETE CASCADE</a:t>
            </a:r>
            <a:r>
              <a:rPr kumimoji="0" lang="en-US" altLang="en-US" sz="600" b="0" i="0" u="none" strike="noStrike" cap="none" normalizeH="0" baseline="0" dirty="0">
                <a:ln>
                  <a:noFill/>
                </a:ln>
                <a:solidFill>
                  <a:schemeClr val="tx1"/>
                </a:solidFill>
                <a:effectLst/>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800" b="1" i="0" u="none" strike="noStrike" cap="none" normalizeH="0" baseline="0" dirty="0">
                <a:ln>
                  <a:noFill/>
                </a:ln>
                <a:solidFill>
                  <a:schemeClr val="tx1"/>
                </a:solidFill>
                <a:effectLst/>
                <a:latin typeface="Arial" panose="020B0604020202020204" pitchFamily="34" charset="0"/>
              </a:rPr>
              <a:t>Data Quality Enforcement:</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Validates input and maintains trust in the data used for analysis and reporting.</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1800" b="1" i="0" u="none" strike="noStrike" cap="none" normalizeH="0" baseline="0" dirty="0">
                <a:ln>
                  <a:noFill/>
                </a:ln>
                <a:solidFill>
                  <a:schemeClr val="tx1"/>
                </a:solidFill>
                <a:effectLst/>
                <a:latin typeface="Arial" panose="020B0604020202020204" pitchFamily="34" charset="0"/>
              </a:rPr>
              <a:t>Simplified Maintenance:</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Easier to manage and update data when referential rules are clearly enforced.</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Enables safe restructuring or normalization of data.</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en-US" altLang="en-US" sz="1800" b="1" i="0" u="none" strike="noStrike" cap="none" normalizeH="0" baseline="0" dirty="0">
                <a:ln>
                  <a:noFill/>
                </a:ln>
                <a:solidFill>
                  <a:schemeClr val="tx1"/>
                </a:solidFill>
                <a:effectLst/>
                <a:latin typeface="Arial" panose="020B0604020202020204" pitchFamily="34" charset="0"/>
              </a:rPr>
              <a:t>Supports Business Rules: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Reflects real-world relationships (e.g., every invoice must belong to a valid customer).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85442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F9FF4-79A0-E2DC-9A4D-1D60A00E073A}"/>
              </a:ext>
            </a:extLst>
          </p:cNvPr>
          <p:cNvSpPr>
            <a:spLocks noGrp="1"/>
          </p:cNvSpPr>
          <p:nvPr>
            <p:ph type="title"/>
          </p:nvPr>
        </p:nvSpPr>
        <p:spPr/>
        <p:txBody>
          <a:bodyPr/>
          <a:lstStyle/>
          <a:p>
            <a:r>
              <a:rPr lang="th-TH" dirty="0"/>
              <a:t>การเกิด </a:t>
            </a:r>
            <a:r>
              <a:rPr lang="en-US" dirty="0"/>
              <a:t>"orphan" records </a:t>
            </a:r>
          </a:p>
        </p:txBody>
      </p:sp>
      <p:graphicFrame>
        <p:nvGraphicFramePr>
          <p:cNvPr id="4" name="Content Placeholder 3">
            <a:extLst>
              <a:ext uri="{FF2B5EF4-FFF2-40B4-BE49-F238E27FC236}">
                <a16:creationId xmlns:a16="http://schemas.microsoft.com/office/drawing/2014/main" id="{CCE61223-C83F-894E-26D5-D1FC8F6B6856}"/>
              </a:ext>
            </a:extLst>
          </p:cNvPr>
          <p:cNvGraphicFramePr>
            <a:graphicFrameLocks noGrp="1"/>
          </p:cNvGraphicFramePr>
          <p:nvPr>
            <p:ph idx="1"/>
          </p:nvPr>
        </p:nvGraphicFramePr>
        <p:xfrm>
          <a:off x="2775155" y="2120592"/>
          <a:ext cx="1924665" cy="1483360"/>
        </p:xfrm>
        <a:graphic>
          <a:graphicData uri="http://schemas.openxmlformats.org/drawingml/2006/table">
            <a:tbl>
              <a:tblPr firstRow="1" bandRow="1">
                <a:tableStyleId>{5C22544A-7EE6-4342-B048-85BDC9FD1C3A}</a:tableStyleId>
              </a:tblPr>
              <a:tblGrid>
                <a:gridCol w="852948">
                  <a:extLst>
                    <a:ext uri="{9D8B030D-6E8A-4147-A177-3AD203B41FA5}">
                      <a16:colId xmlns:a16="http://schemas.microsoft.com/office/drawing/2014/main" val="3886702437"/>
                    </a:ext>
                  </a:extLst>
                </a:gridCol>
                <a:gridCol w="1071717">
                  <a:extLst>
                    <a:ext uri="{9D8B030D-6E8A-4147-A177-3AD203B41FA5}">
                      <a16:colId xmlns:a16="http://schemas.microsoft.com/office/drawing/2014/main" val="658166646"/>
                    </a:ext>
                  </a:extLst>
                </a:gridCol>
              </a:tblGrid>
              <a:tr h="370840">
                <a:tc gridSpan="2">
                  <a:txBody>
                    <a:bodyPr/>
                    <a:lstStyle/>
                    <a:p>
                      <a:r>
                        <a:rPr lang="en-US" dirty="0"/>
                        <a:t>Employee</a:t>
                      </a:r>
                    </a:p>
                  </a:txBody>
                  <a:tcPr/>
                </a:tc>
                <a:tc hMerge="1">
                  <a:txBody>
                    <a:bodyPr/>
                    <a:lstStyle/>
                    <a:p>
                      <a:endParaRPr lang="en-US" dirty="0"/>
                    </a:p>
                  </a:txBody>
                  <a:tcPr/>
                </a:tc>
                <a:extLst>
                  <a:ext uri="{0D108BD9-81ED-4DB2-BD59-A6C34878D82A}">
                    <a16:rowId xmlns:a16="http://schemas.microsoft.com/office/drawing/2014/main" val="2577713242"/>
                  </a:ext>
                </a:extLst>
              </a:tr>
              <a:tr h="370840">
                <a:tc>
                  <a:txBody>
                    <a:bodyPr/>
                    <a:lstStyle/>
                    <a:p>
                      <a:r>
                        <a:rPr lang="en-US" dirty="0" err="1"/>
                        <a:t>EmpID</a:t>
                      </a:r>
                      <a:endParaRPr lang="en-US" dirty="0"/>
                    </a:p>
                  </a:txBody>
                  <a:tcPr/>
                </a:tc>
                <a:tc>
                  <a:txBody>
                    <a:bodyPr/>
                    <a:lstStyle/>
                    <a:p>
                      <a:r>
                        <a:rPr lang="en-US" dirty="0" err="1"/>
                        <a:t>DeptID</a:t>
                      </a:r>
                      <a:endParaRPr lang="en-US" dirty="0"/>
                    </a:p>
                  </a:txBody>
                  <a:tcPr/>
                </a:tc>
                <a:extLst>
                  <a:ext uri="{0D108BD9-81ED-4DB2-BD59-A6C34878D82A}">
                    <a16:rowId xmlns:a16="http://schemas.microsoft.com/office/drawing/2014/main" val="3562422937"/>
                  </a:ext>
                </a:extLst>
              </a:tr>
              <a:tr h="370840">
                <a:tc>
                  <a:txBody>
                    <a:bodyPr/>
                    <a:lstStyle/>
                    <a:p>
                      <a:r>
                        <a:rPr lang="en-US" dirty="0"/>
                        <a:t>00001</a:t>
                      </a:r>
                    </a:p>
                  </a:txBody>
                  <a:tcPr/>
                </a:tc>
                <a:tc>
                  <a:txBody>
                    <a:bodyPr/>
                    <a:lstStyle/>
                    <a:p>
                      <a:r>
                        <a:rPr lang="en-US" dirty="0"/>
                        <a:t>01</a:t>
                      </a:r>
                    </a:p>
                  </a:txBody>
                  <a:tcPr/>
                </a:tc>
                <a:extLst>
                  <a:ext uri="{0D108BD9-81ED-4DB2-BD59-A6C34878D82A}">
                    <a16:rowId xmlns:a16="http://schemas.microsoft.com/office/drawing/2014/main" val="3521182458"/>
                  </a:ext>
                </a:extLst>
              </a:tr>
              <a:tr h="370840">
                <a:tc>
                  <a:txBody>
                    <a:bodyPr/>
                    <a:lstStyle/>
                    <a:p>
                      <a:r>
                        <a:rPr lang="en-US" dirty="0"/>
                        <a:t>00002</a:t>
                      </a:r>
                    </a:p>
                  </a:txBody>
                  <a:tcPr/>
                </a:tc>
                <a:tc>
                  <a:txBody>
                    <a:bodyPr/>
                    <a:lstStyle/>
                    <a:p>
                      <a:r>
                        <a:rPr lang="en-US" dirty="0"/>
                        <a:t>99</a:t>
                      </a:r>
                    </a:p>
                  </a:txBody>
                  <a:tcPr/>
                </a:tc>
                <a:extLst>
                  <a:ext uri="{0D108BD9-81ED-4DB2-BD59-A6C34878D82A}">
                    <a16:rowId xmlns:a16="http://schemas.microsoft.com/office/drawing/2014/main" val="2014923930"/>
                  </a:ext>
                </a:extLst>
              </a:tr>
            </a:tbl>
          </a:graphicData>
        </a:graphic>
      </p:graphicFrame>
      <p:graphicFrame>
        <p:nvGraphicFramePr>
          <p:cNvPr id="5" name="Content Placeholder 3">
            <a:extLst>
              <a:ext uri="{FF2B5EF4-FFF2-40B4-BE49-F238E27FC236}">
                <a16:creationId xmlns:a16="http://schemas.microsoft.com/office/drawing/2014/main" id="{54613DF0-C4D7-0295-1674-87B622C09D8A}"/>
              </a:ext>
            </a:extLst>
          </p:cNvPr>
          <p:cNvGraphicFramePr>
            <a:graphicFrameLocks/>
          </p:cNvGraphicFramePr>
          <p:nvPr/>
        </p:nvGraphicFramePr>
        <p:xfrm>
          <a:off x="6565491" y="2120592"/>
          <a:ext cx="2381864" cy="1483360"/>
        </p:xfrm>
        <a:graphic>
          <a:graphicData uri="http://schemas.openxmlformats.org/drawingml/2006/table">
            <a:tbl>
              <a:tblPr firstRow="1" bandRow="1">
                <a:tableStyleId>{5C22544A-7EE6-4342-B048-85BDC9FD1C3A}</a:tableStyleId>
              </a:tblPr>
              <a:tblGrid>
                <a:gridCol w="944655">
                  <a:extLst>
                    <a:ext uri="{9D8B030D-6E8A-4147-A177-3AD203B41FA5}">
                      <a16:colId xmlns:a16="http://schemas.microsoft.com/office/drawing/2014/main" val="3886702437"/>
                    </a:ext>
                  </a:extLst>
                </a:gridCol>
                <a:gridCol w="1437209">
                  <a:extLst>
                    <a:ext uri="{9D8B030D-6E8A-4147-A177-3AD203B41FA5}">
                      <a16:colId xmlns:a16="http://schemas.microsoft.com/office/drawing/2014/main" val="658166646"/>
                    </a:ext>
                  </a:extLst>
                </a:gridCol>
              </a:tblGrid>
              <a:tr h="370840">
                <a:tc gridSpan="2">
                  <a:txBody>
                    <a:bodyPr/>
                    <a:lstStyle/>
                    <a:p>
                      <a:r>
                        <a:rPr lang="en-US" dirty="0"/>
                        <a:t>Department</a:t>
                      </a:r>
                    </a:p>
                  </a:txBody>
                  <a:tcPr/>
                </a:tc>
                <a:tc hMerge="1">
                  <a:txBody>
                    <a:bodyPr/>
                    <a:lstStyle/>
                    <a:p>
                      <a:endParaRPr lang="en-US" dirty="0"/>
                    </a:p>
                  </a:txBody>
                  <a:tcPr/>
                </a:tc>
                <a:extLst>
                  <a:ext uri="{0D108BD9-81ED-4DB2-BD59-A6C34878D82A}">
                    <a16:rowId xmlns:a16="http://schemas.microsoft.com/office/drawing/2014/main" val="2577713242"/>
                  </a:ext>
                </a:extLst>
              </a:tr>
              <a:tr h="370840">
                <a:tc>
                  <a:txBody>
                    <a:bodyPr/>
                    <a:lstStyle/>
                    <a:p>
                      <a:r>
                        <a:rPr lang="en-US" dirty="0" err="1"/>
                        <a:t>DeptID</a:t>
                      </a:r>
                      <a:endParaRPr lang="en-US" dirty="0"/>
                    </a:p>
                  </a:txBody>
                  <a:tcPr/>
                </a:tc>
                <a:tc>
                  <a:txBody>
                    <a:bodyPr/>
                    <a:lstStyle/>
                    <a:p>
                      <a:r>
                        <a:rPr lang="en-US" dirty="0" err="1"/>
                        <a:t>DeptName</a:t>
                      </a:r>
                      <a:endParaRPr lang="en-US" dirty="0"/>
                    </a:p>
                  </a:txBody>
                  <a:tcPr/>
                </a:tc>
                <a:extLst>
                  <a:ext uri="{0D108BD9-81ED-4DB2-BD59-A6C34878D82A}">
                    <a16:rowId xmlns:a16="http://schemas.microsoft.com/office/drawing/2014/main" val="3562422937"/>
                  </a:ext>
                </a:extLst>
              </a:tr>
              <a:tr h="370840">
                <a:tc>
                  <a:txBody>
                    <a:bodyPr/>
                    <a:lstStyle/>
                    <a:p>
                      <a:r>
                        <a:rPr lang="en-US" dirty="0"/>
                        <a:t>01</a:t>
                      </a:r>
                    </a:p>
                  </a:txBody>
                  <a:tcPr/>
                </a:tc>
                <a:tc>
                  <a:txBody>
                    <a:bodyPr/>
                    <a:lstStyle/>
                    <a:p>
                      <a:r>
                        <a:rPr lang="th-TH" dirty="0"/>
                        <a:t>ฝ่ายบุคคล</a:t>
                      </a:r>
                      <a:endParaRPr lang="en-US" dirty="0"/>
                    </a:p>
                  </a:txBody>
                  <a:tcPr/>
                </a:tc>
                <a:extLst>
                  <a:ext uri="{0D108BD9-81ED-4DB2-BD59-A6C34878D82A}">
                    <a16:rowId xmlns:a16="http://schemas.microsoft.com/office/drawing/2014/main" val="3521182458"/>
                  </a:ext>
                </a:extLst>
              </a:tr>
              <a:tr h="370840">
                <a:tc>
                  <a:txBody>
                    <a:bodyPr/>
                    <a:lstStyle/>
                    <a:p>
                      <a:r>
                        <a:rPr lang="en-US" dirty="0"/>
                        <a:t>02</a:t>
                      </a:r>
                    </a:p>
                  </a:txBody>
                  <a:tcPr/>
                </a:tc>
                <a:tc>
                  <a:txBody>
                    <a:bodyPr/>
                    <a:lstStyle/>
                    <a:p>
                      <a:r>
                        <a:rPr lang="th-TH" dirty="0"/>
                        <a:t>ฝ่ายไอที</a:t>
                      </a:r>
                      <a:endParaRPr lang="en-US" dirty="0"/>
                    </a:p>
                  </a:txBody>
                  <a:tcPr/>
                </a:tc>
                <a:extLst>
                  <a:ext uri="{0D108BD9-81ED-4DB2-BD59-A6C34878D82A}">
                    <a16:rowId xmlns:a16="http://schemas.microsoft.com/office/drawing/2014/main" val="2014923930"/>
                  </a:ext>
                </a:extLst>
              </a:tr>
            </a:tbl>
          </a:graphicData>
        </a:graphic>
      </p:graphicFrame>
      <p:sp>
        <p:nvSpPr>
          <p:cNvPr id="6" name="TextBox 5">
            <a:extLst>
              <a:ext uri="{FF2B5EF4-FFF2-40B4-BE49-F238E27FC236}">
                <a16:creationId xmlns:a16="http://schemas.microsoft.com/office/drawing/2014/main" id="{4AE8FC0B-5760-7B2F-8051-C5BC93664918}"/>
              </a:ext>
            </a:extLst>
          </p:cNvPr>
          <p:cNvSpPr txBox="1"/>
          <p:nvPr/>
        </p:nvSpPr>
        <p:spPr>
          <a:xfrm>
            <a:off x="1045274" y="4033856"/>
            <a:ext cx="9291198" cy="646331"/>
          </a:xfrm>
          <a:prstGeom prst="rect">
            <a:avLst/>
          </a:prstGeom>
          <a:noFill/>
        </p:spPr>
        <p:txBody>
          <a:bodyPr wrap="none" rtlCol="0">
            <a:spAutoFit/>
          </a:bodyPr>
          <a:lstStyle/>
          <a:p>
            <a:r>
              <a:rPr lang="en-US" dirty="0" err="1"/>
              <a:t>Employee.DeptID</a:t>
            </a:r>
            <a:r>
              <a:rPr lang="en-US" dirty="0"/>
              <a:t>=99 </a:t>
            </a:r>
            <a:r>
              <a:rPr lang="th-TH" dirty="0"/>
              <a:t>ไม่มีอยู่ใน </a:t>
            </a:r>
            <a:r>
              <a:rPr lang="en-US" dirty="0" err="1"/>
              <a:t>Department.DeptID</a:t>
            </a:r>
            <a:r>
              <a:rPr lang="en-US" dirty="0"/>
              <a:t> </a:t>
            </a:r>
            <a:r>
              <a:rPr lang="th-TH" dirty="0"/>
              <a:t>นี่คือ </a:t>
            </a:r>
            <a:r>
              <a:rPr lang="en-US" dirty="0"/>
              <a:t>Orphan Record </a:t>
            </a:r>
            <a:r>
              <a:rPr lang="th-TH" dirty="0"/>
              <a:t>และการที่ </a:t>
            </a:r>
            <a:r>
              <a:rPr lang="en-US" dirty="0"/>
              <a:t>Orphan Record</a:t>
            </a:r>
          </a:p>
          <a:p>
            <a:r>
              <a:rPr lang="th-TH" dirty="0"/>
              <a:t>เกิดขึ้นได้เพราะตอนสร้าง </a:t>
            </a:r>
            <a:r>
              <a:rPr lang="en-US" dirty="0"/>
              <a:t>Employee </a:t>
            </a:r>
            <a:r>
              <a:rPr lang="th-TH" dirty="0"/>
              <a:t>ไม่ได้มี </a:t>
            </a:r>
            <a:r>
              <a:rPr lang="en-US" dirty="0"/>
              <a:t>Foreign key </a:t>
            </a:r>
            <a:r>
              <a:rPr lang="th-TH" dirty="0"/>
              <a:t>กับตัว </a:t>
            </a:r>
            <a:r>
              <a:rPr lang="en-US" dirty="0"/>
              <a:t>Department </a:t>
            </a:r>
            <a:r>
              <a:rPr lang="th-TH" dirty="0"/>
              <a:t>เกิดขึ้น</a:t>
            </a:r>
            <a:endParaRPr lang="en-US" dirty="0"/>
          </a:p>
        </p:txBody>
      </p:sp>
      <p:sp>
        <p:nvSpPr>
          <p:cNvPr id="8" name="TextBox 7">
            <a:extLst>
              <a:ext uri="{FF2B5EF4-FFF2-40B4-BE49-F238E27FC236}">
                <a16:creationId xmlns:a16="http://schemas.microsoft.com/office/drawing/2014/main" id="{C394E413-3918-0AEB-CADE-ED50E3EB7015}"/>
              </a:ext>
            </a:extLst>
          </p:cNvPr>
          <p:cNvSpPr txBox="1"/>
          <p:nvPr/>
        </p:nvSpPr>
        <p:spPr>
          <a:xfrm>
            <a:off x="838200" y="1536308"/>
            <a:ext cx="6096000" cy="369332"/>
          </a:xfrm>
          <a:prstGeom prst="rect">
            <a:avLst/>
          </a:prstGeom>
          <a:noFill/>
        </p:spPr>
        <p:txBody>
          <a:bodyPr wrap="square">
            <a:spAutoFit/>
          </a:bodyPr>
          <a:lstStyle/>
          <a:p>
            <a:r>
              <a:rPr lang="en-US" dirty="0"/>
              <a:t>1. Missing Foreign Key Constraint</a:t>
            </a:r>
          </a:p>
        </p:txBody>
      </p:sp>
    </p:spTree>
    <p:extLst>
      <p:ext uri="{BB962C8B-B14F-4D97-AF65-F5344CB8AC3E}">
        <p14:creationId xmlns:p14="http://schemas.microsoft.com/office/powerpoint/2010/main" val="3704072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FF6FA-42BB-129C-964B-2DC1613CF9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7C4FB-1C6F-6EF6-FABA-28A19B347F89}"/>
              </a:ext>
            </a:extLst>
          </p:cNvPr>
          <p:cNvSpPr>
            <a:spLocks noGrp="1"/>
          </p:cNvSpPr>
          <p:nvPr>
            <p:ph type="title"/>
          </p:nvPr>
        </p:nvSpPr>
        <p:spPr/>
        <p:txBody>
          <a:bodyPr/>
          <a:lstStyle/>
          <a:p>
            <a:r>
              <a:rPr lang="th-TH" dirty="0"/>
              <a:t>การเกิด </a:t>
            </a:r>
            <a:r>
              <a:rPr lang="en-US" dirty="0"/>
              <a:t>"orphan" records </a:t>
            </a:r>
          </a:p>
        </p:txBody>
      </p:sp>
      <p:graphicFrame>
        <p:nvGraphicFramePr>
          <p:cNvPr id="4" name="Content Placeholder 3">
            <a:extLst>
              <a:ext uri="{FF2B5EF4-FFF2-40B4-BE49-F238E27FC236}">
                <a16:creationId xmlns:a16="http://schemas.microsoft.com/office/drawing/2014/main" id="{0B5504AE-3637-2CB2-0753-6D9861FBD5E6}"/>
              </a:ext>
            </a:extLst>
          </p:cNvPr>
          <p:cNvGraphicFramePr>
            <a:graphicFrameLocks noGrp="1"/>
          </p:cNvGraphicFramePr>
          <p:nvPr>
            <p:ph idx="1"/>
          </p:nvPr>
        </p:nvGraphicFramePr>
        <p:xfrm>
          <a:off x="2775155" y="2120592"/>
          <a:ext cx="1924665" cy="1483360"/>
        </p:xfrm>
        <a:graphic>
          <a:graphicData uri="http://schemas.openxmlformats.org/drawingml/2006/table">
            <a:tbl>
              <a:tblPr firstRow="1" bandRow="1">
                <a:tableStyleId>{5C22544A-7EE6-4342-B048-85BDC9FD1C3A}</a:tableStyleId>
              </a:tblPr>
              <a:tblGrid>
                <a:gridCol w="852948">
                  <a:extLst>
                    <a:ext uri="{9D8B030D-6E8A-4147-A177-3AD203B41FA5}">
                      <a16:colId xmlns:a16="http://schemas.microsoft.com/office/drawing/2014/main" val="3886702437"/>
                    </a:ext>
                  </a:extLst>
                </a:gridCol>
                <a:gridCol w="1071717">
                  <a:extLst>
                    <a:ext uri="{9D8B030D-6E8A-4147-A177-3AD203B41FA5}">
                      <a16:colId xmlns:a16="http://schemas.microsoft.com/office/drawing/2014/main" val="658166646"/>
                    </a:ext>
                  </a:extLst>
                </a:gridCol>
              </a:tblGrid>
              <a:tr h="370840">
                <a:tc gridSpan="2">
                  <a:txBody>
                    <a:bodyPr/>
                    <a:lstStyle/>
                    <a:p>
                      <a:r>
                        <a:rPr lang="en-US" dirty="0"/>
                        <a:t>Employee</a:t>
                      </a:r>
                    </a:p>
                  </a:txBody>
                  <a:tcPr/>
                </a:tc>
                <a:tc hMerge="1">
                  <a:txBody>
                    <a:bodyPr/>
                    <a:lstStyle/>
                    <a:p>
                      <a:endParaRPr lang="en-US" dirty="0"/>
                    </a:p>
                  </a:txBody>
                  <a:tcPr/>
                </a:tc>
                <a:extLst>
                  <a:ext uri="{0D108BD9-81ED-4DB2-BD59-A6C34878D82A}">
                    <a16:rowId xmlns:a16="http://schemas.microsoft.com/office/drawing/2014/main" val="2577713242"/>
                  </a:ext>
                </a:extLst>
              </a:tr>
              <a:tr h="370840">
                <a:tc>
                  <a:txBody>
                    <a:bodyPr/>
                    <a:lstStyle/>
                    <a:p>
                      <a:r>
                        <a:rPr lang="en-US" dirty="0" err="1"/>
                        <a:t>EmpID</a:t>
                      </a:r>
                      <a:endParaRPr lang="en-US" dirty="0"/>
                    </a:p>
                  </a:txBody>
                  <a:tcPr/>
                </a:tc>
                <a:tc>
                  <a:txBody>
                    <a:bodyPr/>
                    <a:lstStyle/>
                    <a:p>
                      <a:r>
                        <a:rPr lang="en-US" dirty="0" err="1"/>
                        <a:t>DeptID</a:t>
                      </a:r>
                      <a:endParaRPr lang="en-US" dirty="0"/>
                    </a:p>
                  </a:txBody>
                  <a:tcPr/>
                </a:tc>
                <a:extLst>
                  <a:ext uri="{0D108BD9-81ED-4DB2-BD59-A6C34878D82A}">
                    <a16:rowId xmlns:a16="http://schemas.microsoft.com/office/drawing/2014/main" val="3562422937"/>
                  </a:ext>
                </a:extLst>
              </a:tr>
              <a:tr h="370840">
                <a:tc>
                  <a:txBody>
                    <a:bodyPr/>
                    <a:lstStyle/>
                    <a:p>
                      <a:r>
                        <a:rPr lang="en-US" dirty="0"/>
                        <a:t>00001</a:t>
                      </a:r>
                    </a:p>
                  </a:txBody>
                  <a:tcPr/>
                </a:tc>
                <a:tc>
                  <a:txBody>
                    <a:bodyPr/>
                    <a:lstStyle/>
                    <a:p>
                      <a:r>
                        <a:rPr lang="en-US" dirty="0"/>
                        <a:t>01</a:t>
                      </a:r>
                    </a:p>
                  </a:txBody>
                  <a:tcPr/>
                </a:tc>
                <a:extLst>
                  <a:ext uri="{0D108BD9-81ED-4DB2-BD59-A6C34878D82A}">
                    <a16:rowId xmlns:a16="http://schemas.microsoft.com/office/drawing/2014/main" val="3521182458"/>
                  </a:ext>
                </a:extLst>
              </a:tr>
              <a:tr h="370840">
                <a:tc>
                  <a:txBody>
                    <a:bodyPr/>
                    <a:lstStyle/>
                    <a:p>
                      <a:r>
                        <a:rPr lang="en-US" dirty="0"/>
                        <a:t>00002</a:t>
                      </a:r>
                    </a:p>
                  </a:txBody>
                  <a:tcPr/>
                </a:tc>
                <a:tc>
                  <a:txBody>
                    <a:bodyPr/>
                    <a:lstStyle/>
                    <a:p>
                      <a:r>
                        <a:rPr lang="en-US" dirty="0"/>
                        <a:t>02</a:t>
                      </a:r>
                    </a:p>
                  </a:txBody>
                  <a:tcPr/>
                </a:tc>
                <a:extLst>
                  <a:ext uri="{0D108BD9-81ED-4DB2-BD59-A6C34878D82A}">
                    <a16:rowId xmlns:a16="http://schemas.microsoft.com/office/drawing/2014/main" val="2014923930"/>
                  </a:ext>
                </a:extLst>
              </a:tr>
            </a:tbl>
          </a:graphicData>
        </a:graphic>
      </p:graphicFrame>
      <p:graphicFrame>
        <p:nvGraphicFramePr>
          <p:cNvPr id="5" name="Content Placeholder 3">
            <a:extLst>
              <a:ext uri="{FF2B5EF4-FFF2-40B4-BE49-F238E27FC236}">
                <a16:creationId xmlns:a16="http://schemas.microsoft.com/office/drawing/2014/main" id="{304BCE67-668C-66EB-6046-826CA8A76A2E}"/>
              </a:ext>
            </a:extLst>
          </p:cNvPr>
          <p:cNvGraphicFramePr>
            <a:graphicFrameLocks/>
          </p:cNvGraphicFramePr>
          <p:nvPr/>
        </p:nvGraphicFramePr>
        <p:xfrm>
          <a:off x="6565491" y="2120592"/>
          <a:ext cx="2381864" cy="1483360"/>
        </p:xfrm>
        <a:graphic>
          <a:graphicData uri="http://schemas.openxmlformats.org/drawingml/2006/table">
            <a:tbl>
              <a:tblPr firstRow="1" bandRow="1">
                <a:tableStyleId>{5C22544A-7EE6-4342-B048-85BDC9FD1C3A}</a:tableStyleId>
              </a:tblPr>
              <a:tblGrid>
                <a:gridCol w="944655">
                  <a:extLst>
                    <a:ext uri="{9D8B030D-6E8A-4147-A177-3AD203B41FA5}">
                      <a16:colId xmlns:a16="http://schemas.microsoft.com/office/drawing/2014/main" val="3886702437"/>
                    </a:ext>
                  </a:extLst>
                </a:gridCol>
                <a:gridCol w="1437209">
                  <a:extLst>
                    <a:ext uri="{9D8B030D-6E8A-4147-A177-3AD203B41FA5}">
                      <a16:colId xmlns:a16="http://schemas.microsoft.com/office/drawing/2014/main" val="658166646"/>
                    </a:ext>
                  </a:extLst>
                </a:gridCol>
              </a:tblGrid>
              <a:tr h="370840">
                <a:tc gridSpan="2">
                  <a:txBody>
                    <a:bodyPr/>
                    <a:lstStyle/>
                    <a:p>
                      <a:r>
                        <a:rPr lang="en-US" dirty="0"/>
                        <a:t>Department</a:t>
                      </a:r>
                    </a:p>
                  </a:txBody>
                  <a:tcPr/>
                </a:tc>
                <a:tc hMerge="1">
                  <a:txBody>
                    <a:bodyPr/>
                    <a:lstStyle/>
                    <a:p>
                      <a:endParaRPr lang="en-US" dirty="0"/>
                    </a:p>
                  </a:txBody>
                  <a:tcPr/>
                </a:tc>
                <a:extLst>
                  <a:ext uri="{0D108BD9-81ED-4DB2-BD59-A6C34878D82A}">
                    <a16:rowId xmlns:a16="http://schemas.microsoft.com/office/drawing/2014/main" val="2577713242"/>
                  </a:ext>
                </a:extLst>
              </a:tr>
              <a:tr h="370840">
                <a:tc>
                  <a:txBody>
                    <a:bodyPr/>
                    <a:lstStyle/>
                    <a:p>
                      <a:r>
                        <a:rPr lang="en-US" dirty="0" err="1"/>
                        <a:t>DeptID</a:t>
                      </a:r>
                      <a:endParaRPr lang="en-US" dirty="0"/>
                    </a:p>
                  </a:txBody>
                  <a:tcPr/>
                </a:tc>
                <a:tc>
                  <a:txBody>
                    <a:bodyPr/>
                    <a:lstStyle/>
                    <a:p>
                      <a:r>
                        <a:rPr lang="en-US" dirty="0" err="1"/>
                        <a:t>DeptName</a:t>
                      </a:r>
                      <a:endParaRPr lang="en-US" dirty="0"/>
                    </a:p>
                  </a:txBody>
                  <a:tcPr/>
                </a:tc>
                <a:extLst>
                  <a:ext uri="{0D108BD9-81ED-4DB2-BD59-A6C34878D82A}">
                    <a16:rowId xmlns:a16="http://schemas.microsoft.com/office/drawing/2014/main" val="3562422937"/>
                  </a:ext>
                </a:extLst>
              </a:tr>
              <a:tr h="370840">
                <a:tc>
                  <a:txBody>
                    <a:bodyPr/>
                    <a:lstStyle/>
                    <a:p>
                      <a:r>
                        <a:rPr lang="en-US" dirty="0"/>
                        <a:t>01</a:t>
                      </a:r>
                    </a:p>
                  </a:txBody>
                  <a:tcPr/>
                </a:tc>
                <a:tc>
                  <a:txBody>
                    <a:bodyPr/>
                    <a:lstStyle/>
                    <a:p>
                      <a:r>
                        <a:rPr lang="th-TH" dirty="0"/>
                        <a:t>ฝ่ายบุคคล</a:t>
                      </a:r>
                      <a:endParaRPr lang="en-US" dirty="0"/>
                    </a:p>
                  </a:txBody>
                  <a:tcPr/>
                </a:tc>
                <a:extLst>
                  <a:ext uri="{0D108BD9-81ED-4DB2-BD59-A6C34878D82A}">
                    <a16:rowId xmlns:a16="http://schemas.microsoft.com/office/drawing/2014/main" val="3521182458"/>
                  </a:ext>
                </a:extLst>
              </a:tr>
              <a:tr h="370840">
                <a:tc>
                  <a:txBody>
                    <a:bodyPr/>
                    <a:lstStyle/>
                    <a:p>
                      <a:r>
                        <a:rPr lang="en-US" strike="sngStrike" dirty="0">
                          <a:solidFill>
                            <a:srgbClr val="FF0000"/>
                          </a:solidFill>
                        </a:rPr>
                        <a:t>02</a:t>
                      </a:r>
                    </a:p>
                  </a:txBody>
                  <a:tcPr/>
                </a:tc>
                <a:tc>
                  <a:txBody>
                    <a:bodyPr/>
                    <a:lstStyle/>
                    <a:p>
                      <a:r>
                        <a:rPr lang="th-TH" strike="sngStrike" dirty="0">
                          <a:solidFill>
                            <a:srgbClr val="FF0000"/>
                          </a:solidFill>
                        </a:rPr>
                        <a:t>ฝ่ายไอที</a:t>
                      </a:r>
                      <a:endParaRPr lang="en-US" strike="sngStrike" dirty="0">
                        <a:solidFill>
                          <a:srgbClr val="FF0000"/>
                        </a:solidFill>
                      </a:endParaRPr>
                    </a:p>
                  </a:txBody>
                  <a:tcPr/>
                </a:tc>
                <a:extLst>
                  <a:ext uri="{0D108BD9-81ED-4DB2-BD59-A6C34878D82A}">
                    <a16:rowId xmlns:a16="http://schemas.microsoft.com/office/drawing/2014/main" val="2014923930"/>
                  </a:ext>
                </a:extLst>
              </a:tr>
            </a:tbl>
          </a:graphicData>
        </a:graphic>
      </p:graphicFrame>
      <p:sp>
        <p:nvSpPr>
          <p:cNvPr id="6" name="TextBox 5">
            <a:extLst>
              <a:ext uri="{FF2B5EF4-FFF2-40B4-BE49-F238E27FC236}">
                <a16:creationId xmlns:a16="http://schemas.microsoft.com/office/drawing/2014/main" id="{F0A870C1-C0BE-28E6-E455-BE6356C534EB}"/>
              </a:ext>
            </a:extLst>
          </p:cNvPr>
          <p:cNvSpPr txBox="1"/>
          <p:nvPr/>
        </p:nvSpPr>
        <p:spPr>
          <a:xfrm>
            <a:off x="1045274" y="4033856"/>
            <a:ext cx="6401176" cy="369332"/>
          </a:xfrm>
          <a:prstGeom prst="rect">
            <a:avLst/>
          </a:prstGeom>
          <a:noFill/>
        </p:spPr>
        <p:txBody>
          <a:bodyPr wrap="none" rtlCol="0">
            <a:spAutoFit/>
          </a:bodyPr>
          <a:lstStyle/>
          <a:p>
            <a:r>
              <a:rPr lang="th-TH" dirty="0"/>
              <a:t>ถ้าลบ </a:t>
            </a:r>
            <a:r>
              <a:rPr lang="en-US" dirty="0" err="1"/>
              <a:t>DeptID</a:t>
            </a:r>
            <a:r>
              <a:rPr lang="en-US" dirty="0"/>
              <a:t> = 02 </a:t>
            </a:r>
            <a:r>
              <a:rPr lang="th-TH" dirty="0"/>
              <a:t>ออกไปจาก </a:t>
            </a:r>
            <a:r>
              <a:rPr lang="en-US" dirty="0"/>
              <a:t>Department </a:t>
            </a:r>
            <a:r>
              <a:rPr lang="th-TH" dirty="0"/>
              <a:t>ก็จะทำให้เกิด </a:t>
            </a:r>
            <a:r>
              <a:rPr lang="en-US" dirty="0"/>
              <a:t>Orphan Record </a:t>
            </a:r>
            <a:r>
              <a:rPr lang="th-TH" dirty="0"/>
              <a:t>ได้</a:t>
            </a:r>
            <a:r>
              <a:rPr lang="en-US" dirty="0"/>
              <a:t> </a:t>
            </a:r>
          </a:p>
        </p:txBody>
      </p:sp>
      <p:sp>
        <p:nvSpPr>
          <p:cNvPr id="8" name="TextBox 7">
            <a:extLst>
              <a:ext uri="{FF2B5EF4-FFF2-40B4-BE49-F238E27FC236}">
                <a16:creationId xmlns:a16="http://schemas.microsoft.com/office/drawing/2014/main" id="{348580F8-6530-60BC-8738-7A33BE23961B}"/>
              </a:ext>
            </a:extLst>
          </p:cNvPr>
          <p:cNvSpPr txBox="1"/>
          <p:nvPr/>
        </p:nvSpPr>
        <p:spPr>
          <a:xfrm>
            <a:off x="838200" y="1536308"/>
            <a:ext cx="6096000" cy="369332"/>
          </a:xfrm>
          <a:prstGeom prst="rect">
            <a:avLst/>
          </a:prstGeom>
          <a:noFill/>
        </p:spPr>
        <p:txBody>
          <a:bodyPr wrap="square">
            <a:spAutoFit/>
          </a:bodyPr>
          <a:lstStyle/>
          <a:p>
            <a:r>
              <a:rPr lang="en-US" dirty="0"/>
              <a:t>2. </a:t>
            </a:r>
            <a:r>
              <a:rPr lang="en-US" b="1" dirty="0"/>
              <a:t>Manual Deletion of Parent Row</a:t>
            </a:r>
            <a:endParaRPr lang="en-US" dirty="0"/>
          </a:p>
        </p:txBody>
      </p:sp>
      <p:sp>
        <p:nvSpPr>
          <p:cNvPr id="9" name="TextBox 8">
            <a:extLst>
              <a:ext uri="{FF2B5EF4-FFF2-40B4-BE49-F238E27FC236}">
                <a16:creationId xmlns:a16="http://schemas.microsoft.com/office/drawing/2014/main" id="{2BD2336A-D46B-19B0-306F-9FF1892CC87F}"/>
              </a:ext>
            </a:extLst>
          </p:cNvPr>
          <p:cNvSpPr txBox="1"/>
          <p:nvPr/>
        </p:nvSpPr>
        <p:spPr>
          <a:xfrm>
            <a:off x="1045274" y="4833092"/>
            <a:ext cx="7895305" cy="369332"/>
          </a:xfrm>
          <a:prstGeom prst="rect">
            <a:avLst/>
          </a:prstGeom>
          <a:noFill/>
        </p:spPr>
        <p:txBody>
          <a:bodyPr wrap="square">
            <a:spAutoFit/>
          </a:bodyPr>
          <a:lstStyle/>
          <a:p>
            <a:r>
              <a:rPr lang="th-TH" b="1" dirty="0">
                <a:solidFill>
                  <a:schemeClr val="tx2">
                    <a:lumMod val="75000"/>
                    <a:lumOff val="25000"/>
                  </a:schemeClr>
                </a:solidFill>
              </a:rPr>
              <a:t>ตัวอย่าง </a:t>
            </a:r>
            <a:r>
              <a:rPr lang="en-US" b="1" dirty="0">
                <a:solidFill>
                  <a:schemeClr val="tx2">
                    <a:lumMod val="75000"/>
                    <a:lumOff val="25000"/>
                  </a:schemeClr>
                </a:solidFill>
              </a:rPr>
              <a:t>: https://www.db-fiddle.com/f/sFWeWm4yvG4mt3aS6P2PkA/0</a:t>
            </a:r>
          </a:p>
        </p:txBody>
      </p:sp>
    </p:spTree>
    <p:extLst>
      <p:ext uri="{BB962C8B-B14F-4D97-AF65-F5344CB8AC3E}">
        <p14:creationId xmlns:p14="http://schemas.microsoft.com/office/powerpoint/2010/main" val="1484948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E5F2E-CC71-EB65-1AB6-4B1B2A9B3308}"/>
              </a:ext>
            </a:extLst>
          </p:cNvPr>
          <p:cNvSpPr>
            <a:spLocks noGrp="1"/>
          </p:cNvSpPr>
          <p:nvPr>
            <p:ph type="title"/>
          </p:nvPr>
        </p:nvSpPr>
        <p:spPr/>
        <p:txBody>
          <a:bodyPr/>
          <a:lstStyle/>
          <a:p>
            <a:r>
              <a:rPr lang="th-TH" dirty="0"/>
              <a:t>วิธีการป้องกัน</a:t>
            </a:r>
            <a:endParaRPr lang="en-US" dirty="0"/>
          </a:p>
        </p:txBody>
      </p:sp>
      <p:sp>
        <p:nvSpPr>
          <p:cNvPr id="3" name="Content Placeholder 2">
            <a:extLst>
              <a:ext uri="{FF2B5EF4-FFF2-40B4-BE49-F238E27FC236}">
                <a16:creationId xmlns:a16="http://schemas.microsoft.com/office/drawing/2014/main" id="{4981C693-6DE8-6D91-10D2-7174134234FA}"/>
              </a:ext>
            </a:extLst>
          </p:cNvPr>
          <p:cNvSpPr>
            <a:spLocks noGrp="1"/>
          </p:cNvSpPr>
          <p:nvPr>
            <p:ph idx="1"/>
          </p:nvPr>
        </p:nvSpPr>
        <p:spPr/>
        <p:txBody>
          <a:bodyPr>
            <a:normAutofit fontScale="62500" lnSpcReduction="20000"/>
          </a:bodyPr>
          <a:lstStyle/>
          <a:p>
            <a:r>
              <a:rPr lang="th-TH" sz="5100" dirty="0"/>
              <a:t>เพิ่ม </a:t>
            </a:r>
            <a:r>
              <a:rPr lang="en-US" sz="5100" dirty="0"/>
              <a:t>Foreign Key </a:t>
            </a:r>
            <a:r>
              <a:rPr lang="th-TH" sz="5100" dirty="0"/>
              <a:t>เข้าไป</a:t>
            </a:r>
            <a:endParaRPr lang="en-US" sz="5100" dirty="0"/>
          </a:p>
          <a:p>
            <a:pPr marL="0" indent="0">
              <a:buNone/>
            </a:pPr>
            <a:endParaRPr lang="en-US" dirty="0"/>
          </a:p>
          <a:p>
            <a:pPr marL="0" indent="0">
              <a:buNone/>
            </a:pPr>
            <a:r>
              <a:rPr lang="en-US" dirty="0"/>
              <a:t>CREATE TABLE department (</a:t>
            </a:r>
          </a:p>
          <a:p>
            <a:pPr marL="0" indent="0">
              <a:buNone/>
            </a:pPr>
            <a:r>
              <a:rPr lang="en-US" dirty="0"/>
              <a:t>  </a:t>
            </a:r>
            <a:r>
              <a:rPr lang="en-US" dirty="0" err="1"/>
              <a:t>dept_id</a:t>
            </a:r>
            <a:r>
              <a:rPr lang="en-US" dirty="0"/>
              <a:t>   INT GENERATED ALWAYS AS IDENTITY PRIMARY KEY,</a:t>
            </a:r>
          </a:p>
          <a:p>
            <a:pPr marL="0" indent="0">
              <a:buNone/>
            </a:pPr>
            <a:r>
              <a:rPr lang="en-US" dirty="0"/>
              <a:t>  </a:t>
            </a:r>
            <a:r>
              <a:rPr lang="en-US" dirty="0" err="1"/>
              <a:t>dept_name</a:t>
            </a:r>
            <a:r>
              <a:rPr lang="en-US" dirty="0"/>
              <a:t> VARCHAR(100) NOT NULL</a:t>
            </a:r>
          </a:p>
          <a:p>
            <a:pPr marL="0" indent="0">
              <a:buNone/>
            </a:pPr>
            <a:r>
              <a:rPr lang="en-US" dirty="0"/>
              <a:t>);</a:t>
            </a:r>
          </a:p>
          <a:p>
            <a:pPr marL="0" indent="0">
              <a:buNone/>
            </a:pPr>
            <a:endParaRPr lang="en-US" dirty="0"/>
          </a:p>
          <a:p>
            <a:pPr marL="0" indent="0">
              <a:buNone/>
            </a:pPr>
            <a:r>
              <a:rPr lang="en-US" dirty="0"/>
              <a:t>CREATE TABLE employee (</a:t>
            </a:r>
          </a:p>
          <a:p>
            <a:pPr marL="0" indent="0">
              <a:buNone/>
            </a:pPr>
            <a:r>
              <a:rPr lang="en-US" dirty="0"/>
              <a:t>  </a:t>
            </a:r>
            <a:r>
              <a:rPr lang="en-US" dirty="0" err="1"/>
              <a:t>emp_id</a:t>
            </a:r>
            <a:r>
              <a:rPr lang="en-US" dirty="0"/>
              <a:t>  INT GENERATED ALWAYS AS IDENTITY PRIMARY KEY,</a:t>
            </a:r>
          </a:p>
          <a:p>
            <a:pPr marL="0" indent="0">
              <a:buNone/>
            </a:pPr>
            <a:r>
              <a:rPr lang="en-US" dirty="0"/>
              <a:t>  </a:t>
            </a:r>
            <a:r>
              <a:rPr lang="en-US" dirty="0" err="1"/>
              <a:t>dept_id</a:t>
            </a:r>
            <a:r>
              <a:rPr lang="en-US" dirty="0"/>
              <a:t> INT,</a:t>
            </a:r>
          </a:p>
          <a:p>
            <a:pPr marL="0" indent="0">
              <a:buNone/>
            </a:pPr>
            <a:r>
              <a:rPr lang="en-US" dirty="0"/>
              <a:t>  </a:t>
            </a:r>
            <a:r>
              <a:rPr lang="en-US" dirty="0">
                <a:highlight>
                  <a:srgbClr val="FFFF00"/>
                </a:highlight>
              </a:rPr>
              <a:t>FOREIGN KEY (</a:t>
            </a:r>
            <a:r>
              <a:rPr lang="en-US" dirty="0" err="1">
                <a:highlight>
                  <a:srgbClr val="FFFF00"/>
                </a:highlight>
              </a:rPr>
              <a:t>dept_id</a:t>
            </a:r>
            <a:r>
              <a:rPr lang="en-US" dirty="0">
                <a:highlight>
                  <a:srgbClr val="FFFF00"/>
                </a:highlight>
              </a:rPr>
              <a:t>) REFERENCES department(</a:t>
            </a:r>
            <a:r>
              <a:rPr lang="en-US" dirty="0" err="1">
                <a:highlight>
                  <a:srgbClr val="FFFF00"/>
                </a:highlight>
              </a:rPr>
              <a:t>dept_id</a:t>
            </a:r>
            <a:r>
              <a:rPr lang="en-US" dirty="0">
                <a:highlight>
                  <a:srgbClr val="FFFF00"/>
                </a:highlight>
              </a:rPr>
              <a:t>)</a:t>
            </a:r>
          </a:p>
          <a:p>
            <a:pPr marL="0" indent="0">
              <a:buNone/>
            </a:pPr>
            <a:r>
              <a:rPr lang="en-US" dirty="0"/>
              <a:t>);</a:t>
            </a:r>
          </a:p>
          <a:p>
            <a:pPr marL="0" indent="0">
              <a:buNone/>
            </a:pPr>
            <a:r>
              <a:rPr lang="en-US" dirty="0"/>
              <a:t>		</a:t>
            </a:r>
          </a:p>
          <a:p>
            <a:endParaRPr lang="en-US" dirty="0"/>
          </a:p>
        </p:txBody>
      </p:sp>
    </p:spTree>
    <p:extLst>
      <p:ext uri="{BB962C8B-B14F-4D97-AF65-F5344CB8AC3E}">
        <p14:creationId xmlns:p14="http://schemas.microsoft.com/office/powerpoint/2010/main" val="6154342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5B1E4-3FB1-539A-E173-357EDB6E5D6D}"/>
              </a:ext>
            </a:extLst>
          </p:cNvPr>
          <p:cNvSpPr>
            <a:spLocks noGrp="1"/>
          </p:cNvSpPr>
          <p:nvPr>
            <p:ph type="title"/>
          </p:nvPr>
        </p:nvSpPr>
        <p:spPr/>
        <p:txBody>
          <a:bodyPr/>
          <a:lstStyle/>
          <a:p>
            <a:r>
              <a:rPr lang="th-TH" dirty="0"/>
              <a:t>กระบวนการป้องกัน</a:t>
            </a:r>
            <a:endParaRPr lang="en-US" dirty="0"/>
          </a:p>
        </p:txBody>
      </p:sp>
      <p:sp>
        <p:nvSpPr>
          <p:cNvPr id="3" name="Content Placeholder 2">
            <a:extLst>
              <a:ext uri="{FF2B5EF4-FFF2-40B4-BE49-F238E27FC236}">
                <a16:creationId xmlns:a16="http://schemas.microsoft.com/office/drawing/2014/main" id="{DF7DA30D-90BB-B39C-8574-5BA111E3AD5B}"/>
              </a:ext>
            </a:extLst>
          </p:cNvPr>
          <p:cNvSpPr>
            <a:spLocks noGrp="1"/>
          </p:cNvSpPr>
          <p:nvPr>
            <p:ph idx="1"/>
          </p:nvPr>
        </p:nvSpPr>
        <p:spPr/>
        <p:txBody>
          <a:bodyPr>
            <a:normAutofit fontScale="85000" lnSpcReduction="20000"/>
          </a:bodyPr>
          <a:lstStyle/>
          <a:p>
            <a:pPr marL="514350" indent="-514350">
              <a:buFont typeface="+mj-lt"/>
              <a:buAutoNum type="arabicPeriod"/>
              <a:defRPr/>
            </a:pPr>
            <a:r>
              <a:rPr lang="en-US" b="1" dirty="0"/>
              <a:t>NO ACTION:</a:t>
            </a:r>
            <a:r>
              <a:rPr lang="en-US" dirty="0"/>
              <a:t> This is the default action that MySQL performs. This specifies that if an update or deletes statement affects rows in foreign key tables, then the action will be denied and rolled back. </a:t>
            </a:r>
            <a:r>
              <a:rPr lang="en-US" dirty="0">
                <a:highlight>
                  <a:srgbClr val="FFFF00"/>
                </a:highlight>
              </a:rPr>
              <a:t>An error message will be raised</a:t>
            </a:r>
            <a:r>
              <a:rPr lang="en-US" dirty="0"/>
              <a:t>.</a:t>
            </a:r>
            <a:endParaRPr lang="en-US" b="1" dirty="0"/>
          </a:p>
          <a:p>
            <a:pPr marL="514350" indent="-514350">
              <a:buFont typeface="+mj-lt"/>
              <a:buAutoNum type="arabicPeriod"/>
              <a:defRPr/>
            </a:pPr>
            <a:r>
              <a:rPr lang="en-US" b="1" dirty="0"/>
              <a:t>SET NULL:</a:t>
            </a:r>
            <a:r>
              <a:rPr lang="en-US" dirty="0"/>
              <a:t> If a user tries to delete or update statement(s) that will affect rows in the foreign key table, then those values will be set to NULL when the primary key record is deleted or updated in the Primary key table. The important thing that we need to keep in mind is that the foreign key columns affected must allow NULL values.</a:t>
            </a:r>
          </a:p>
          <a:p>
            <a:pPr marL="514350" indent="-514350">
              <a:buFont typeface="+mj-lt"/>
              <a:buAutoNum type="arabicPeriod"/>
              <a:defRPr/>
            </a:pPr>
            <a:r>
              <a:rPr lang="en-US" b="1" dirty="0"/>
              <a:t>CASCADE:</a:t>
            </a:r>
            <a:r>
              <a:rPr lang="en-US" dirty="0"/>
              <a:t> If a user tries to delete the statement(s) which will affect the rows in the foreign key table, then those rows will also be deleted when the primary key record is deleted. Similarly, if an update statement affects rows in the foreign key table, then those rows will also be updated with the value from the primary key record after it has been updated.</a:t>
            </a:r>
          </a:p>
          <a:p>
            <a:endParaRPr lang="en-US" dirty="0"/>
          </a:p>
        </p:txBody>
      </p:sp>
      <p:sp>
        <p:nvSpPr>
          <p:cNvPr id="4" name="TextBox 3">
            <a:extLst>
              <a:ext uri="{FF2B5EF4-FFF2-40B4-BE49-F238E27FC236}">
                <a16:creationId xmlns:a16="http://schemas.microsoft.com/office/drawing/2014/main" id="{DE8559C4-E6DD-AF16-1D09-43A22FB8D557}"/>
              </a:ext>
            </a:extLst>
          </p:cNvPr>
          <p:cNvSpPr txBox="1"/>
          <p:nvPr/>
        </p:nvSpPr>
        <p:spPr>
          <a:xfrm>
            <a:off x="4443753" y="5988734"/>
            <a:ext cx="3304494" cy="646331"/>
          </a:xfrm>
          <a:prstGeom prst="rect">
            <a:avLst/>
          </a:prstGeom>
          <a:noFill/>
        </p:spPr>
        <p:txBody>
          <a:bodyPr wrap="none" rtlCol="0">
            <a:spAutoFit/>
          </a:bodyPr>
          <a:lstStyle/>
          <a:p>
            <a:r>
              <a:rPr lang="en-US" dirty="0">
                <a:solidFill>
                  <a:srgbClr val="FF0000"/>
                </a:solidFill>
              </a:rPr>
              <a:t>Primary key table = Parent table</a:t>
            </a:r>
          </a:p>
          <a:p>
            <a:r>
              <a:rPr lang="en-US" dirty="0">
                <a:solidFill>
                  <a:srgbClr val="FF0000"/>
                </a:solidFill>
              </a:rPr>
              <a:t>Foreign key table = Child table</a:t>
            </a:r>
          </a:p>
        </p:txBody>
      </p:sp>
    </p:spTree>
    <p:extLst>
      <p:ext uri="{BB962C8B-B14F-4D97-AF65-F5344CB8AC3E}">
        <p14:creationId xmlns:p14="http://schemas.microsoft.com/office/powerpoint/2010/main" val="2742920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ชื่อเรื่อง 1">
            <a:extLst>
              <a:ext uri="{FF2B5EF4-FFF2-40B4-BE49-F238E27FC236}">
                <a16:creationId xmlns:a16="http://schemas.microsoft.com/office/drawing/2014/main" id="{BA99AD12-2E76-4CCC-72E3-0B414D54D136}"/>
              </a:ext>
            </a:extLst>
          </p:cNvPr>
          <p:cNvSpPr>
            <a:spLocks noGrp="1" noChangeArrowheads="1"/>
          </p:cNvSpPr>
          <p:nvPr>
            <p:ph type="title"/>
          </p:nvPr>
        </p:nvSpPr>
        <p:spPr/>
        <p:txBody>
          <a:bodyPr/>
          <a:lstStyle/>
          <a:p>
            <a:pPr eaLnBrk="1" hangingPunct="1"/>
            <a:endParaRPr lang="en-US" altLang="en-US"/>
          </a:p>
        </p:txBody>
      </p:sp>
      <p:pic>
        <p:nvPicPr>
          <p:cNvPr id="45059" name="Picture 2">
            <a:extLst>
              <a:ext uri="{FF2B5EF4-FFF2-40B4-BE49-F238E27FC236}">
                <a16:creationId xmlns:a16="http://schemas.microsoft.com/office/drawing/2014/main" id="{879609CF-6348-7C1B-3A65-D0D53A6199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8800" y="381000"/>
            <a:ext cx="8301038" cy="3848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60" name="สี่เหลี่ยมผืนผ้า 4">
            <a:extLst>
              <a:ext uri="{FF2B5EF4-FFF2-40B4-BE49-F238E27FC236}">
                <a16:creationId xmlns:a16="http://schemas.microsoft.com/office/drawing/2014/main" id="{FC691E40-0EDE-7039-C54B-589202F1F2C0}"/>
              </a:ext>
            </a:extLst>
          </p:cNvPr>
          <p:cNvSpPr>
            <a:spLocks noChangeArrowheads="1"/>
          </p:cNvSpPr>
          <p:nvPr/>
        </p:nvSpPr>
        <p:spPr bwMode="auto">
          <a:xfrm>
            <a:off x="2133600" y="4495801"/>
            <a:ext cx="71628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th-TH" altLang="en-US" sz="1800" b="1" u="sng">
                <a:solidFill>
                  <a:srgbClr val="000000"/>
                </a:solidFill>
              </a:rPr>
              <a:t>กรณีลบ</a:t>
            </a:r>
          </a:p>
          <a:p>
            <a:pPr eaLnBrk="1" hangingPunct="1">
              <a:spcBef>
                <a:spcPct val="0"/>
              </a:spcBef>
              <a:buFontTx/>
              <a:buNone/>
            </a:pPr>
            <a:r>
              <a:rPr lang="th-TH" altLang="en-US" sz="1800">
                <a:solidFill>
                  <a:srgbClr val="000000"/>
                </a:solidFill>
              </a:rPr>
              <a:t>– ไม่ยอมให้มีการลบข้อมูลเกิดขึ้น </a:t>
            </a:r>
          </a:p>
          <a:p>
            <a:pPr eaLnBrk="1" hangingPunct="1">
              <a:spcBef>
                <a:spcPct val="0"/>
              </a:spcBef>
              <a:buFontTx/>
              <a:buNone/>
            </a:pPr>
            <a:r>
              <a:rPr lang="th-TH" altLang="en-US" sz="1800">
                <a:solidFill>
                  <a:srgbClr val="000000"/>
                </a:solidFill>
              </a:rPr>
              <a:t> – ลบข้อมูลทั้งใน </a:t>
            </a:r>
            <a:r>
              <a:rPr lang="en-US" altLang="en-US" sz="1800">
                <a:solidFill>
                  <a:srgbClr val="000000"/>
                </a:solidFill>
              </a:rPr>
              <a:t>Target </a:t>
            </a:r>
            <a:r>
              <a:rPr lang="th-TH" altLang="en-US" sz="1800">
                <a:solidFill>
                  <a:srgbClr val="000000"/>
                </a:solidFill>
              </a:rPr>
              <a:t>และ </a:t>
            </a:r>
            <a:r>
              <a:rPr lang="en-US" altLang="en-US" sz="1800">
                <a:solidFill>
                  <a:srgbClr val="000000"/>
                </a:solidFill>
              </a:rPr>
              <a:t>Referencing Relation </a:t>
            </a:r>
            <a:r>
              <a:rPr lang="th-TH" altLang="en-US" sz="1800">
                <a:solidFill>
                  <a:srgbClr val="000000"/>
                </a:solidFill>
              </a:rPr>
              <a:t>ที่มี </a:t>
            </a:r>
            <a:r>
              <a:rPr lang="en-US" altLang="en-US" sz="1800">
                <a:solidFill>
                  <a:srgbClr val="000000"/>
                </a:solidFill>
              </a:rPr>
              <a:t>foreign key </a:t>
            </a:r>
            <a:r>
              <a:rPr lang="th-TH" altLang="en-US" sz="1800">
                <a:solidFill>
                  <a:srgbClr val="000000"/>
                </a:solidFill>
              </a:rPr>
              <a:t>อ้างอิงอยู่ทั้งหมด</a:t>
            </a:r>
            <a:endParaRPr lang="en-US" altLang="en-US" sz="1800">
              <a:solidFill>
                <a:srgbClr val="000000"/>
              </a:solidFill>
            </a:endParaRPr>
          </a:p>
        </p:txBody>
      </p:sp>
      <p:sp>
        <p:nvSpPr>
          <p:cNvPr id="45061" name="สี่เหลี่ยมผืนผ้า 5">
            <a:extLst>
              <a:ext uri="{FF2B5EF4-FFF2-40B4-BE49-F238E27FC236}">
                <a16:creationId xmlns:a16="http://schemas.microsoft.com/office/drawing/2014/main" id="{F6CDFFB2-4F29-0680-966A-A2470B242948}"/>
              </a:ext>
            </a:extLst>
          </p:cNvPr>
          <p:cNvSpPr>
            <a:spLocks noChangeArrowheads="1"/>
          </p:cNvSpPr>
          <p:nvPr/>
        </p:nvSpPr>
        <p:spPr bwMode="auto">
          <a:xfrm>
            <a:off x="2057400" y="5562601"/>
            <a:ext cx="67818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th-TH" altLang="en-US" sz="1800" b="1" u="sng">
                <a:solidFill>
                  <a:srgbClr val="000000"/>
                </a:solidFill>
              </a:rPr>
              <a:t>กรณีแก้ไข</a:t>
            </a:r>
            <a:endParaRPr lang="en-US" altLang="en-US" sz="1800">
              <a:solidFill>
                <a:srgbClr val="000000"/>
              </a:solidFill>
            </a:endParaRPr>
          </a:p>
          <a:p>
            <a:pPr eaLnBrk="1" hangingPunct="1">
              <a:spcBef>
                <a:spcPct val="0"/>
              </a:spcBef>
              <a:buFontTx/>
              <a:buNone/>
            </a:pPr>
            <a:r>
              <a:rPr lang="en-US" altLang="en-US" sz="1800">
                <a:solidFill>
                  <a:srgbClr val="000000"/>
                </a:solidFill>
              </a:rPr>
              <a:t>-</a:t>
            </a:r>
            <a:r>
              <a:rPr lang="th-TH" altLang="en-US" sz="1800">
                <a:solidFill>
                  <a:srgbClr val="000000"/>
                </a:solidFill>
              </a:rPr>
              <a:t>แก้ไขข้อมูลทั้งใน </a:t>
            </a:r>
            <a:r>
              <a:rPr lang="en-US" altLang="en-US" sz="1800">
                <a:solidFill>
                  <a:srgbClr val="000000"/>
                </a:solidFill>
              </a:rPr>
              <a:t>Target </a:t>
            </a:r>
            <a:r>
              <a:rPr lang="th-TH" altLang="en-US" sz="1800">
                <a:solidFill>
                  <a:srgbClr val="000000"/>
                </a:solidFill>
              </a:rPr>
              <a:t>และ </a:t>
            </a:r>
            <a:r>
              <a:rPr lang="en-US" altLang="en-US" sz="1800">
                <a:solidFill>
                  <a:srgbClr val="000000"/>
                </a:solidFill>
              </a:rPr>
              <a:t>Referencing Relation </a:t>
            </a:r>
            <a:r>
              <a:rPr lang="th-TH" altLang="en-US" sz="1800">
                <a:solidFill>
                  <a:srgbClr val="000000"/>
                </a:solidFill>
              </a:rPr>
              <a:t>ที่มี </a:t>
            </a:r>
            <a:r>
              <a:rPr lang="en-US" altLang="en-US" sz="1800">
                <a:solidFill>
                  <a:srgbClr val="000000"/>
                </a:solidFill>
              </a:rPr>
              <a:t>foreign key </a:t>
            </a:r>
            <a:r>
              <a:rPr lang="th-TH" altLang="en-US" sz="1800">
                <a:solidFill>
                  <a:srgbClr val="000000"/>
                </a:solidFill>
              </a:rPr>
              <a:t>อ้างอิงอยู่ทั้งหมด</a:t>
            </a:r>
            <a:endParaRPr lang="en-US" altLang="en-US" sz="1800">
              <a:solidFill>
                <a:srgbClr val="000000"/>
              </a:solidFill>
            </a:endParaRPr>
          </a:p>
          <a:p>
            <a:pPr eaLnBrk="1" hangingPunct="1">
              <a:spcBef>
                <a:spcPct val="0"/>
              </a:spcBef>
              <a:buFontTx/>
              <a:buNone/>
            </a:pPr>
            <a:r>
              <a:rPr lang="en-US" altLang="en-US" sz="1800">
                <a:solidFill>
                  <a:srgbClr val="000000"/>
                </a:solidFill>
              </a:rPr>
              <a:t>-</a:t>
            </a:r>
            <a:r>
              <a:rPr lang="th-TH" altLang="en-US" sz="1800">
                <a:solidFill>
                  <a:srgbClr val="000000"/>
                </a:solidFill>
              </a:rPr>
              <a:t>ไม่ยอมให้มีการแก้ไขข้อมูลเกิดขึ้น</a:t>
            </a:r>
            <a:endParaRPr lang="en-US" altLang="en-US" sz="1800">
              <a:solidFill>
                <a:srgbClr val="00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2F3EE051-FE4A-F14E-FBBB-9BB709FE6262}"/>
              </a:ext>
            </a:extLst>
          </p:cNvPr>
          <p:cNvSpPr>
            <a:spLocks noGrp="1" noChangeArrowheads="1"/>
          </p:cNvSpPr>
          <p:nvPr>
            <p:ph type="title"/>
          </p:nvPr>
        </p:nvSpPr>
        <p:spPr/>
        <p:txBody>
          <a:bodyPr/>
          <a:lstStyle/>
          <a:p>
            <a:r>
              <a:rPr lang="en-US" altLang="en-US"/>
              <a:t>REFERENTIAL INTEGRITY OPTIONS</a:t>
            </a:r>
          </a:p>
        </p:txBody>
      </p:sp>
      <p:sp>
        <p:nvSpPr>
          <p:cNvPr id="46083" name="Rectangle 3">
            <a:extLst>
              <a:ext uri="{FF2B5EF4-FFF2-40B4-BE49-F238E27FC236}">
                <a16:creationId xmlns:a16="http://schemas.microsoft.com/office/drawing/2014/main" id="{21E6B17D-8329-5665-AE08-D61E52CD837E}"/>
              </a:ext>
            </a:extLst>
          </p:cNvPr>
          <p:cNvSpPr>
            <a:spLocks noGrp="1" noChangeArrowheads="1"/>
          </p:cNvSpPr>
          <p:nvPr>
            <p:ph type="body" idx="1"/>
          </p:nvPr>
        </p:nvSpPr>
        <p:spPr/>
        <p:txBody>
          <a:bodyPr>
            <a:normAutofit lnSpcReduction="10000"/>
          </a:bodyPr>
          <a:lstStyle/>
          <a:p>
            <a:pPr marL="342900" indent="-342900"/>
            <a:r>
              <a:rPr lang="en-US" altLang="en-US" sz="2100" dirty="0"/>
              <a:t>We can specify RESTRICT, CASCADE, SET NULL or SET DEFAULT on referential integrity constraints (foreign keys)</a:t>
            </a:r>
          </a:p>
          <a:p>
            <a:pPr marL="742950" lvl="1" indent="-285750">
              <a:buNone/>
            </a:pPr>
            <a:endParaRPr lang="en-US" altLang="en-US" b="1" dirty="0">
              <a:solidFill>
                <a:srgbClr val="990033"/>
              </a:solidFill>
              <a:latin typeface="Courier New" panose="02070309020205020404" pitchFamily="49" charset="0"/>
            </a:endParaRPr>
          </a:p>
          <a:p>
            <a:pPr marL="742950" lvl="1" indent="-285750">
              <a:buNone/>
            </a:pPr>
            <a:r>
              <a:rPr lang="en-US" altLang="en-US" b="1" dirty="0">
                <a:solidFill>
                  <a:srgbClr val="990033"/>
                </a:solidFill>
                <a:latin typeface="Courier New" panose="02070309020205020404" pitchFamily="49" charset="0"/>
              </a:rPr>
              <a:t>CREATE TABLE DEPT (</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DNAME			VARCHAR(10)	NOT NULL,</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DNUMBER		INTEGER	NOT NULL,</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a:t>
            </a:r>
            <a:r>
              <a:rPr lang="en-US" altLang="en-US" b="1" dirty="0">
                <a:solidFill>
                  <a:srgbClr val="FF0000"/>
                </a:solidFill>
                <a:latin typeface="Courier New" panose="02070309020205020404" pitchFamily="49" charset="0"/>
              </a:rPr>
              <a:t>MGRSSN</a:t>
            </a:r>
            <a:r>
              <a:rPr lang="en-US" altLang="en-US" b="1" dirty="0">
                <a:solidFill>
                  <a:srgbClr val="990033"/>
                </a:solidFill>
                <a:latin typeface="Courier New" panose="02070309020205020404" pitchFamily="49" charset="0"/>
              </a:rPr>
              <a:t>		CHAR(9) DEFAULT </a:t>
            </a:r>
            <a:r>
              <a:rPr lang="en-US" altLang="zh-CN" dirty="0">
                <a:solidFill>
                  <a:srgbClr val="990033"/>
                </a:solidFill>
                <a:ea typeface="SimSun" panose="02010600030101010101" pitchFamily="2" charset="-122"/>
              </a:rPr>
              <a:t>'</a:t>
            </a:r>
            <a:r>
              <a:rPr lang="en-US" altLang="en-US" b="1" dirty="0">
                <a:solidFill>
                  <a:srgbClr val="990033"/>
                </a:solidFill>
                <a:latin typeface="Courier New" panose="02070309020205020404" pitchFamily="49" charset="0"/>
              </a:rPr>
              <a:t>888665555</a:t>
            </a:r>
            <a:r>
              <a:rPr lang="en-US" altLang="zh-CN" dirty="0">
                <a:solidFill>
                  <a:srgbClr val="990033"/>
                </a:solidFill>
                <a:ea typeface="SimSun" panose="02010600030101010101" pitchFamily="2" charset="-122"/>
              </a:rPr>
              <a:t>'</a:t>
            </a:r>
            <a:r>
              <a:rPr lang="en-US" altLang="en-US" b="1" dirty="0">
                <a:solidFill>
                  <a:srgbClr val="990033"/>
                </a:solidFill>
                <a:latin typeface="Courier New" panose="02070309020205020404" pitchFamily="49" charset="0"/>
              </a:rPr>
              <a:t>,</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MGRSTARTDATE	CHAR(9),</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PRIMARY KEY (DNUMBER),</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UNIQUE (DNAME),</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FOREIGN KEY (MGRSSN) REFERENCES EMPLOYEE(SSN)</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ON DELETE SET DEFAULT </a:t>
            </a:r>
            <a:br>
              <a:rPr lang="en-US" altLang="en-US" b="1" dirty="0">
                <a:solidFill>
                  <a:srgbClr val="990033"/>
                </a:solidFill>
                <a:latin typeface="Courier New" panose="02070309020205020404" pitchFamily="49" charset="0"/>
              </a:rPr>
            </a:br>
            <a:r>
              <a:rPr lang="en-US" altLang="en-US" b="1" dirty="0">
                <a:solidFill>
                  <a:srgbClr val="990033"/>
                </a:solidFill>
                <a:latin typeface="Courier New" panose="02070309020205020404" pitchFamily="49" charset="0"/>
              </a:rPr>
              <a:t>		ON UPDATE CASCADE</a:t>
            </a:r>
          </a:p>
          <a:p>
            <a:pPr marL="742950" lvl="1" indent="-285750">
              <a:buNone/>
            </a:pPr>
            <a:r>
              <a:rPr lang="en-US" altLang="en-US" b="1" dirty="0">
                <a:solidFill>
                  <a:srgbClr val="990033"/>
                </a:solidFill>
                <a:latin typeface="Courier New" panose="02070309020205020404" pitchFamily="49" charset="0"/>
              </a:rPr>
              <a:t>);</a:t>
            </a:r>
          </a:p>
        </p:txBody>
      </p:sp>
      <p:sp>
        <p:nvSpPr>
          <p:cNvPr id="46084" name="AutoShape 4">
            <a:extLst>
              <a:ext uri="{FF2B5EF4-FFF2-40B4-BE49-F238E27FC236}">
                <a16:creationId xmlns:a16="http://schemas.microsoft.com/office/drawing/2014/main" id="{07BD9956-BFAD-1FE7-50D7-2D3B636B7EBA}"/>
              </a:ext>
            </a:extLst>
          </p:cNvPr>
          <p:cNvSpPr>
            <a:spLocks/>
          </p:cNvSpPr>
          <p:nvPr/>
        </p:nvSpPr>
        <p:spPr bwMode="auto">
          <a:xfrm rot="10800000">
            <a:off x="6917997" y="5234710"/>
            <a:ext cx="596900" cy="462905"/>
          </a:xfrm>
          <a:prstGeom prst="leftBrace">
            <a:avLst>
              <a:gd name="adj1" fmla="val 44681"/>
              <a:gd name="adj2" fmla="val 50000"/>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lIns="90488" tIns="44450" rIns="90488" bIns="44450" anchor="ctr">
            <a:spAutoFit/>
          </a:bodyPr>
          <a:lstStyle>
            <a:lvl1pPr>
              <a:spcBef>
                <a:spcPct val="10000"/>
              </a:spcBef>
              <a:spcAft>
                <a:spcPts val="400"/>
              </a:spcAft>
              <a:buClr>
                <a:srgbClr val="0C7B9C"/>
              </a:buClr>
              <a:buSzPct val="75000"/>
              <a:buFont typeface="Monotype Sorts" pitchFamily="2" charset="2"/>
              <a:buChar char="l"/>
              <a:defRPr sz="2400">
                <a:solidFill>
                  <a:schemeClr val="tx1"/>
                </a:solidFill>
                <a:latin typeface="Arial" panose="020B0604020202020204" pitchFamily="34" charset="0"/>
              </a:defRPr>
            </a:lvl1pPr>
            <a:lvl2pPr marL="742950" indent="-285750">
              <a:spcBef>
                <a:spcPct val="10000"/>
              </a:spcBef>
              <a:spcAft>
                <a:spcPts val="400"/>
              </a:spcAft>
              <a:buClr>
                <a:srgbClr val="0C7B9C"/>
              </a:buClr>
              <a:buSzPct val="100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10000"/>
              </a:spcBef>
              <a:spcAft>
                <a:spcPts val="400"/>
              </a:spcAft>
              <a:buClr>
                <a:srgbClr val="0C7B9C"/>
              </a:buClr>
              <a:buSzPct val="70000"/>
              <a:buFont typeface="Wingdings" panose="05000000000000000000" pitchFamily="2" charset="2"/>
              <a:buChar char="u"/>
              <a:defRPr sz="2400">
                <a:solidFill>
                  <a:schemeClr val="tx1"/>
                </a:solidFill>
                <a:latin typeface="Arial" panose="020B0604020202020204" pitchFamily="34" charset="0"/>
              </a:defRPr>
            </a:lvl3pPr>
            <a:lvl4pPr marL="1600200" indent="-228600">
              <a:spcBef>
                <a:spcPct val="20000"/>
              </a:spcBef>
              <a:buSzPct val="100000"/>
              <a:buChar char="–"/>
              <a:defRPr sz="2000">
                <a:solidFill>
                  <a:schemeClr val="tx1"/>
                </a:solidFill>
                <a:latin typeface="Times New Roman" panose="02020603050405020304" pitchFamily="18" charset="0"/>
              </a:defRPr>
            </a:lvl4pPr>
            <a:lvl5pPr marL="2057400" indent="-228600">
              <a:spcBef>
                <a:spcPct val="20000"/>
              </a:spcBef>
              <a:buSzPct val="100000"/>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9pPr>
          </a:lstStyle>
          <a:p>
            <a:pPr algn="ctr">
              <a:spcBef>
                <a:spcPct val="50000"/>
              </a:spcBef>
              <a:buSzPct val="70000"/>
              <a:buFont typeface="Wingdings" panose="05000000000000000000" pitchFamily="2" charset="2"/>
              <a:buNone/>
            </a:pPr>
            <a:endParaRPr lang="en-US" altLang="en-US" sz="2000"/>
          </a:p>
        </p:txBody>
      </p:sp>
      <p:sp>
        <p:nvSpPr>
          <p:cNvPr id="46085" name="Text Box 5">
            <a:extLst>
              <a:ext uri="{FF2B5EF4-FFF2-40B4-BE49-F238E27FC236}">
                <a16:creationId xmlns:a16="http://schemas.microsoft.com/office/drawing/2014/main" id="{AEDA4B9D-0A53-6DEF-518B-3EF970EBA478}"/>
              </a:ext>
            </a:extLst>
          </p:cNvPr>
          <p:cNvSpPr txBox="1">
            <a:spLocks noChangeArrowheads="1"/>
          </p:cNvSpPr>
          <p:nvPr/>
        </p:nvSpPr>
        <p:spPr bwMode="auto">
          <a:xfrm>
            <a:off x="7514897" y="5116723"/>
            <a:ext cx="3664380" cy="910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488" tIns="44450" rIns="90488" bIns="44450">
            <a:spAutoFit/>
          </a:bodyPr>
          <a:lstStyle>
            <a:lvl1pPr>
              <a:spcBef>
                <a:spcPct val="10000"/>
              </a:spcBef>
              <a:spcAft>
                <a:spcPts val="400"/>
              </a:spcAft>
              <a:buClr>
                <a:srgbClr val="0C7B9C"/>
              </a:buClr>
              <a:buSzPct val="75000"/>
              <a:buFont typeface="Monotype Sorts" pitchFamily="2" charset="2"/>
              <a:buChar char="l"/>
              <a:defRPr sz="2400">
                <a:solidFill>
                  <a:schemeClr val="tx1"/>
                </a:solidFill>
                <a:latin typeface="Arial" panose="020B0604020202020204" pitchFamily="34" charset="0"/>
              </a:defRPr>
            </a:lvl1pPr>
            <a:lvl2pPr marL="742950" indent="-285750">
              <a:spcBef>
                <a:spcPct val="10000"/>
              </a:spcBef>
              <a:spcAft>
                <a:spcPts val="400"/>
              </a:spcAft>
              <a:buClr>
                <a:srgbClr val="0C7B9C"/>
              </a:buClr>
              <a:buSzPct val="100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10000"/>
              </a:spcBef>
              <a:spcAft>
                <a:spcPts val="400"/>
              </a:spcAft>
              <a:buClr>
                <a:srgbClr val="0C7B9C"/>
              </a:buClr>
              <a:buSzPct val="70000"/>
              <a:buFont typeface="Wingdings" panose="05000000000000000000" pitchFamily="2" charset="2"/>
              <a:buChar char="u"/>
              <a:defRPr sz="2400">
                <a:solidFill>
                  <a:schemeClr val="tx1"/>
                </a:solidFill>
                <a:latin typeface="Arial" panose="020B0604020202020204" pitchFamily="34" charset="0"/>
              </a:defRPr>
            </a:lvl3pPr>
            <a:lvl4pPr marL="1600200" indent="-228600">
              <a:spcBef>
                <a:spcPct val="20000"/>
              </a:spcBef>
              <a:buSzPct val="100000"/>
              <a:buChar char="–"/>
              <a:defRPr sz="2000">
                <a:solidFill>
                  <a:schemeClr val="tx1"/>
                </a:solidFill>
                <a:latin typeface="Times New Roman" panose="02020603050405020304" pitchFamily="18" charset="0"/>
              </a:defRPr>
            </a:lvl4pPr>
            <a:lvl5pPr marL="2057400" indent="-228600">
              <a:spcBef>
                <a:spcPct val="20000"/>
              </a:spcBef>
              <a:buSzPct val="100000"/>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9pPr>
          </a:lstStyle>
          <a:p>
            <a:pPr>
              <a:spcBef>
                <a:spcPct val="50000"/>
              </a:spcBef>
              <a:buSzPct val="70000"/>
              <a:buFont typeface="Wingdings" panose="05000000000000000000" pitchFamily="2" charset="2"/>
              <a:buNone/>
            </a:pPr>
            <a:r>
              <a:rPr lang="en-US" altLang="en-US" sz="2000" dirty="0"/>
              <a:t>Specifies the corrective action </a:t>
            </a:r>
          </a:p>
          <a:p>
            <a:pPr>
              <a:spcBef>
                <a:spcPct val="50000"/>
              </a:spcBef>
              <a:buSzPct val="70000"/>
              <a:buFont typeface="Wingdings" panose="05000000000000000000" pitchFamily="2" charset="2"/>
              <a:buNone/>
            </a:pPr>
            <a:r>
              <a:rPr lang="en-US" altLang="en-US" sz="2000" dirty="0"/>
              <a:t>upon constraint violation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30" name="Picture 5">
            <a:extLst>
              <a:ext uri="{FF2B5EF4-FFF2-40B4-BE49-F238E27FC236}">
                <a16:creationId xmlns:a16="http://schemas.microsoft.com/office/drawing/2014/main" id="{04EB9608-ECDC-3702-3E75-4FB935AC1B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62800" y="3424238"/>
            <a:ext cx="3276600" cy="213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1" name="Picture 2">
            <a:extLst>
              <a:ext uri="{FF2B5EF4-FFF2-40B4-BE49-F238E27FC236}">
                <a16:creationId xmlns:a16="http://schemas.microsoft.com/office/drawing/2014/main" id="{2CB975BF-EA9F-9FAA-5D41-968B98DF84AD}"/>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a:xfrm>
            <a:off x="3124200" y="2819400"/>
            <a:ext cx="1828800" cy="1924050"/>
          </a:xfrm>
        </p:spPr>
      </p:pic>
      <p:sp>
        <p:nvSpPr>
          <p:cNvPr id="48132" name="TextBox 4">
            <a:extLst>
              <a:ext uri="{FF2B5EF4-FFF2-40B4-BE49-F238E27FC236}">
                <a16:creationId xmlns:a16="http://schemas.microsoft.com/office/drawing/2014/main" id="{27D0F616-B9A9-85DF-4C31-4943661322DE}"/>
              </a:ext>
            </a:extLst>
          </p:cNvPr>
          <p:cNvSpPr txBox="1">
            <a:spLocks noChangeArrowheads="1"/>
          </p:cNvSpPr>
          <p:nvPr/>
        </p:nvSpPr>
        <p:spPr bwMode="auto">
          <a:xfrm>
            <a:off x="2921134" y="2362200"/>
            <a:ext cx="158088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10000"/>
              </a:spcBef>
              <a:spcAft>
                <a:spcPts val="400"/>
              </a:spcAft>
              <a:buClr>
                <a:srgbClr val="0C7B9C"/>
              </a:buClr>
              <a:buSzPct val="75000"/>
              <a:buFont typeface="Monotype Sorts" pitchFamily="2" charset="2"/>
              <a:buChar char="l"/>
              <a:defRPr sz="2400">
                <a:solidFill>
                  <a:schemeClr val="tx1"/>
                </a:solidFill>
                <a:latin typeface="Arial" panose="020B0604020202020204" pitchFamily="34" charset="0"/>
              </a:defRPr>
            </a:lvl1pPr>
            <a:lvl2pPr marL="742950" indent="-285750">
              <a:spcBef>
                <a:spcPct val="10000"/>
              </a:spcBef>
              <a:spcAft>
                <a:spcPts val="400"/>
              </a:spcAft>
              <a:buClr>
                <a:srgbClr val="0C7B9C"/>
              </a:buClr>
              <a:buSzPct val="100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10000"/>
              </a:spcBef>
              <a:spcAft>
                <a:spcPts val="400"/>
              </a:spcAft>
              <a:buClr>
                <a:srgbClr val="0C7B9C"/>
              </a:buClr>
              <a:buSzPct val="70000"/>
              <a:buFont typeface="Wingdings" panose="05000000000000000000" pitchFamily="2" charset="2"/>
              <a:buChar char="u"/>
              <a:defRPr sz="2400">
                <a:solidFill>
                  <a:schemeClr val="tx1"/>
                </a:solidFill>
                <a:latin typeface="Arial" panose="020B0604020202020204" pitchFamily="34" charset="0"/>
              </a:defRPr>
            </a:lvl3pPr>
            <a:lvl4pPr marL="1600200" indent="-228600">
              <a:spcBef>
                <a:spcPct val="20000"/>
              </a:spcBef>
              <a:buSzPct val="100000"/>
              <a:buChar char="–"/>
              <a:defRPr sz="2000">
                <a:solidFill>
                  <a:schemeClr val="tx1"/>
                </a:solidFill>
                <a:latin typeface="Times New Roman" panose="02020603050405020304" pitchFamily="18" charset="0"/>
              </a:defRPr>
            </a:lvl4pPr>
            <a:lvl5pPr marL="2057400" indent="-228600">
              <a:spcBef>
                <a:spcPct val="20000"/>
              </a:spcBef>
              <a:buSzPct val="100000"/>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9pPr>
          </a:lstStyle>
          <a:p>
            <a:pPr algn="ctr">
              <a:spcBef>
                <a:spcPct val="50000"/>
              </a:spcBef>
              <a:buSzPct val="70000"/>
              <a:buFont typeface="Wingdings" panose="05000000000000000000" pitchFamily="2" charset="2"/>
              <a:buNone/>
            </a:pPr>
            <a:r>
              <a:rPr lang="en-US" altLang="en-US" sz="2000" b="1"/>
              <a:t>department</a:t>
            </a:r>
          </a:p>
        </p:txBody>
      </p:sp>
      <p:cxnSp>
        <p:nvCxnSpPr>
          <p:cNvPr id="11" name="ลูกศรเชื่อมต่อแบบตรง 10">
            <a:extLst>
              <a:ext uri="{FF2B5EF4-FFF2-40B4-BE49-F238E27FC236}">
                <a16:creationId xmlns:a16="http://schemas.microsoft.com/office/drawing/2014/main" id="{EBF578C9-A5B6-674B-BD8F-4F37E3B8BB15}"/>
              </a:ext>
            </a:extLst>
          </p:cNvPr>
          <p:cNvCxnSpPr/>
          <p:nvPr/>
        </p:nvCxnSpPr>
        <p:spPr>
          <a:xfrm>
            <a:off x="5867400" y="4114800"/>
            <a:ext cx="1752600" cy="762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ลูกศรเชื่อมต่อแบบตรง 12">
            <a:extLst>
              <a:ext uri="{FF2B5EF4-FFF2-40B4-BE49-F238E27FC236}">
                <a16:creationId xmlns:a16="http://schemas.microsoft.com/office/drawing/2014/main" id="{99B60D95-FACA-A782-1DD3-B72DB1E18D7A}"/>
              </a:ext>
            </a:extLst>
          </p:cNvPr>
          <p:cNvCxnSpPr/>
          <p:nvPr/>
        </p:nvCxnSpPr>
        <p:spPr>
          <a:xfrm rot="10800000">
            <a:off x="5181600" y="3810000"/>
            <a:ext cx="2438400" cy="1066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8135" name="TextBox 15">
            <a:extLst>
              <a:ext uri="{FF2B5EF4-FFF2-40B4-BE49-F238E27FC236}">
                <a16:creationId xmlns:a16="http://schemas.microsoft.com/office/drawing/2014/main" id="{5A17F071-1FDC-07E0-713B-6A131F1CB81A}"/>
              </a:ext>
            </a:extLst>
          </p:cNvPr>
          <p:cNvSpPr txBox="1">
            <a:spLocks noChangeArrowheads="1"/>
          </p:cNvSpPr>
          <p:nvPr/>
        </p:nvSpPr>
        <p:spPr bwMode="auto">
          <a:xfrm>
            <a:off x="7841932" y="2667000"/>
            <a:ext cx="15103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10000"/>
              </a:spcBef>
              <a:spcAft>
                <a:spcPts val="400"/>
              </a:spcAft>
              <a:buClr>
                <a:srgbClr val="0C7B9C"/>
              </a:buClr>
              <a:buSzPct val="75000"/>
              <a:buFont typeface="Monotype Sorts" pitchFamily="2" charset="2"/>
              <a:buChar char="l"/>
              <a:defRPr sz="2400">
                <a:solidFill>
                  <a:schemeClr val="tx1"/>
                </a:solidFill>
                <a:latin typeface="Arial" panose="020B0604020202020204" pitchFamily="34" charset="0"/>
              </a:defRPr>
            </a:lvl1pPr>
            <a:lvl2pPr marL="742950" indent="-285750">
              <a:spcBef>
                <a:spcPct val="10000"/>
              </a:spcBef>
              <a:spcAft>
                <a:spcPts val="400"/>
              </a:spcAft>
              <a:buClr>
                <a:srgbClr val="0C7B9C"/>
              </a:buClr>
              <a:buSzPct val="100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10000"/>
              </a:spcBef>
              <a:spcAft>
                <a:spcPts val="400"/>
              </a:spcAft>
              <a:buClr>
                <a:srgbClr val="0C7B9C"/>
              </a:buClr>
              <a:buSzPct val="70000"/>
              <a:buFont typeface="Wingdings" panose="05000000000000000000" pitchFamily="2" charset="2"/>
              <a:buChar char="u"/>
              <a:defRPr sz="2400">
                <a:solidFill>
                  <a:schemeClr val="tx1"/>
                </a:solidFill>
                <a:latin typeface="Arial" panose="020B0604020202020204" pitchFamily="34" charset="0"/>
              </a:defRPr>
            </a:lvl3pPr>
            <a:lvl4pPr marL="1600200" indent="-228600">
              <a:spcBef>
                <a:spcPct val="20000"/>
              </a:spcBef>
              <a:buSzPct val="100000"/>
              <a:buChar char="–"/>
              <a:defRPr sz="2000">
                <a:solidFill>
                  <a:schemeClr val="tx1"/>
                </a:solidFill>
                <a:latin typeface="Times New Roman" panose="02020603050405020304" pitchFamily="18" charset="0"/>
              </a:defRPr>
            </a:lvl4pPr>
            <a:lvl5pPr marL="2057400" indent="-228600">
              <a:spcBef>
                <a:spcPct val="20000"/>
              </a:spcBef>
              <a:buSzPct val="100000"/>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9pPr>
          </a:lstStyle>
          <a:p>
            <a:pPr algn="ctr">
              <a:spcBef>
                <a:spcPct val="50000"/>
              </a:spcBef>
              <a:buSzPct val="70000"/>
              <a:buFont typeface="Wingdings" panose="05000000000000000000" pitchFamily="2" charset="2"/>
              <a:buNone/>
            </a:pPr>
            <a:r>
              <a:rPr lang="en-US" altLang="en-US" sz="2000" b="1"/>
              <a:t>employees</a:t>
            </a:r>
          </a:p>
        </p:txBody>
      </p:sp>
      <p:sp>
        <p:nvSpPr>
          <p:cNvPr id="17" name="สี่เหลี่ยมผืนผ้า 16">
            <a:extLst>
              <a:ext uri="{FF2B5EF4-FFF2-40B4-BE49-F238E27FC236}">
                <a16:creationId xmlns:a16="http://schemas.microsoft.com/office/drawing/2014/main" id="{B80A080D-B9FE-BD5E-5B05-098E1B228BD8}"/>
              </a:ext>
            </a:extLst>
          </p:cNvPr>
          <p:cNvSpPr/>
          <p:nvPr/>
        </p:nvSpPr>
        <p:spPr>
          <a:xfrm>
            <a:off x="8991600" y="3276600"/>
            <a:ext cx="990600" cy="2438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spcAft>
                <a:spcPts val="400"/>
              </a:spcAft>
              <a:buClr>
                <a:srgbClr val="0C7B9C"/>
              </a:buClr>
              <a:buSzPct val="70000"/>
              <a:defRPr/>
            </a:pPr>
            <a:endParaRPr lang="en-US"/>
          </a:p>
        </p:txBody>
      </p:sp>
      <p:sp>
        <p:nvSpPr>
          <p:cNvPr id="48137" name="TextBox 17">
            <a:extLst>
              <a:ext uri="{FF2B5EF4-FFF2-40B4-BE49-F238E27FC236}">
                <a16:creationId xmlns:a16="http://schemas.microsoft.com/office/drawing/2014/main" id="{442429F2-B3B7-AC9B-0318-146CF6D9DAA6}"/>
              </a:ext>
            </a:extLst>
          </p:cNvPr>
          <p:cNvSpPr txBox="1">
            <a:spLocks noChangeArrowheads="1"/>
          </p:cNvSpPr>
          <p:nvPr/>
        </p:nvSpPr>
        <p:spPr bwMode="auto">
          <a:xfrm>
            <a:off x="8839200" y="5862638"/>
            <a:ext cx="1295400" cy="9130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10000"/>
              </a:spcBef>
              <a:spcAft>
                <a:spcPts val="400"/>
              </a:spcAft>
              <a:buClr>
                <a:srgbClr val="0C7B9C"/>
              </a:buClr>
              <a:buSzPct val="75000"/>
              <a:buFont typeface="Monotype Sorts" pitchFamily="2" charset="2"/>
              <a:buChar char="l"/>
              <a:defRPr sz="2400">
                <a:solidFill>
                  <a:schemeClr val="tx1"/>
                </a:solidFill>
                <a:latin typeface="Arial" panose="020B0604020202020204" pitchFamily="34" charset="0"/>
              </a:defRPr>
            </a:lvl1pPr>
            <a:lvl2pPr marL="742950" indent="-285750">
              <a:spcBef>
                <a:spcPct val="10000"/>
              </a:spcBef>
              <a:spcAft>
                <a:spcPts val="400"/>
              </a:spcAft>
              <a:buClr>
                <a:srgbClr val="0C7B9C"/>
              </a:buClr>
              <a:buSzPct val="100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10000"/>
              </a:spcBef>
              <a:spcAft>
                <a:spcPts val="400"/>
              </a:spcAft>
              <a:buClr>
                <a:srgbClr val="0C7B9C"/>
              </a:buClr>
              <a:buSzPct val="70000"/>
              <a:buFont typeface="Wingdings" panose="05000000000000000000" pitchFamily="2" charset="2"/>
              <a:buChar char="u"/>
              <a:defRPr sz="2400">
                <a:solidFill>
                  <a:schemeClr val="tx1"/>
                </a:solidFill>
                <a:latin typeface="Arial" panose="020B0604020202020204" pitchFamily="34" charset="0"/>
              </a:defRPr>
            </a:lvl3pPr>
            <a:lvl4pPr marL="1600200" indent="-228600">
              <a:spcBef>
                <a:spcPct val="20000"/>
              </a:spcBef>
              <a:buSzPct val="100000"/>
              <a:buChar char="–"/>
              <a:defRPr sz="2000">
                <a:solidFill>
                  <a:schemeClr val="tx1"/>
                </a:solidFill>
                <a:latin typeface="Times New Roman" panose="02020603050405020304" pitchFamily="18" charset="0"/>
              </a:defRPr>
            </a:lvl4pPr>
            <a:lvl5pPr marL="2057400" indent="-228600">
              <a:spcBef>
                <a:spcPct val="20000"/>
              </a:spcBef>
              <a:buSzPct val="100000"/>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9pPr>
          </a:lstStyle>
          <a:p>
            <a:pPr algn="ctr">
              <a:spcBef>
                <a:spcPct val="50000"/>
              </a:spcBef>
              <a:buSzPct val="70000"/>
              <a:buFont typeface="Wingdings" panose="05000000000000000000" pitchFamily="2" charset="2"/>
              <a:buNone/>
            </a:pPr>
            <a:r>
              <a:rPr lang="en-US" altLang="en-US" sz="2000" b="1"/>
              <a:t>Foreign </a:t>
            </a:r>
            <a:endParaRPr lang="en-US" altLang="en-US" sz="2000"/>
          </a:p>
          <a:p>
            <a:pPr algn="ctr">
              <a:spcBef>
                <a:spcPct val="50000"/>
              </a:spcBef>
              <a:buSzPct val="70000"/>
              <a:buFont typeface="Wingdings" panose="05000000000000000000" pitchFamily="2" charset="2"/>
              <a:buNone/>
            </a:pPr>
            <a:endParaRPr lang="en-US" altLang="en-US" sz="2000"/>
          </a:p>
        </p:txBody>
      </p:sp>
      <p:sp>
        <p:nvSpPr>
          <p:cNvPr id="44042" name="TextBox 2">
            <a:extLst>
              <a:ext uri="{FF2B5EF4-FFF2-40B4-BE49-F238E27FC236}">
                <a16:creationId xmlns:a16="http://schemas.microsoft.com/office/drawing/2014/main" id="{3ED4E16A-E9FD-0CC3-A7CC-4BAE2CF93808}"/>
              </a:ext>
            </a:extLst>
          </p:cNvPr>
          <p:cNvSpPr txBox="1">
            <a:spLocks noChangeArrowheads="1"/>
          </p:cNvSpPr>
          <p:nvPr/>
        </p:nvSpPr>
        <p:spPr bwMode="auto">
          <a:xfrm>
            <a:off x="2286000" y="76200"/>
            <a:ext cx="6629400" cy="738188"/>
          </a:xfrm>
          <a:prstGeom prst="rect">
            <a:avLst/>
          </a:prstGeom>
          <a:noFill/>
          <a:ln>
            <a:noFill/>
          </a:ln>
        </p:spPr>
        <p:txBody>
          <a:bodyPr>
            <a:spAutoFit/>
          </a:bodyPr>
          <a:lstStyle>
            <a:lvl1pPr>
              <a:spcBef>
                <a:spcPct val="10000"/>
              </a:spcBef>
              <a:spcAft>
                <a:spcPts val="400"/>
              </a:spcAft>
              <a:buClr>
                <a:srgbClr val="0C7B9C"/>
              </a:buClr>
              <a:buSzPct val="75000"/>
              <a:buFont typeface="Monotype Sorts" pitchFamily="2" charset="2"/>
              <a:buChar char="l"/>
              <a:defRPr sz="2400">
                <a:solidFill>
                  <a:schemeClr val="tx1"/>
                </a:solidFill>
                <a:latin typeface="Arial" panose="020B0604020202020204" pitchFamily="34" charset="0"/>
              </a:defRPr>
            </a:lvl1pPr>
            <a:lvl2pPr marL="742950" indent="-285750">
              <a:spcBef>
                <a:spcPct val="10000"/>
              </a:spcBef>
              <a:spcAft>
                <a:spcPts val="400"/>
              </a:spcAft>
              <a:buClr>
                <a:srgbClr val="0C7B9C"/>
              </a:buClr>
              <a:buSzPct val="100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10000"/>
              </a:spcBef>
              <a:spcAft>
                <a:spcPts val="400"/>
              </a:spcAft>
              <a:buClr>
                <a:srgbClr val="0C7B9C"/>
              </a:buClr>
              <a:buSzPct val="70000"/>
              <a:buFont typeface="Wingdings" panose="05000000000000000000" pitchFamily="2" charset="2"/>
              <a:buChar char="u"/>
              <a:defRPr sz="2400">
                <a:solidFill>
                  <a:schemeClr val="tx1"/>
                </a:solidFill>
                <a:latin typeface="Arial" panose="020B0604020202020204" pitchFamily="34" charset="0"/>
              </a:defRPr>
            </a:lvl3pPr>
            <a:lvl4pPr marL="1600200" indent="-228600">
              <a:spcBef>
                <a:spcPct val="20000"/>
              </a:spcBef>
              <a:buSzPct val="100000"/>
              <a:buChar char="–"/>
              <a:defRPr sz="2000">
                <a:solidFill>
                  <a:schemeClr val="tx1"/>
                </a:solidFill>
                <a:latin typeface="Times New Roman" panose="02020603050405020304" pitchFamily="18" charset="0"/>
              </a:defRPr>
            </a:lvl4pPr>
            <a:lvl5pPr marL="2057400" indent="-228600">
              <a:spcBef>
                <a:spcPct val="20000"/>
              </a:spcBef>
              <a:buSzPct val="100000"/>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SzPct val="100000"/>
              <a:buChar char="•"/>
              <a:defRPr sz="2000">
                <a:solidFill>
                  <a:schemeClr val="tx1"/>
                </a:solidFill>
                <a:latin typeface="Times New Roman" panose="02020603050405020304" pitchFamily="18" charset="0"/>
              </a:defRPr>
            </a:lvl9pPr>
          </a:lstStyle>
          <a:p>
            <a:pPr>
              <a:spcBef>
                <a:spcPct val="50000"/>
              </a:spcBef>
              <a:buSzPct val="70000"/>
              <a:buFont typeface="Wingdings" panose="05000000000000000000" pitchFamily="2" charset="2"/>
              <a:buNone/>
              <a:defRPr/>
            </a:pPr>
            <a:r>
              <a:rPr lang="en-US" altLang="en-US" sz="1400" b="1" dirty="0">
                <a:highlight>
                  <a:srgbClr val="FFFF00"/>
                </a:highlight>
              </a:rPr>
              <a:t>NO ACTION:</a:t>
            </a:r>
            <a:r>
              <a:rPr lang="en-US" altLang="en-US" sz="1400" dirty="0">
                <a:highlight>
                  <a:srgbClr val="FFFF00"/>
                </a:highlight>
              </a:rPr>
              <a:t> </a:t>
            </a:r>
            <a:r>
              <a:rPr lang="en-US" altLang="en-US" sz="1400" dirty="0"/>
              <a:t>This is the default action that MySQL performs. This specifies that if an update or deletes statement affects rows in foreign key tables, then the action will be denied and rolled back. An error message will be raised.</a:t>
            </a:r>
          </a:p>
        </p:txBody>
      </p:sp>
      <p:pic>
        <p:nvPicPr>
          <p:cNvPr id="48139" name="Picture 2">
            <a:extLst>
              <a:ext uri="{FF2B5EF4-FFF2-40B4-BE49-F238E27FC236}">
                <a16:creationId xmlns:a16="http://schemas.microsoft.com/office/drawing/2014/main" id="{6F9C417C-EAA0-D6AF-8491-13AEDB6B20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91089" y="965201"/>
            <a:ext cx="4314825" cy="149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Star: 5 Points 2">
            <a:extLst>
              <a:ext uri="{FF2B5EF4-FFF2-40B4-BE49-F238E27FC236}">
                <a16:creationId xmlns:a16="http://schemas.microsoft.com/office/drawing/2014/main" id="{D6397786-3529-C42D-2E21-4AD84437927B}"/>
              </a:ext>
            </a:extLst>
          </p:cNvPr>
          <p:cNvSpPr/>
          <p:nvPr/>
        </p:nvSpPr>
        <p:spPr>
          <a:xfrm>
            <a:off x="737420" y="194776"/>
            <a:ext cx="1101213" cy="106188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สี่เหลี่ยมผืนผ้า 3">
            <a:extLst>
              <a:ext uri="{FF2B5EF4-FFF2-40B4-BE49-F238E27FC236}">
                <a16:creationId xmlns:a16="http://schemas.microsoft.com/office/drawing/2014/main" id="{78B4F101-3A8B-80D9-C362-56E28F3BDAAF}"/>
              </a:ext>
            </a:extLst>
          </p:cNvPr>
          <p:cNvSpPr>
            <a:spLocks noChangeArrowheads="1"/>
          </p:cNvSpPr>
          <p:nvPr/>
        </p:nvSpPr>
        <p:spPr bwMode="auto">
          <a:xfrm>
            <a:off x="2590800" y="163513"/>
            <a:ext cx="75438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000" b="1" dirty="0">
                <a:solidFill>
                  <a:srgbClr val="FF0000"/>
                </a:solidFill>
              </a:rPr>
              <a:t>Example: </a:t>
            </a:r>
            <a:r>
              <a:rPr lang="th-TH" altLang="en-US" sz="2000" b="1" dirty="0">
                <a:solidFill>
                  <a:srgbClr val="FF0000"/>
                </a:solidFill>
              </a:rPr>
              <a:t> </a:t>
            </a:r>
            <a:r>
              <a:rPr lang="en-US" altLang="en-US" sz="2000" b="1" dirty="0">
                <a:solidFill>
                  <a:srgbClr val="FF0000"/>
                </a:solidFill>
              </a:rPr>
              <a:t>NO ACTION Referential Integrity Constraints in </a:t>
            </a:r>
            <a:r>
              <a:rPr lang="en-US" altLang="en-US" sz="2000" b="1" dirty="0" err="1">
                <a:solidFill>
                  <a:srgbClr val="FF0000"/>
                </a:solidFill>
              </a:rPr>
              <a:t>Postgresql</a:t>
            </a:r>
            <a:endParaRPr lang="en-US" altLang="en-US" sz="2000" dirty="0">
              <a:solidFill>
                <a:srgbClr val="FF0000"/>
              </a:solidFill>
            </a:endParaRPr>
          </a:p>
        </p:txBody>
      </p:sp>
      <p:sp>
        <p:nvSpPr>
          <p:cNvPr id="50179" name="สี่เหลี่ยมผืนผ้า 4">
            <a:extLst>
              <a:ext uri="{FF2B5EF4-FFF2-40B4-BE49-F238E27FC236}">
                <a16:creationId xmlns:a16="http://schemas.microsoft.com/office/drawing/2014/main" id="{54631F9F-E6A8-880B-FD32-459D0AB13335}"/>
              </a:ext>
            </a:extLst>
          </p:cNvPr>
          <p:cNvSpPr>
            <a:spLocks noChangeArrowheads="1"/>
          </p:cNvSpPr>
          <p:nvPr/>
        </p:nvSpPr>
        <p:spPr bwMode="auto">
          <a:xfrm>
            <a:off x="1905000" y="685800"/>
            <a:ext cx="8077200" cy="1754326"/>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dirty="0">
                <a:solidFill>
                  <a:srgbClr val="0070C0"/>
                </a:solidFill>
              </a:rPr>
              <a:t>CREATE TABLE </a:t>
            </a:r>
            <a:r>
              <a:rPr lang="en-US" altLang="en-US" sz="1800" b="1" dirty="0">
                <a:solidFill>
                  <a:srgbClr val="000000"/>
                </a:solidFill>
              </a:rPr>
              <a:t>Department(     Id   </a:t>
            </a:r>
            <a:r>
              <a:rPr lang="en-US" altLang="en-US" sz="1800" b="1" dirty="0">
                <a:solidFill>
                  <a:srgbClr val="0070C0"/>
                </a:solidFill>
              </a:rPr>
              <a:t>INT PRIMARY KEY</a:t>
            </a:r>
            <a:r>
              <a:rPr lang="en-US" altLang="en-US" sz="1800" dirty="0">
                <a:solidFill>
                  <a:srgbClr val="000000"/>
                </a:solidFill>
              </a:rPr>
              <a:t>,     </a:t>
            </a:r>
            <a:r>
              <a:rPr lang="en-US" altLang="en-US" sz="1800" b="1" dirty="0">
                <a:solidFill>
                  <a:srgbClr val="0070C0"/>
                </a:solidFill>
              </a:rPr>
              <a:t>Name VARCHAR(50) </a:t>
            </a:r>
            <a:r>
              <a:rPr lang="en-US" altLang="en-US" sz="1800" b="1" dirty="0">
                <a:solidFill>
                  <a:srgbClr val="000000"/>
                </a:solidFill>
              </a:rPr>
              <a:t>);</a:t>
            </a:r>
            <a:endParaRPr lang="th-TH" altLang="en-US" sz="1800" b="1" dirty="0">
              <a:solidFill>
                <a:srgbClr val="000000"/>
              </a:solidFill>
            </a:endParaRPr>
          </a:p>
          <a:p>
            <a:pPr eaLnBrk="1" hangingPunct="1">
              <a:spcBef>
                <a:spcPct val="0"/>
              </a:spcBef>
              <a:buFontTx/>
              <a:buNone/>
            </a:pPr>
            <a:r>
              <a:rPr lang="en-US" altLang="en-US" sz="1800" dirty="0">
                <a:solidFill>
                  <a:srgbClr val="000000"/>
                </a:solidFill>
              </a:rPr>
              <a:t>-- Insert some test data in Department Table</a:t>
            </a:r>
            <a:endParaRPr lang="th-TH" altLang="en-US" sz="1800" dirty="0">
              <a:solidFill>
                <a:srgbClr val="000000"/>
              </a:solidFill>
            </a:endParaRPr>
          </a:p>
          <a:p>
            <a:pPr eaLnBrk="1" hangingPunct="1">
              <a:spcBef>
                <a:spcPct val="0"/>
              </a:spcBef>
              <a:buFontTx/>
              <a:buNone/>
            </a:pPr>
            <a:r>
              <a:rPr lang="en-US" altLang="en-US" sz="1800" b="1" dirty="0">
                <a:solidFill>
                  <a:srgbClr val="0070C0"/>
                </a:solidFill>
              </a:rPr>
              <a:t>Insert </a:t>
            </a:r>
            <a:r>
              <a:rPr lang="th-TH" altLang="en-US" sz="1800" b="1" dirty="0">
                <a:solidFill>
                  <a:srgbClr val="0070C0"/>
                </a:solidFill>
              </a:rPr>
              <a:t>  </a:t>
            </a:r>
            <a:r>
              <a:rPr lang="en-US" altLang="en-US" sz="1800" b="1" dirty="0">
                <a:solidFill>
                  <a:srgbClr val="0070C0"/>
                </a:solidFill>
              </a:rPr>
              <a:t>into </a:t>
            </a:r>
            <a:r>
              <a:rPr lang="th-TH" altLang="en-US" sz="1800" b="1" dirty="0">
                <a:solidFill>
                  <a:srgbClr val="0070C0"/>
                </a:solidFill>
              </a:rPr>
              <a:t> </a:t>
            </a:r>
            <a:r>
              <a:rPr lang="en-US" altLang="en-US" sz="1800" b="1" dirty="0">
                <a:solidFill>
                  <a:srgbClr val="000000"/>
                </a:solidFill>
              </a:rPr>
              <a:t>Department values (10, 'IT');</a:t>
            </a:r>
            <a:endParaRPr lang="th-TH" altLang="en-US" sz="1800" b="1" dirty="0">
              <a:solidFill>
                <a:srgbClr val="000000"/>
              </a:solidFill>
            </a:endParaRPr>
          </a:p>
          <a:p>
            <a:pPr eaLnBrk="1" hangingPunct="1">
              <a:spcBef>
                <a:spcPct val="0"/>
              </a:spcBef>
              <a:buFontTx/>
              <a:buNone/>
            </a:pPr>
            <a:r>
              <a:rPr lang="en-US" altLang="en-US" sz="1800" b="1" dirty="0">
                <a:solidFill>
                  <a:srgbClr val="0070C0"/>
                </a:solidFill>
              </a:rPr>
              <a:t>Insert </a:t>
            </a:r>
            <a:r>
              <a:rPr lang="th-TH" altLang="en-US" sz="1800" b="1" dirty="0">
                <a:solidFill>
                  <a:srgbClr val="0070C0"/>
                </a:solidFill>
              </a:rPr>
              <a:t>  </a:t>
            </a:r>
            <a:r>
              <a:rPr lang="en-US" altLang="en-US" sz="1800" b="1" dirty="0">
                <a:solidFill>
                  <a:srgbClr val="0070C0"/>
                </a:solidFill>
              </a:rPr>
              <a:t>into </a:t>
            </a:r>
            <a:r>
              <a:rPr lang="th-TH" altLang="en-US" sz="1800" b="1" dirty="0">
                <a:solidFill>
                  <a:srgbClr val="0070C0"/>
                </a:solidFill>
              </a:rPr>
              <a:t> </a:t>
            </a:r>
            <a:r>
              <a:rPr lang="en-US" altLang="en-US" sz="1800" b="1" dirty="0">
                <a:solidFill>
                  <a:srgbClr val="000000"/>
                </a:solidFill>
              </a:rPr>
              <a:t>Department values (20, 'HR');</a:t>
            </a:r>
            <a:endParaRPr lang="th-TH" altLang="en-US" sz="1800" b="1" dirty="0">
              <a:solidFill>
                <a:srgbClr val="000000"/>
              </a:solidFill>
            </a:endParaRPr>
          </a:p>
          <a:p>
            <a:pPr eaLnBrk="1" hangingPunct="1">
              <a:spcBef>
                <a:spcPct val="0"/>
              </a:spcBef>
              <a:buFontTx/>
              <a:buNone/>
            </a:pPr>
            <a:r>
              <a:rPr lang="en-US" altLang="en-US" sz="1800" b="1" dirty="0">
                <a:solidFill>
                  <a:srgbClr val="0070C0"/>
                </a:solidFill>
              </a:rPr>
              <a:t>Insert </a:t>
            </a:r>
            <a:r>
              <a:rPr lang="th-TH" altLang="en-US" sz="1800" b="1" dirty="0">
                <a:solidFill>
                  <a:srgbClr val="0070C0"/>
                </a:solidFill>
              </a:rPr>
              <a:t>  </a:t>
            </a:r>
            <a:r>
              <a:rPr lang="en-US" altLang="en-US" sz="1800" b="1" dirty="0">
                <a:solidFill>
                  <a:srgbClr val="0070C0"/>
                </a:solidFill>
              </a:rPr>
              <a:t>into </a:t>
            </a:r>
            <a:r>
              <a:rPr lang="th-TH" altLang="en-US" sz="1800" b="1" dirty="0">
                <a:solidFill>
                  <a:srgbClr val="0070C0"/>
                </a:solidFill>
              </a:rPr>
              <a:t> </a:t>
            </a:r>
            <a:r>
              <a:rPr lang="en-US" altLang="en-US" sz="1800" b="1" dirty="0">
                <a:solidFill>
                  <a:srgbClr val="000000"/>
                </a:solidFill>
              </a:rPr>
              <a:t>Department values (30, 'INFRA');</a:t>
            </a:r>
            <a:endParaRPr lang="th-TH" altLang="en-US" sz="1800" b="1" dirty="0">
              <a:solidFill>
                <a:srgbClr val="000000"/>
              </a:solidFill>
            </a:endParaRPr>
          </a:p>
          <a:p>
            <a:pPr eaLnBrk="1" hangingPunct="1">
              <a:spcBef>
                <a:spcPct val="0"/>
              </a:spcBef>
              <a:buFontTx/>
              <a:buNone/>
            </a:pPr>
            <a:endParaRPr lang="en-US" altLang="en-US" sz="1800" dirty="0">
              <a:solidFill>
                <a:srgbClr val="000000"/>
              </a:solidFill>
            </a:endParaRPr>
          </a:p>
        </p:txBody>
      </p:sp>
      <p:sp>
        <p:nvSpPr>
          <p:cNvPr id="6" name="TextBox 5">
            <a:extLst>
              <a:ext uri="{FF2B5EF4-FFF2-40B4-BE49-F238E27FC236}">
                <a16:creationId xmlns:a16="http://schemas.microsoft.com/office/drawing/2014/main" id="{0B9BEAD4-1989-24E7-6AEA-550D67722E50}"/>
              </a:ext>
            </a:extLst>
          </p:cNvPr>
          <p:cNvSpPr txBox="1"/>
          <p:nvPr/>
        </p:nvSpPr>
        <p:spPr>
          <a:xfrm>
            <a:off x="1905000" y="2432706"/>
            <a:ext cx="8153400" cy="3970338"/>
          </a:xfrm>
          <a:prstGeom prst="rect">
            <a:avLst/>
          </a:prstGeom>
          <a:solidFill>
            <a:schemeClr val="accent1">
              <a:lumMod val="20000"/>
              <a:lumOff val="80000"/>
            </a:schemeClr>
          </a:solidFill>
        </p:spPr>
        <p:txBody>
          <a:bodyPr>
            <a:spAutoFit/>
          </a:bodyPr>
          <a:lstStyle/>
          <a:p>
            <a:pPr>
              <a:defRPr/>
            </a:pPr>
            <a:r>
              <a:rPr lang="en-US" b="1" dirty="0">
                <a:solidFill>
                  <a:prstClr val="black"/>
                </a:solidFill>
                <a:latin typeface="Calibri"/>
              </a:rPr>
              <a:t>CREATE</a:t>
            </a:r>
            <a:r>
              <a:rPr lang="en-US" dirty="0">
                <a:solidFill>
                  <a:prstClr val="black"/>
                </a:solidFill>
                <a:latin typeface="Calibri"/>
              </a:rPr>
              <a:t> </a:t>
            </a:r>
            <a:r>
              <a:rPr lang="en-US" b="1" dirty="0">
                <a:solidFill>
                  <a:prstClr val="black"/>
                </a:solidFill>
                <a:latin typeface="Calibri"/>
              </a:rPr>
              <a:t>TABLE</a:t>
            </a:r>
            <a:r>
              <a:rPr lang="en-US" dirty="0">
                <a:solidFill>
                  <a:prstClr val="black"/>
                </a:solidFill>
                <a:latin typeface="Calibri"/>
              </a:rPr>
              <a:t> Employees(</a:t>
            </a:r>
          </a:p>
          <a:p>
            <a:pPr>
              <a:defRPr/>
            </a:pPr>
            <a:r>
              <a:rPr lang="th-TH" dirty="0">
                <a:solidFill>
                  <a:prstClr val="black"/>
                </a:solidFill>
                <a:latin typeface="Calibri"/>
              </a:rPr>
              <a:t>        </a:t>
            </a:r>
            <a:r>
              <a:rPr lang="en-US" dirty="0">
                <a:solidFill>
                  <a:prstClr val="black"/>
                </a:solidFill>
                <a:latin typeface="Calibri"/>
              </a:rPr>
              <a:t>Id </a:t>
            </a:r>
            <a:r>
              <a:rPr lang="en-US" b="1" dirty="0">
                <a:solidFill>
                  <a:prstClr val="black"/>
                </a:solidFill>
                <a:latin typeface="Calibri"/>
              </a:rPr>
              <a:t>INT</a:t>
            </a:r>
            <a:r>
              <a:rPr lang="en-US" dirty="0">
                <a:solidFill>
                  <a:prstClr val="black"/>
                </a:solidFill>
                <a:latin typeface="Calibri"/>
              </a:rPr>
              <a:t> </a:t>
            </a:r>
            <a:r>
              <a:rPr lang="en-US" b="1" dirty="0">
                <a:solidFill>
                  <a:prstClr val="black"/>
                </a:solidFill>
                <a:latin typeface="Calibri"/>
              </a:rPr>
              <a:t>PRIMARY KEY</a:t>
            </a:r>
            <a:r>
              <a:rPr lang="en-US" dirty="0">
                <a:solidFill>
                  <a:prstClr val="black"/>
                </a:solidFill>
                <a:latin typeface="Calibri"/>
              </a:rPr>
              <a:t>,</a:t>
            </a:r>
          </a:p>
          <a:p>
            <a:pPr>
              <a:defRPr/>
            </a:pPr>
            <a:r>
              <a:rPr lang="th-TH" dirty="0">
                <a:solidFill>
                  <a:prstClr val="black"/>
                </a:solidFill>
                <a:latin typeface="Calibri"/>
              </a:rPr>
              <a:t>        </a:t>
            </a:r>
            <a:r>
              <a:rPr lang="en-US" dirty="0">
                <a:solidFill>
                  <a:prstClr val="black"/>
                </a:solidFill>
                <a:latin typeface="Calibri"/>
              </a:rPr>
              <a:t>Name </a:t>
            </a:r>
            <a:r>
              <a:rPr lang="en-US" b="1" dirty="0">
                <a:solidFill>
                  <a:prstClr val="black"/>
                </a:solidFill>
                <a:latin typeface="Calibri"/>
              </a:rPr>
              <a:t>VARCHAR</a:t>
            </a:r>
            <a:r>
              <a:rPr lang="en-US" dirty="0">
                <a:solidFill>
                  <a:prstClr val="black"/>
                </a:solidFill>
                <a:latin typeface="Calibri"/>
              </a:rPr>
              <a:t>(100) </a:t>
            </a:r>
            <a:r>
              <a:rPr lang="en-US" b="1" dirty="0">
                <a:solidFill>
                  <a:prstClr val="black"/>
                </a:solidFill>
                <a:latin typeface="Calibri"/>
              </a:rPr>
              <a:t>NOT NULL</a:t>
            </a:r>
            <a:r>
              <a:rPr lang="en-US" dirty="0">
                <a:solidFill>
                  <a:prstClr val="black"/>
                </a:solidFill>
                <a:latin typeface="Calibri"/>
              </a:rPr>
              <a:t>,</a:t>
            </a:r>
          </a:p>
          <a:p>
            <a:pPr>
              <a:defRPr/>
            </a:pPr>
            <a:r>
              <a:rPr lang="th-TH" dirty="0">
                <a:solidFill>
                  <a:prstClr val="black"/>
                </a:solidFill>
                <a:latin typeface="Calibri"/>
              </a:rPr>
              <a:t>       </a:t>
            </a:r>
            <a:r>
              <a:rPr lang="en-US" dirty="0" err="1">
                <a:solidFill>
                  <a:prstClr val="black"/>
                </a:solidFill>
                <a:latin typeface="Calibri"/>
              </a:rPr>
              <a:t>DepartmentID</a:t>
            </a:r>
            <a:r>
              <a:rPr lang="en-US" dirty="0">
                <a:solidFill>
                  <a:prstClr val="black"/>
                </a:solidFill>
                <a:latin typeface="Calibri"/>
              </a:rPr>
              <a:t> </a:t>
            </a:r>
            <a:r>
              <a:rPr lang="en-US" b="1" dirty="0">
                <a:solidFill>
                  <a:prstClr val="black"/>
                </a:solidFill>
                <a:latin typeface="Calibri"/>
              </a:rPr>
              <a:t>INT</a:t>
            </a:r>
            <a:r>
              <a:rPr lang="en-US" dirty="0">
                <a:solidFill>
                  <a:prstClr val="black"/>
                </a:solidFill>
                <a:latin typeface="Calibri"/>
              </a:rPr>
              <a:t>,</a:t>
            </a:r>
          </a:p>
          <a:p>
            <a:pPr>
              <a:defRPr/>
            </a:pPr>
            <a:r>
              <a:rPr lang="th-TH" b="1" dirty="0">
                <a:solidFill>
                  <a:prstClr val="black"/>
                </a:solidFill>
                <a:latin typeface="Calibri"/>
              </a:rPr>
              <a:t>      </a:t>
            </a:r>
            <a:r>
              <a:rPr lang="en-US" b="1" dirty="0">
                <a:solidFill>
                  <a:prstClr val="black"/>
                </a:solidFill>
                <a:latin typeface="Calibri"/>
              </a:rPr>
              <a:t>FOREIGN KEY</a:t>
            </a:r>
            <a:r>
              <a:rPr lang="en-US" dirty="0">
                <a:solidFill>
                  <a:prstClr val="black"/>
                </a:solidFill>
                <a:latin typeface="Calibri"/>
              </a:rPr>
              <a:t> (</a:t>
            </a:r>
            <a:r>
              <a:rPr lang="en-US" dirty="0" err="1">
                <a:solidFill>
                  <a:prstClr val="black"/>
                </a:solidFill>
                <a:latin typeface="Calibri"/>
              </a:rPr>
              <a:t>DepartmentId</a:t>
            </a:r>
            <a:r>
              <a:rPr lang="en-US" dirty="0">
                <a:solidFill>
                  <a:prstClr val="black"/>
                </a:solidFill>
                <a:latin typeface="Calibri"/>
              </a:rPr>
              <a:t>) </a:t>
            </a:r>
            <a:r>
              <a:rPr lang="en-US" b="1" dirty="0">
                <a:solidFill>
                  <a:prstClr val="black"/>
                </a:solidFill>
                <a:latin typeface="Calibri"/>
              </a:rPr>
              <a:t>REFERENCES</a:t>
            </a:r>
            <a:r>
              <a:rPr lang="en-US" dirty="0">
                <a:solidFill>
                  <a:prstClr val="black"/>
                </a:solidFill>
                <a:latin typeface="Calibri"/>
              </a:rPr>
              <a:t> Department(Id)</a:t>
            </a:r>
          </a:p>
          <a:p>
            <a:pPr>
              <a:defRPr/>
            </a:pPr>
            <a:r>
              <a:rPr lang="th-TH" b="1" dirty="0">
                <a:solidFill>
                  <a:prstClr val="black"/>
                </a:solidFill>
                <a:latin typeface="Calibri"/>
              </a:rPr>
              <a:t>      </a:t>
            </a:r>
            <a:r>
              <a:rPr lang="en-US" b="1" dirty="0">
                <a:solidFill>
                  <a:prstClr val="black"/>
                </a:solidFill>
                <a:latin typeface="Calibri"/>
              </a:rPr>
              <a:t>ON</a:t>
            </a:r>
            <a:r>
              <a:rPr lang="en-US" dirty="0">
                <a:solidFill>
                  <a:prstClr val="black"/>
                </a:solidFill>
                <a:latin typeface="Calibri"/>
              </a:rPr>
              <a:t> </a:t>
            </a:r>
            <a:r>
              <a:rPr lang="en-US" b="1" dirty="0">
                <a:solidFill>
                  <a:prstClr val="black"/>
                </a:solidFill>
                <a:latin typeface="Calibri"/>
              </a:rPr>
              <a:t>DELETE</a:t>
            </a:r>
            <a:r>
              <a:rPr lang="en-US" dirty="0">
                <a:solidFill>
                  <a:prstClr val="black"/>
                </a:solidFill>
                <a:latin typeface="Calibri"/>
              </a:rPr>
              <a:t> </a:t>
            </a:r>
            <a:r>
              <a:rPr lang="en-US" b="1" dirty="0">
                <a:solidFill>
                  <a:prstClr val="black"/>
                </a:solidFill>
                <a:latin typeface="Calibri"/>
              </a:rPr>
              <a:t>NO</a:t>
            </a:r>
            <a:r>
              <a:rPr lang="en-US" dirty="0">
                <a:solidFill>
                  <a:prstClr val="black"/>
                </a:solidFill>
                <a:latin typeface="Calibri"/>
              </a:rPr>
              <a:t> </a:t>
            </a:r>
            <a:r>
              <a:rPr lang="en-US" b="1" dirty="0">
                <a:solidFill>
                  <a:prstClr val="black"/>
                </a:solidFill>
                <a:latin typeface="Calibri"/>
              </a:rPr>
              <a:t>ACTION</a:t>
            </a:r>
            <a:r>
              <a:rPr lang="en-US" dirty="0">
                <a:solidFill>
                  <a:prstClr val="black"/>
                </a:solidFill>
                <a:latin typeface="Calibri"/>
              </a:rPr>
              <a:t> </a:t>
            </a:r>
          </a:p>
          <a:p>
            <a:pPr>
              <a:defRPr/>
            </a:pPr>
            <a:r>
              <a:rPr lang="th-TH" b="1" dirty="0">
                <a:solidFill>
                  <a:prstClr val="black"/>
                </a:solidFill>
                <a:latin typeface="Calibri"/>
              </a:rPr>
              <a:t>      </a:t>
            </a:r>
            <a:r>
              <a:rPr lang="en-US" b="1" dirty="0">
                <a:solidFill>
                  <a:prstClr val="black"/>
                </a:solidFill>
                <a:latin typeface="Calibri"/>
              </a:rPr>
              <a:t>ON</a:t>
            </a:r>
            <a:r>
              <a:rPr lang="en-US" dirty="0">
                <a:solidFill>
                  <a:prstClr val="black"/>
                </a:solidFill>
                <a:latin typeface="Calibri"/>
              </a:rPr>
              <a:t> </a:t>
            </a:r>
            <a:r>
              <a:rPr lang="en-US" b="1" dirty="0">
                <a:solidFill>
                  <a:prstClr val="black"/>
                </a:solidFill>
                <a:latin typeface="Calibri"/>
              </a:rPr>
              <a:t>UPDATE</a:t>
            </a:r>
            <a:r>
              <a:rPr lang="en-US" dirty="0">
                <a:solidFill>
                  <a:prstClr val="black"/>
                </a:solidFill>
                <a:latin typeface="Calibri"/>
              </a:rPr>
              <a:t> </a:t>
            </a:r>
            <a:r>
              <a:rPr lang="en-US" b="1" dirty="0">
                <a:solidFill>
                  <a:prstClr val="black"/>
                </a:solidFill>
                <a:latin typeface="Calibri"/>
              </a:rPr>
              <a:t>NO</a:t>
            </a:r>
            <a:r>
              <a:rPr lang="en-US" dirty="0">
                <a:solidFill>
                  <a:prstClr val="black"/>
                </a:solidFill>
                <a:latin typeface="Calibri"/>
              </a:rPr>
              <a:t> </a:t>
            </a:r>
            <a:r>
              <a:rPr lang="en-US" b="1" dirty="0">
                <a:solidFill>
                  <a:prstClr val="black"/>
                </a:solidFill>
                <a:latin typeface="Calibri"/>
              </a:rPr>
              <a:t>ACTION</a:t>
            </a:r>
            <a:r>
              <a:rPr lang="en-US" dirty="0">
                <a:solidFill>
                  <a:prstClr val="black"/>
                </a:solidFill>
                <a:latin typeface="Calibri"/>
              </a:rPr>
              <a:t> </a:t>
            </a:r>
          </a:p>
          <a:p>
            <a:pPr>
              <a:defRPr/>
            </a:pPr>
            <a:r>
              <a:rPr lang="en-US" dirty="0">
                <a:solidFill>
                  <a:prstClr val="black"/>
                </a:solidFill>
                <a:latin typeface="Calibri"/>
              </a:rPr>
              <a:t>);</a:t>
            </a:r>
          </a:p>
          <a:p>
            <a:pPr>
              <a:defRPr/>
            </a:pPr>
            <a:endParaRPr lang="th-TH" dirty="0">
              <a:solidFill>
                <a:prstClr val="black"/>
              </a:solidFill>
              <a:latin typeface="Calibri"/>
            </a:endParaRPr>
          </a:p>
          <a:p>
            <a:pPr>
              <a:defRPr/>
            </a:pPr>
            <a:r>
              <a:rPr lang="en-US" b="1" dirty="0">
                <a:solidFill>
                  <a:srgbClr val="0070C0"/>
                </a:solidFill>
                <a:latin typeface="Calibri"/>
              </a:rPr>
              <a:t>INSERT</a:t>
            </a:r>
            <a:r>
              <a:rPr lang="th-TH" b="1" dirty="0">
                <a:solidFill>
                  <a:srgbClr val="0070C0"/>
                </a:solidFill>
                <a:latin typeface="Calibri"/>
              </a:rPr>
              <a:t> </a:t>
            </a:r>
            <a:r>
              <a:rPr lang="en-US" dirty="0">
                <a:solidFill>
                  <a:srgbClr val="0070C0"/>
                </a:solidFill>
                <a:latin typeface="Calibri"/>
              </a:rPr>
              <a:t> </a:t>
            </a:r>
            <a:r>
              <a:rPr lang="en-US" b="1" dirty="0">
                <a:solidFill>
                  <a:srgbClr val="0070C0"/>
                </a:solidFill>
                <a:latin typeface="Calibri"/>
              </a:rPr>
              <a:t>into</a:t>
            </a:r>
            <a:r>
              <a:rPr lang="en-US" dirty="0">
                <a:solidFill>
                  <a:srgbClr val="0070C0"/>
                </a:solidFill>
                <a:latin typeface="Calibri"/>
              </a:rPr>
              <a:t> </a:t>
            </a:r>
            <a:r>
              <a:rPr lang="th-TH" dirty="0">
                <a:solidFill>
                  <a:srgbClr val="0070C0"/>
                </a:solidFill>
                <a:latin typeface="Calibri"/>
              </a:rPr>
              <a:t> </a:t>
            </a:r>
            <a:r>
              <a:rPr lang="en-US" dirty="0">
                <a:solidFill>
                  <a:prstClr val="black"/>
                </a:solidFill>
                <a:latin typeface="Calibri"/>
              </a:rPr>
              <a:t>Employees </a:t>
            </a:r>
            <a:r>
              <a:rPr lang="en-US" b="1" dirty="0">
                <a:solidFill>
                  <a:prstClr val="black"/>
                </a:solidFill>
                <a:latin typeface="Calibri"/>
              </a:rPr>
              <a:t>VALUES</a:t>
            </a:r>
            <a:r>
              <a:rPr lang="en-US" dirty="0">
                <a:solidFill>
                  <a:prstClr val="black"/>
                </a:solidFill>
                <a:latin typeface="Calibri"/>
              </a:rPr>
              <a:t> (101, '</a:t>
            </a:r>
            <a:r>
              <a:rPr lang="en-US" dirty="0" err="1">
                <a:solidFill>
                  <a:prstClr val="black"/>
                </a:solidFill>
                <a:latin typeface="Calibri"/>
              </a:rPr>
              <a:t>Anurag</a:t>
            </a:r>
            <a:r>
              <a:rPr lang="en-US" dirty="0">
                <a:solidFill>
                  <a:prstClr val="black"/>
                </a:solidFill>
                <a:latin typeface="Calibri"/>
              </a:rPr>
              <a:t>', 10); </a:t>
            </a:r>
          </a:p>
          <a:p>
            <a:pPr>
              <a:defRPr/>
            </a:pPr>
            <a:r>
              <a:rPr lang="en-US" b="1" dirty="0">
                <a:solidFill>
                  <a:srgbClr val="0070C0"/>
                </a:solidFill>
                <a:latin typeface="Calibri"/>
              </a:rPr>
              <a:t>INSERT</a:t>
            </a:r>
            <a:r>
              <a:rPr lang="en-US" dirty="0">
                <a:solidFill>
                  <a:srgbClr val="0070C0"/>
                </a:solidFill>
                <a:latin typeface="Calibri"/>
              </a:rPr>
              <a:t> </a:t>
            </a:r>
            <a:r>
              <a:rPr lang="th-TH" dirty="0">
                <a:solidFill>
                  <a:srgbClr val="0070C0"/>
                </a:solidFill>
                <a:latin typeface="Calibri"/>
              </a:rPr>
              <a:t> </a:t>
            </a:r>
            <a:r>
              <a:rPr lang="en-US" b="1" dirty="0">
                <a:solidFill>
                  <a:srgbClr val="0070C0"/>
                </a:solidFill>
                <a:latin typeface="Calibri"/>
              </a:rPr>
              <a:t>into</a:t>
            </a:r>
            <a:r>
              <a:rPr lang="en-US" dirty="0">
                <a:solidFill>
                  <a:srgbClr val="0070C0"/>
                </a:solidFill>
                <a:latin typeface="Calibri"/>
              </a:rPr>
              <a:t> </a:t>
            </a:r>
            <a:r>
              <a:rPr lang="th-TH" dirty="0">
                <a:solidFill>
                  <a:srgbClr val="0070C0"/>
                </a:solidFill>
                <a:latin typeface="Calibri"/>
              </a:rPr>
              <a:t> </a:t>
            </a:r>
            <a:r>
              <a:rPr lang="en-US" dirty="0">
                <a:solidFill>
                  <a:prstClr val="black"/>
                </a:solidFill>
                <a:latin typeface="Calibri"/>
              </a:rPr>
              <a:t>Employees </a:t>
            </a:r>
            <a:r>
              <a:rPr lang="en-US" b="1" dirty="0">
                <a:solidFill>
                  <a:prstClr val="black"/>
                </a:solidFill>
                <a:latin typeface="Calibri"/>
              </a:rPr>
              <a:t>VALUES</a:t>
            </a:r>
            <a:r>
              <a:rPr lang="en-US" dirty="0">
                <a:solidFill>
                  <a:prstClr val="black"/>
                </a:solidFill>
                <a:latin typeface="Calibri"/>
              </a:rPr>
              <a:t> (102, '</a:t>
            </a:r>
            <a:r>
              <a:rPr lang="en-US" dirty="0" err="1">
                <a:solidFill>
                  <a:prstClr val="black"/>
                </a:solidFill>
                <a:latin typeface="Calibri"/>
              </a:rPr>
              <a:t>Pranaya</a:t>
            </a:r>
            <a:r>
              <a:rPr lang="en-US" dirty="0">
                <a:solidFill>
                  <a:prstClr val="black"/>
                </a:solidFill>
                <a:latin typeface="Calibri"/>
              </a:rPr>
              <a:t>', 20); </a:t>
            </a:r>
          </a:p>
          <a:p>
            <a:pPr>
              <a:defRPr/>
            </a:pPr>
            <a:r>
              <a:rPr lang="en-US" b="1" dirty="0">
                <a:solidFill>
                  <a:srgbClr val="0070C0"/>
                </a:solidFill>
                <a:latin typeface="Calibri"/>
              </a:rPr>
              <a:t>INSERT</a:t>
            </a:r>
            <a:r>
              <a:rPr lang="en-US" dirty="0">
                <a:solidFill>
                  <a:srgbClr val="0070C0"/>
                </a:solidFill>
                <a:latin typeface="Calibri"/>
              </a:rPr>
              <a:t> </a:t>
            </a:r>
            <a:r>
              <a:rPr lang="th-TH" dirty="0">
                <a:solidFill>
                  <a:srgbClr val="0070C0"/>
                </a:solidFill>
                <a:latin typeface="Calibri"/>
              </a:rPr>
              <a:t> </a:t>
            </a:r>
            <a:r>
              <a:rPr lang="en-US" b="1" dirty="0">
                <a:solidFill>
                  <a:srgbClr val="0070C0"/>
                </a:solidFill>
                <a:latin typeface="Calibri"/>
              </a:rPr>
              <a:t>into</a:t>
            </a:r>
            <a:r>
              <a:rPr lang="en-US" dirty="0">
                <a:solidFill>
                  <a:srgbClr val="0070C0"/>
                </a:solidFill>
                <a:latin typeface="Calibri"/>
              </a:rPr>
              <a:t> </a:t>
            </a:r>
            <a:r>
              <a:rPr lang="th-TH" dirty="0">
                <a:solidFill>
                  <a:srgbClr val="0070C0"/>
                </a:solidFill>
                <a:latin typeface="Calibri"/>
              </a:rPr>
              <a:t> </a:t>
            </a:r>
            <a:r>
              <a:rPr lang="en-US" dirty="0">
                <a:solidFill>
                  <a:prstClr val="black"/>
                </a:solidFill>
                <a:latin typeface="Calibri"/>
              </a:rPr>
              <a:t>Employees </a:t>
            </a:r>
            <a:r>
              <a:rPr lang="en-US" b="1" dirty="0">
                <a:solidFill>
                  <a:prstClr val="black"/>
                </a:solidFill>
                <a:latin typeface="Calibri"/>
              </a:rPr>
              <a:t>VALUES</a:t>
            </a:r>
            <a:r>
              <a:rPr lang="en-US" dirty="0">
                <a:solidFill>
                  <a:prstClr val="black"/>
                </a:solidFill>
                <a:latin typeface="Calibri"/>
              </a:rPr>
              <a:t> (103, '</a:t>
            </a:r>
            <a:r>
              <a:rPr lang="en-US" dirty="0" err="1">
                <a:solidFill>
                  <a:prstClr val="black"/>
                </a:solidFill>
                <a:latin typeface="Calibri"/>
              </a:rPr>
              <a:t>Hina</a:t>
            </a:r>
            <a:r>
              <a:rPr lang="en-US" dirty="0">
                <a:solidFill>
                  <a:prstClr val="black"/>
                </a:solidFill>
                <a:latin typeface="Calibri"/>
              </a:rPr>
              <a:t>', 30);</a:t>
            </a:r>
          </a:p>
          <a:p>
            <a:pPr>
              <a:defRPr/>
            </a:pPr>
            <a:r>
              <a:rPr lang="en-US" b="1" dirty="0">
                <a:solidFill>
                  <a:srgbClr val="0070C0"/>
                </a:solidFill>
                <a:latin typeface="Calibri"/>
              </a:rPr>
              <a:t>INSERT </a:t>
            </a:r>
            <a:r>
              <a:rPr lang="th-TH" b="1" dirty="0">
                <a:solidFill>
                  <a:srgbClr val="0070C0"/>
                </a:solidFill>
                <a:latin typeface="Calibri"/>
              </a:rPr>
              <a:t> </a:t>
            </a:r>
            <a:r>
              <a:rPr lang="en-US" b="1" dirty="0">
                <a:solidFill>
                  <a:srgbClr val="0070C0"/>
                </a:solidFill>
                <a:latin typeface="Calibri"/>
              </a:rPr>
              <a:t>into </a:t>
            </a:r>
            <a:r>
              <a:rPr lang="th-TH" b="1" dirty="0">
                <a:solidFill>
                  <a:srgbClr val="0070C0"/>
                </a:solidFill>
                <a:latin typeface="Calibri"/>
              </a:rPr>
              <a:t> </a:t>
            </a:r>
            <a:r>
              <a:rPr lang="en-US" dirty="0">
                <a:solidFill>
                  <a:prstClr val="black"/>
                </a:solidFill>
                <a:latin typeface="Calibri"/>
              </a:rPr>
              <a:t>Employees</a:t>
            </a:r>
            <a:r>
              <a:rPr lang="en-US" b="1" dirty="0">
                <a:solidFill>
                  <a:prstClr val="black"/>
                </a:solidFill>
                <a:latin typeface="Calibri"/>
              </a:rPr>
              <a:t> VALUES </a:t>
            </a:r>
            <a:r>
              <a:rPr lang="en-US" dirty="0">
                <a:solidFill>
                  <a:prstClr val="black"/>
                </a:solidFill>
                <a:latin typeface="Calibri"/>
              </a:rPr>
              <a:t>(104, '</a:t>
            </a:r>
            <a:r>
              <a:rPr lang="en-US" dirty="0" err="1">
                <a:solidFill>
                  <a:prstClr val="black"/>
                </a:solidFill>
                <a:latin typeface="Calibri"/>
              </a:rPr>
              <a:t>apirak</a:t>
            </a:r>
            <a:r>
              <a:rPr lang="en-US" dirty="0">
                <a:solidFill>
                  <a:prstClr val="black"/>
                </a:solidFill>
                <a:latin typeface="Calibri"/>
              </a:rPr>
              <a:t>', 10); </a:t>
            </a:r>
          </a:p>
          <a:p>
            <a:pPr>
              <a:defRPr/>
            </a:pPr>
            <a:endParaRPr lang="en-US" dirty="0">
              <a:solidFill>
                <a:prstClr val="black"/>
              </a:solidFill>
              <a:latin typeface="Calibri"/>
            </a:endParaRPr>
          </a:p>
        </p:txBody>
      </p:sp>
      <p:sp>
        <p:nvSpPr>
          <p:cNvPr id="3" name="TextBox 2">
            <a:extLst>
              <a:ext uri="{FF2B5EF4-FFF2-40B4-BE49-F238E27FC236}">
                <a16:creationId xmlns:a16="http://schemas.microsoft.com/office/drawing/2014/main" id="{0BF3F220-70D2-CA4C-7A56-63AA236D6284}"/>
              </a:ext>
            </a:extLst>
          </p:cNvPr>
          <p:cNvSpPr txBox="1"/>
          <p:nvPr/>
        </p:nvSpPr>
        <p:spPr>
          <a:xfrm>
            <a:off x="3046971" y="6427758"/>
            <a:ext cx="6098058" cy="369332"/>
          </a:xfrm>
          <a:prstGeom prst="rect">
            <a:avLst/>
          </a:prstGeom>
          <a:noFill/>
        </p:spPr>
        <p:txBody>
          <a:bodyPr wrap="square">
            <a:spAutoFit/>
          </a:bodyPr>
          <a:lstStyle/>
          <a:p>
            <a:r>
              <a:rPr lang="en-US" dirty="0"/>
              <a:t>https://luckkrit.github.io/cos3103-slides/3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226" name="Picture 2">
            <a:extLst>
              <a:ext uri="{FF2B5EF4-FFF2-40B4-BE49-F238E27FC236}">
                <a16:creationId xmlns:a16="http://schemas.microsoft.com/office/drawing/2014/main" id="{78D6BE96-C5C7-7818-6401-3E5EC99163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1" y="685800"/>
            <a:ext cx="3376613"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27" name="Picture 3">
            <a:extLst>
              <a:ext uri="{FF2B5EF4-FFF2-40B4-BE49-F238E27FC236}">
                <a16:creationId xmlns:a16="http://schemas.microsoft.com/office/drawing/2014/main" id="{CED28972-536B-68E7-0611-635A8EF36C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10400" y="685800"/>
            <a:ext cx="2057400" cy="2027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228" name="สี่เหลี่ยมผืนผ้า 5">
            <a:extLst>
              <a:ext uri="{FF2B5EF4-FFF2-40B4-BE49-F238E27FC236}">
                <a16:creationId xmlns:a16="http://schemas.microsoft.com/office/drawing/2014/main" id="{622CF24A-4FC8-48B8-F67A-66CF6CE137E2}"/>
              </a:ext>
            </a:extLst>
          </p:cNvPr>
          <p:cNvSpPr>
            <a:spLocks noChangeArrowheads="1"/>
          </p:cNvSpPr>
          <p:nvPr/>
        </p:nvSpPr>
        <p:spPr bwMode="auto">
          <a:xfrm>
            <a:off x="1905000" y="3962401"/>
            <a:ext cx="822960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50000"/>
              </a:spcBef>
              <a:spcAft>
                <a:spcPts val="400"/>
              </a:spcAft>
              <a:buClr>
                <a:srgbClr val="0C7B9C"/>
              </a:buClr>
              <a:buSzPct val="70000"/>
              <a:buNone/>
            </a:pPr>
            <a:r>
              <a:rPr lang="en-US" sz="2000" dirty="0">
                <a:solidFill>
                  <a:srgbClr val="FF0000"/>
                </a:solidFill>
              </a:rPr>
              <a:t>ERROR: update or delete on table "department" violates foreign key constraint "</a:t>
            </a:r>
            <a:r>
              <a:rPr lang="en-US" sz="2000" dirty="0" err="1">
                <a:solidFill>
                  <a:srgbClr val="FF0000"/>
                </a:solidFill>
              </a:rPr>
              <a:t>employees_department_id_fkey</a:t>
            </a:r>
            <a:r>
              <a:rPr lang="en-US" sz="2000" dirty="0">
                <a:solidFill>
                  <a:srgbClr val="FF0000"/>
                </a:solidFill>
              </a:rPr>
              <a:t>" on table "employees" DETAIL: Key (id)=(10) is still referenced from table "employees".</a:t>
            </a:r>
            <a:endParaRPr lang="en-US" altLang="en-US" sz="2000" dirty="0">
              <a:solidFill>
                <a:srgbClr val="FF0000"/>
              </a:solidFill>
              <a:latin typeface="Arial" panose="020B0604020202020204" pitchFamily="34" charset="0"/>
            </a:endParaRPr>
          </a:p>
        </p:txBody>
      </p:sp>
      <p:sp>
        <p:nvSpPr>
          <p:cNvPr id="7" name="สี่เหลี่ยมผืนผ้า 6">
            <a:extLst>
              <a:ext uri="{FF2B5EF4-FFF2-40B4-BE49-F238E27FC236}">
                <a16:creationId xmlns:a16="http://schemas.microsoft.com/office/drawing/2014/main" id="{F12930DC-B789-0D19-E051-F2D042E61B01}"/>
              </a:ext>
            </a:extLst>
          </p:cNvPr>
          <p:cNvSpPr/>
          <p:nvPr/>
        </p:nvSpPr>
        <p:spPr>
          <a:xfrm>
            <a:off x="1752600" y="2743200"/>
            <a:ext cx="8458200" cy="1671638"/>
          </a:xfrm>
          <a:prstGeom prst="rect">
            <a:avLst/>
          </a:prstGeom>
        </p:spPr>
        <p:txBody>
          <a:bodyPr>
            <a:spAutoFit/>
          </a:bodyPr>
          <a:lstStyle/>
          <a:p>
            <a:pPr algn="ctr">
              <a:spcBef>
                <a:spcPct val="50000"/>
              </a:spcBef>
              <a:spcAft>
                <a:spcPts val="400"/>
              </a:spcAft>
              <a:buClr>
                <a:srgbClr val="0C7B9C"/>
              </a:buClr>
              <a:buSzPct val="70000"/>
              <a:defRPr/>
            </a:pPr>
            <a:endParaRPr lang="th-TH" sz="2400" b="1" dirty="0"/>
          </a:p>
          <a:p>
            <a:pPr algn="ctr">
              <a:spcBef>
                <a:spcPct val="50000"/>
              </a:spcBef>
              <a:spcAft>
                <a:spcPts val="400"/>
              </a:spcAft>
              <a:buClr>
                <a:srgbClr val="0C7B9C"/>
              </a:buClr>
              <a:buSzPct val="70000"/>
              <a:defRPr/>
            </a:pPr>
            <a:r>
              <a:rPr lang="th-TH" sz="2400" b="1" dirty="0">
                <a:solidFill>
                  <a:schemeClr val="tx2">
                    <a:lumMod val="60000"/>
                    <a:lumOff val="40000"/>
                  </a:schemeClr>
                </a:solidFill>
              </a:rPr>
              <a:t> </a:t>
            </a:r>
            <a:r>
              <a:rPr lang="en-US" sz="2400" b="1" dirty="0">
                <a:solidFill>
                  <a:schemeClr val="tx2">
                    <a:lumMod val="60000"/>
                    <a:lumOff val="40000"/>
                  </a:schemeClr>
                </a:solidFill>
              </a:rPr>
              <a:t>DELETE FROM </a:t>
            </a:r>
            <a:r>
              <a:rPr lang="en-US" sz="2400" b="1" dirty="0">
                <a:solidFill>
                  <a:srgbClr val="FF0000"/>
                </a:solidFill>
              </a:rPr>
              <a:t>Department </a:t>
            </a:r>
            <a:r>
              <a:rPr lang="en-US" sz="2400" b="1" dirty="0">
                <a:solidFill>
                  <a:schemeClr val="tx2">
                    <a:lumMod val="60000"/>
                    <a:lumOff val="40000"/>
                  </a:schemeClr>
                </a:solidFill>
              </a:rPr>
              <a:t>WHERE</a:t>
            </a:r>
            <a:r>
              <a:rPr lang="en-US" sz="2400" b="1" dirty="0">
                <a:solidFill>
                  <a:srgbClr val="FF0000"/>
                </a:solidFill>
              </a:rPr>
              <a:t> Id = 10;</a:t>
            </a:r>
            <a:endParaRPr lang="th-TH" sz="2400" b="1" dirty="0">
              <a:solidFill>
                <a:srgbClr val="FF0000"/>
              </a:solidFill>
            </a:endParaRPr>
          </a:p>
          <a:p>
            <a:pPr algn="ctr">
              <a:spcBef>
                <a:spcPct val="50000"/>
              </a:spcBef>
              <a:spcAft>
                <a:spcPts val="400"/>
              </a:spcAft>
              <a:buClr>
                <a:srgbClr val="0C7B9C"/>
              </a:buClr>
              <a:buSzPct val="70000"/>
              <a:defRPr/>
            </a:pPr>
            <a:endParaRPr lang="en-US" sz="2400" dirty="0">
              <a:solidFill>
                <a:srgbClr val="FF0000"/>
              </a:solidFill>
            </a:endParaRPr>
          </a:p>
        </p:txBody>
      </p:sp>
      <p:sp>
        <p:nvSpPr>
          <p:cNvPr id="52230" name="TextBox 7">
            <a:extLst>
              <a:ext uri="{FF2B5EF4-FFF2-40B4-BE49-F238E27FC236}">
                <a16:creationId xmlns:a16="http://schemas.microsoft.com/office/drawing/2014/main" id="{0E6265A0-088E-2EC9-A872-B4DDDEC5C90B}"/>
              </a:ext>
            </a:extLst>
          </p:cNvPr>
          <p:cNvSpPr txBox="1">
            <a:spLocks noChangeArrowheads="1"/>
          </p:cNvSpPr>
          <p:nvPr/>
        </p:nvSpPr>
        <p:spPr bwMode="auto">
          <a:xfrm>
            <a:off x="2825432" y="304800"/>
            <a:ext cx="15103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50000"/>
              </a:spcBef>
              <a:spcAft>
                <a:spcPts val="400"/>
              </a:spcAft>
              <a:buClr>
                <a:srgbClr val="0C7B9C"/>
              </a:buClr>
              <a:buSzPct val="70000"/>
              <a:buNone/>
            </a:pPr>
            <a:r>
              <a:rPr lang="en-US" altLang="en-US" sz="2000" b="1">
                <a:latin typeface="Arial" panose="020B0604020202020204" pitchFamily="34" charset="0"/>
              </a:rPr>
              <a:t>employees</a:t>
            </a:r>
          </a:p>
        </p:txBody>
      </p:sp>
      <p:sp>
        <p:nvSpPr>
          <p:cNvPr id="52231" name="TextBox 9">
            <a:extLst>
              <a:ext uri="{FF2B5EF4-FFF2-40B4-BE49-F238E27FC236}">
                <a16:creationId xmlns:a16="http://schemas.microsoft.com/office/drawing/2014/main" id="{FF207DD9-9C2A-6F51-B355-7350DBC85982}"/>
              </a:ext>
            </a:extLst>
          </p:cNvPr>
          <p:cNvSpPr txBox="1">
            <a:spLocks noChangeArrowheads="1"/>
          </p:cNvSpPr>
          <p:nvPr/>
        </p:nvSpPr>
        <p:spPr bwMode="auto">
          <a:xfrm>
            <a:off x="7308984" y="381000"/>
            <a:ext cx="158088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50000"/>
              </a:spcBef>
              <a:spcAft>
                <a:spcPts val="400"/>
              </a:spcAft>
              <a:buClr>
                <a:srgbClr val="0C7B9C"/>
              </a:buClr>
              <a:buSzPct val="70000"/>
              <a:buNone/>
            </a:pPr>
            <a:r>
              <a:rPr lang="en-US" altLang="en-US" sz="2000" b="1">
                <a:latin typeface="Arial" panose="020B0604020202020204" pitchFamily="34" charset="0"/>
              </a:rPr>
              <a:t>department</a:t>
            </a:r>
          </a:p>
        </p:txBody>
      </p:sp>
      <p:sp>
        <p:nvSpPr>
          <p:cNvPr id="52232" name="สี่เหลี่ยมผืนผ้า 5">
            <a:extLst>
              <a:ext uri="{FF2B5EF4-FFF2-40B4-BE49-F238E27FC236}">
                <a16:creationId xmlns:a16="http://schemas.microsoft.com/office/drawing/2014/main" id="{6DC96F6A-9AC0-DDF7-9387-7FEA390D0FEE}"/>
              </a:ext>
            </a:extLst>
          </p:cNvPr>
          <p:cNvSpPr>
            <a:spLocks noChangeArrowheads="1"/>
          </p:cNvSpPr>
          <p:nvPr/>
        </p:nvSpPr>
        <p:spPr bwMode="auto">
          <a:xfrm>
            <a:off x="2133600" y="0"/>
            <a:ext cx="8305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a:solidFill>
                  <a:srgbClr val="000000"/>
                </a:solidFill>
              </a:rPr>
              <a:t>https://dotnettutorials.net/lesson/referential-integrity-constraints-in-mysql/</a:t>
            </a:r>
          </a:p>
        </p:txBody>
      </p:sp>
      <p:pic>
        <p:nvPicPr>
          <p:cNvPr id="52233" name="Picture 1">
            <a:extLst>
              <a:ext uri="{FF2B5EF4-FFF2-40B4-BE49-F238E27FC236}">
                <a16:creationId xmlns:a16="http://schemas.microsoft.com/office/drawing/2014/main" id="{A2FBEB49-3611-1E63-1AE9-56479C50F8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19776" y="5467351"/>
            <a:ext cx="4314825" cy="149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39C91360-2D00-FE7F-0276-2AE13589E7C8}"/>
              </a:ext>
            </a:extLst>
          </p:cNvPr>
          <p:cNvSpPr txBox="1"/>
          <p:nvPr/>
        </p:nvSpPr>
        <p:spPr>
          <a:xfrm>
            <a:off x="531578" y="6215063"/>
            <a:ext cx="6098058" cy="369332"/>
          </a:xfrm>
          <a:prstGeom prst="rect">
            <a:avLst/>
          </a:prstGeom>
          <a:noFill/>
        </p:spPr>
        <p:txBody>
          <a:bodyPr wrap="square">
            <a:spAutoFit/>
          </a:bodyPr>
          <a:lstStyle/>
          <a:p>
            <a:r>
              <a:rPr lang="en-US" dirty="0"/>
              <a:t>https://luckkrit.github.io/cos3103-slides/4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a:extLst>
              <a:ext uri="{FF2B5EF4-FFF2-40B4-BE49-F238E27FC236}">
                <a16:creationId xmlns:a16="http://schemas.microsoft.com/office/drawing/2014/main" id="{156F530A-6A1F-B052-E196-242BB8ADE3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1" y="762000"/>
            <a:ext cx="3376613"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5" name="Picture 3">
            <a:extLst>
              <a:ext uri="{FF2B5EF4-FFF2-40B4-BE49-F238E27FC236}">
                <a16:creationId xmlns:a16="http://schemas.microsoft.com/office/drawing/2014/main" id="{1C227B8B-FB80-D072-DA39-296DE8123B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10400" y="762000"/>
            <a:ext cx="2057400" cy="2027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276" name="สี่เหลี่ยมผืนผ้า 5">
            <a:extLst>
              <a:ext uri="{FF2B5EF4-FFF2-40B4-BE49-F238E27FC236}">
                <a16:creationId xmlns:a16="http://schemas.microsoft.com/office/drawing/2014/main" id="{234BB98E-D35D-9302-3F53-5CB92CCD2189}"/>
              </a:ext>
            </a:extLst>
          </p:cNvPr>
          <p:cNvSpPr>
            <a:spLocks noChangeArrowheads="1"/>
          </p:cNvSpPr>
          <p:nvPr/>
        </p:nvSpPr>
        <p:spPr bwMode="auto">
          <a:xfrm>
            <a:off x="1676400" y="4418014"/>
            <a:ext cx="861060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50000"/>
              </a:spcBef>
              <a:spcAft>
                <a:spcPts val="400"/>
              </a:spcAft>
              <a:buClr>
                <a:srgbClr val="0C7B9C"/>
              </a:buClr>
              <a:buSzPct val="70000"/>
              <a:buNone/>
            </a:pPr>
            <a:r>
              <a:rPr lang="th-TH" altLang="en-US" sz="2000" dirty="0">
                <a:solidFill>
                  <a:srgbClr val="FF0000"/>
                </a:solidFill>
                <a:latin typeface="Arial" panose="020B0604020202020204" pitchFamily="34" charset="0"/>
              </a:rPr>
              <a:t> </a:t>
            </a:r>
            <a:r>
              <a:rPr lang="en-US" sz="2000" dirty="0">
                <a:solidFill>
                  <a:srgbClr val="FF0000"/>
                </a:solidFill>
              </a:rPr>
              <a:t>ERROR: update or delete on table "department" violates foreign key constraint "</a:t>
            </a:r>
            <a:r>
              <a:rPr lang="en-US" sz="2000" dirty="0" err="1">
                <a:solidFill>
                  <a:srgbClr val="FF0000"/>
                </a:solidFill>
              </a:rPr>
              <a:t>employees_department_id_fkey</a:t>
            </a:r>
            <a:r>
              <a:rPr lang="en-US" sz="2000" dirty="0">
                <a:solidFill>
                  <a:srgbClr val="FF0000"/>
                </a:solidFill>
              </a:rPr>
              <a:t>" on table "employees" DETAIL: Key (id)=(30) is still referenced from table "employees".</a:t>
            </a:r>
            <a:endParaRPr lang="en-US" altLang="en-US" sz="2000" dirty="0">
              <a:solidFill>
                <a:srgbClr val="FF0000"/>
              </a:solidFill>
              <a:latin typeface="Arial" panose="020B0604020202020204" pitchFamily="34" charset="0"/>
            </a:endParaRPr>
          </a:p>
        </p:txBody>
      </p:sp>
      <p:sp>
        <p:nvSpPr>
          <p:cNvPr id="7" name="สี่เหลี่ยมผืนผ้า 6">
            <a:extLst>
              <a:ext uri="{FF2B5EF4-FFF2-40B4-BE49-F238E27FC236}">
                <a16:creationId xmlns:a16="http://schemas.microsoft.com/office/drawing/2014/main" id="{D64AE48B-9F35-B360-AB41-265447174932}"/>
              </a:ext>
            </a:extLst>
          </p:cNvPr>
          <p:cNvSpPr/>
          <p:nvPr/>
        </p:nvSpPr>
        <p:spPr>
          <a:xfrm>
            <a:off x="2743200" y="2667000"/>
            <a:ext cx="7391400" cy="1671638"/>
          </a:xfrm>
          <a:prstGeom prst="rect">
            <a:avLst/>
          </a:prstGeom>
        </p:spPr>
        <p:txBody>
          <a:bodyPr>
            <a:spAutoFit/>
          </a:bodyPr>
          <a:lstStyle/>
          <a:p>
            <a:pPr algn="ctr">
              <a:spcBef>
                <a:spcPct val="50000"/>
              </a:spcBef>
              <a:spcAft>
                <a:spcPts val="400"/>
              </a:spcAft>
              <a:buClr>
                <a:srgbClr val="0C7B9C"/>
              </a:buClr>
              <a:buSzPct val="70000"/>
              <a:defRPr/>
            </a:pPr>
            <a:endParaRPr lang="th-TH" sz="2400" dirty="0">
              <a:solidFill>
                <a:srgbClr val="FF0000"/>
              </a:solidFill>
            </a:endParaRPr>
          </a:p>
          <a:p>
            <a:pPr algn="ctr">
              <a:spcBef>
                <a:spcPct val="50000"/>
              </a:spcBef>
              <a:spcAft>
                <a:spcPts val="400"/>
              </a:spcAft>
              <a:buClr>
                <a:srgbClr val="0C7B9C"/>
              </a:buClr>
              <a:buSzPct val="70000"/>
              <a:defRPr/>
            </a:pPr>
            <a:r>
              <a:rPr lang="en-US" sz="2400" b="1" dirty="0">
                <a:solidFill>
                  <a:schemeClr val="tx2">
                    <a:lumMod val="60000"/>
                    <a:lumOff val="40000"/>
                  </a:schemeClr>
                </a:solidFill>
              </a:rPr>
              <a:t>UPDATE</a:t>
            </a:r>
            <a:r>
              <a:rPr lang="en-US" sz="2400" b="1" dirty="0">
                <a:solidFill>
                  <a:srgbClr val="FF0000"/>
                </a:solidFill>
              </a:rPr>
              <a:t> Department </a:t>
            </a:r>
            <a:r>
              <a:rPr lang="en-US" sz="2400" b="1" dirty="0">
                <a:solidFill>
                  <a:schemeClr val="tx2">
                    <a:lumMod val="60000"/>
                    <a:lumOff val="40000"/>
                  </a:schemeClr>
                </a:solidFill>
              </a:rPr>
              <a:t>SET</a:t>
            </a:r>
            <a:r>
              <a:rPr lang="en-US" sz="2400" b="1" dirty="0">
                <a:solidFill>
                  <a:srgbClr val="FF0000"/>
                </a:solidFill>
              </a:rPr>
              <a:t> Id = 40 </a:t>
            </a:r>
            <a:r>
              <a:rPr lang="en-US" sz="2400" b="1" dirty="0">
                <a:solidFill>
                  <a:schemeClr val="tx2">
                    <a:lumMod val="60000"/>
                    <a:lumOff val="40000"/>
                  </a:schemeClr>
                </a:solidFill>
              </a:rPr>
              <a:t>WHERE</a:t>
            </a:r>
            <a:r>
              <a:rPr lang="en-US" sz="2400" b="1" dirty="0">
                <a:solidFill>
                  <a:srgbClr val="FF0000"/>
                </a:solidFill>
              </a:rPr>
              <a:t> Id = 30;</a:t>
            </a:r>
            <a:endParaRPr lang="th-TH" sz="2400" b="1" dirty="0">
              <a:solidFill>
                <a:srgbClr val="FF0000"/>
              </a:solidFill>
            </a:endParaRPr>
          </a:p>
          <a:p>
            <a:pPr algn="ctr">
              <a:spcBef>
                <a:spcPct val="50000"/>
              </a:spcBef>
              <a:spcAft>
                <a:spcPts val="400"/>
              </a:spcAft>
              <a:buClr>
                <a:srgbClr val="0C7B9C"/>
              </a:buClr>
              <a:buSzPct val="70000"/>
              <a:defRPr/>
            </a:pPr>
            <a:endParaRPr lang="en-US" sz="2400" dirty="0">
              <a:solidFill>
                <a:srgbClr val="FF0000"/>
              </a:solidFill>
            </a:endParaRPr>
          </a:p>
        </p:txBody>
      </p:sp>
      <p:sp>
        <p:nvSpPr>
          <p:cNvPr id="54278" name="TextBox 7">
            <a:extLst>
              <a:ext uri="{FF2B5EF4-FFF2-40B4-BE49-F238E27FC236}">
                <a16:creationId xmlns:a16="http://schemas.microsoft.com/office/drawing/2014/main" id="{95CB527A-0E99-8AF5-D215-AAC4791C5C18}"/>
              </a:ext>
            </a:extLst>
          </p:cNvPr>
          <p:cNvSpPr txBox="1">
            <a:spLocks noChangeArrowheads="1"/>
          </p:cNvSpPr>
          <p:nvPr/>
        </p:nvSpPr>
        <p:spPr bwMode="auto">
          <a:xfrm>
            <a:off x="2825432" y="304800"/>
            <a:ext cx="15103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50000"/>
              </a:spcBef>
              <a:spcAft>
                <a:spcPts val="400"/>
              </a:spcAft>
              <a:buClr>
                <a:srgbClr val="0C7B9C"/>
              </a:buClr>
              <a:buSzPct val="70000"/>
              <a:buNone/>
            </a:pPr>
            <a:r>
              <a:rPr lang="en-US" altLang="en-US" sz="2000" b="1">
                <a:latin typeface="Arial" panose="020B0604020202020204" pitchFamily="34" charset="0"/>
              </a:rPr>
              <a:t>employees</a:t>
            </a:r>
          </a:p>
        </p:txBody>
      </p:sp>
      <p:sp>
        <p:nvSpPr>
          <p:cNvPr id="54279" name="TextBox 8">
            <a:extLst>
              <a:ext uri="{FF2B5EF4-FFF2-40B4-BE49-F238E27FC236}">
                <a16:creationId xmlns:a16="http://schemas.microsoft.com/office/drawing/2014/main" id="{0C37E90B-77CE-945D-76E1-D527006E4C0B}"/>
              </a:ext>
            </a:extLst>
          </p:cNvPr>
          <p:cNvSpPr txBox="1">
            <a:spLocks noChangeArrowheads="1"/>
          </p:cNvSpPr>
          <p:nvPr/>
        </p:nvSpPr>
        <p:spPr bwMode="auto">
          <a:xfrm>
            <a:off x="7308984" y="381000"/>
            <a:ext cx="158088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50000"/>
              </a:spcBef>
              <a:spcAft>
                <a:spcPts val="400"/>
              </a:spcAft>
              <a:buClr>
                <a:srgbClr val="0C7B9C"/>
              </a:buClr>
              <a:buSzPct val="70000"/>
              <a:buNone/>
            </a:pPr>
            <a:r>
              <a:rPr lang="en-US" altLang="en-US" sz="2000" b="1">
                <a:latin typeface="Arial" panose="020B0604020202020204" pitchFamily="34" charset="0"/>
              </a:rPr>
              <a:t>department</a:t>
            </a:r>
          </a:p>
        </p:txBody>
      </p:sp>
      <p:sp>
        <p:nvSpPr>
          <p:cNvPr id="3" name="TextBox 2">
            <a:extLst>
              <a:ext uri="{FF2B5EF4-FFF2-40B4-BE49-F238E27FC236}">
                <a16:creationId xmlns:a16="http://schemas.microsoft.com/office/drawing/2014/main" id="{0E3A2B3C-16CA-F0EE-BA2F-E132DE74B048}"/>
              </a:ext>
            </a:extLst>
          </p:cNvPr>
          <p:cNvSpPr txBox="1"/>
          <p:nvPr/>
        </p:nvSpPr>
        <p:spPr>
          <a:xfrm>
            <a:off x="696678" y="6096000"/>
            <a:ext cx="6098058" cy="369332"/>
          </a:xfrm>
          <a:prstGeom prst="rect">
            <a:avLst/>
          </a:prstGeom>
          <a:noFill/>
        </p:spPr>
        <p:txBody>
          <a:bodyPr wrap="square">
            <a:spAutoFit/>
          </a:bodyPr>
          <a:lstStyle/>
          <a:p>
            <a:r>
              <a:rPr lang="en-US" dirty="0"/>
              <a:t>https://luckkrit.github.io/cos3103-slides/5</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a:extLst>
              <a:ext uri="{FF2B5EF4-FFF2-40B4-BE49-F238E27FC236}">
                <a16:creationId xmlns:a16="http://schemas.microsoft.com/office/drawing/2014/main" id="{7F4B2CB7-71A8-D3ED-0F7A-DFB23B201721}"/>
              </a:ext>
            </a:extLst>
          </p:cNvPr>
          <p:cNvSpPr>
            <a:spLocks noGrp="1" noChangeArrowheads="1"/>
          </p:cNvSpPr>
          <p:nvPr>
            <p:ph type="title"/>
          </p:nvPr>
        </p:nvSpPr>
        <p:spPr/>
        <p:txBody>
          <a:bodyPr/>
          <a:lstStyle/>
          <a:p>
            <a:endParaRPr lang="en-US" altLang="en-US"/>
          </a:p>
        </p:txBody>
      </p:sp>
      <p:pic>
        <p:nvPicPr>
          <p:cNvPr id="56323" name="Picture 2">
            <a:extLst>
              <a:ext uri="{FF2B5EF4-FFF2-40B4-BE49-F238E27FC236}">
                <a16:creationId xmlns:a16="http://schemas.microsoft.com/office/drawing/2014/main" id="{61001D1F-0635-ADE8-2473-832DA5F60A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2201" y="427038"/>
            <a:ext cx="3376613"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24" name="Picture 3">
            <a:extLst>
              <a:ext uri="{FF2B5EF4-FFF2-40B4-BE49-F238E27FC236}">
                <a16:creationId xmlns:a16="http://schemas.microsoft.com/office/drawing/2014/main" id="{5FF78161-FF16-FDB2-701C-A96F113745A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15200" y="427039"/>
            <a:ext cx="2057400" cy="2027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สี่เหลี่ยมผืนผ้า 6">
            <a:extLst>
              <a:ext uri="{FF2B5EF4-FFF2-40B4-BE49-F238E27FC236}">
                <a16:creationId xmlns:a16="http://schemas.microsoft.com/office/drawing/2014/main" id="{F7B3BDDD-08E3-2DD3-6AB3-18219F2D8020}"/>
              </a:ext>
            </a:extLst>
          </p:cNvPr>
          <p:cNvSpPr/>
          <p:nvPr/>
        </p:nvSpPr>
        <p:spPr>
          <a:xfrm>
            <a:off x="1752600" y="2743200"/>
            <a:ext cx="8458200" cy="1671638"/>
          </a:xfrm>
          <a:prstGeom prst="rect">
            <a:avLst/>
          </a:prstGeom>
        </p:spPr>
        <p:txBody>
          <a:bodyPr>
            <a:spAutoFit/>
          </a:bodyPr>
          <a:lstStyle/>
          <a:p>
            <a:pPr algn="ctr">
              <a:spcBef>
                <a:spcPct val="50000"/>
              </a:spcBef>
              <a:spcAft>
                <a:spcPts val="400"/>
              </a:spcAft>
              <a:buClr>
                <a:srgbClr val="0C7B9C"/>
              </a:buClr>
              <a:buSzPct val="70000"/>
              <a:defRPr/>
            </a:pPr>
            <a:endParaRPr lang="th-TH" sz="2400" b="1" dirty="0"/>
          </a:p>
          <a:p>
            <a:pPr algn="ctr">
              <a:spcBef>
                <a:spcPct val="50000"/>
              </a:spcBef>
              <a:spcAft>
                <a:spcPts val="400"/>
              </a:spcAft>
              <a:buClr>
                <a:srgbClr val="0C7B9C"/>
              </a:buClr>
              <a:buSzPct val="70000"/>
              <a:defRPr/>
            </a:pPr>
            <a:r>
              <a:rPr lang="th-TH" sz="2400" b="1" dirty="0">
                <a:solidFill>
                  <a:schemeClr val="tx2">
                    <a:lumMod val="60000"/>
                    <a:lumOff val="40000"/>
                  </a:schemeClr>
                </a:solidFill>
              </a:rPr>
              <a:t> </a:t>
            </a:r>
            <a:r>
              <a:rPr lang="en-US" sz="2400" b="1" dirty="0">
                <a:solidFill>
                  <a:schemeClr val="tx2">
                    <a:lumMod val="60000"/>
                    <a:lumOff val="40000"/>
                  </a:schemeClr>
                </a:solidFill>
              </a:rPr>
              <a:t>DELETE FROM </a:t>
            </a:r>
            <a:r>
              <a:rPr lang="en-US" sz="2400" b="1" dirty="0">
                <a:solidFill>
                  <a:srgbClr val="FF0000"/>
                </a:solidFill>
              </a:rPr>
              <a:t>employees </a:t>
            </a:r>
            <a:r>
              <a:rPr lang="en-US" sz="2400" b="1" dirty="0">
                <a:solidFill>
                  <a:schemeClr val="tx2">
                    <a:lumMod val="60000"/>
                    <a:lumOff val="40000"/>
                  </a:schemeClr>
                </a:solidFill>
              </a:rPr>
              <a:t>WHERE</a:t>
            </a:r>
            <a:r>
              <a:rPr lang="en-US" sz="2400" b="1" dirty="0">
                <a:solidFill>
                  <a:srgbClr val="FF0000"/>
                </a:solidFill>
              </a:rPr>
              <a:t> Id = 101;</a:t>
            </a:r>
            <a:endParaRPr lang="th-TH" sz="2400" b="1" dirty="0">
              <a:solidFill>
                <a:srgbClr val="FF0000"/>
              </a:solidFill>
            </a:endParaRPr>
          </a:p>
          <a:p>
            <a:pPr algn="ctr">
              <a:spcBef>
                <a:spcPct val="50000"/>
              </a:spcBef>
              <a:spcAft>
                <a:spcPts val="400"/>
              </a:spcAft>
              <a:buClr>
                <a:srgbClr val="0C7B9C"/>
              </a:buClr>
              <a:buSzPct val="70000"/>
              <a:defRPr/>
            </a:pPr>
            <a:endParaRPr lang="en-US" sz="2400" dirty="0">
              <a:solidFill>
                <a:srgbClr val="FF0000"/>
              </a:solidFill>
            </a:endParaRPr>
          </a:p>
        </p:txBody>
      </p:sp>
      <p:sp>
        <p:nvSpPr>
          <p:cNvPr id="56326" name="TextBox 7">
            <a:extLst>
              <a:ext uri="{FF2B5EF4-FFF2-40B4-BE49-F238E27FC236}">
                <a16:creationId xmlns:a16="http://schemas.microsoft.com/office/drawing/2014/main" id="{91E1AD95-76C4-FCBD-C781-335DB22751AE}"/>
              </a:ext>
            </a:extLst>
          </p:cNvPr>
          <p:cNvSpPr txBox="1">
            <a:spLocks noChangeArrowheads="1"/>
          </p:cNvSpPr>
          <p:nvPr/>
        </p:nvSpPr>
        <p:spPr bwMode="auto">
          <a:xfrm>
            <a:off x="2825432" y="-76200"/>
            <a:ext cx="15103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50000"/>
              </a:spcBef>
              <a:spcAft>
                <a:spcPts val="400"/>
              </a:spcAft>
              <a:buClr>
                <a:srgbClr val="0C7B9C"/>
              </a:buClr>
              <a:buSzPct val="70000"/>
              <a:buNone/>
            </a:pPr>
            <a:r>
              <a:rPr lang="en-US" altLang="en-US" sz="2000" b="1">
                <a:latin typeface="Arial" panose="020B0604020202020204" pitchFamily="34" charset="0"/>
              </a:rPr>
              <a:t>employees</a:t>
            </a:r>
          </a:p>
        </p:txBody>
      </p:sp>
      <p:sp>
        <p:nvSpPr>
          <p:cNvPr id="56327" name="TextBox 9">
            <a:extLst>
              <a:ext uri="{FF2B5EF4-FFF2-40B4-BE49-F238E27FC236}">
                <a16:creationId xmlns:a16="http://schemas.microsoft.com/office/drawing/2014/main" id="{179EA76F-EFC4-42FF-2E3B-6B7135FBB9B1}"/>
              </a:ext>
            </a:extLst>
          </p:cNvPr>
          <p:cNvSpPr txBox="1">
            <a:spLocks noChangeArrowheads="1"/>
          </p:cNvSpPr>
          <p:nvPr/>
        </p:nvSpPr>
        <p:spPr bwMode="auto">
          <a:xfrm>
            <a:off x="7308984" y="0"/>
            <a:ext cx="158088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50000"/>
              </a:spcBef>
              <a:spcAft>
                <a:spcPts val="400"/>
              </a:spcAft>
              <a:buClr>
                <a:srgbClr val="0C7B9C"/>
              </a:buClr>
              <a:buSzPct val="70000"/>
              <a:buNone/>
            </a:pPr>
            <a:r>
              <a:rPr lang="en-US" altLang="en-US" sz="2000" b="1">
                <a:latin typeface="Arial" panose="020B0604020202020204" pitchFamily="34" charset="0"/>
              </a:rPr>
              <a:t>department</a:t>
            </a:r>
          </a:p>
        </p:txBody>
      </p:sp>
      <p:sp>
        <p:nvSpPr>
          <p:cNvPr id="56328" name="TextBox 9">
            <a:extLst>
              <a:ext uri="{FF2B5EF4-FFF2-40B4-BE49-F238E27FC236}">
                <a16:creationId xmlns:a16="http://schemas.microsoft.com/office/drawing/2014/main" id="{1C714865-B8C8-79A0-5FA8-7CD07B4FD0FC}"/>
              </a:ext>
            </a:extLst>
          </p:cNvPr>
          <p:cNvSpPr txBox="1">
            <a:spLocks noChangeArrowheads="1"/>
          </p:cNvSpPr>
          <p:nvPr/>
        </p:nvSpPr>
        <p:spPr bwMode="auto">
          <a:xfrm>
            <a:off x="4444870" y="5067240"/>
            <a:ext cx="12939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FontTx/>
              <a:buNone/>
            </a:pPr>
            <a:r>
              <a:rPr lang="th-TH" altLang="en-US" sz="2000" dirty="0">
                <a:latin typeface="Arial" panose="020B0604020202020204" pitchFamily="34" charset="0"/>
              </a:rPr>
              <a:t>ลบได้ไหม</a:t>
            </a:r>
            <a:r>
              <a:rPr lang="en-US" altLang="en-US" sz="2000" dirty="0">
                <a:latin typeface="Arial" panose="020B0604020202020204" pitchFamily="34" charset="0"/>
              </a:rPr>
              <a:t>???</a:t>
            </a:r>
          </a:p>
        </p:txBody>
      </p:sp>
      <p:pic>
        <p:nvPicPr>
          <p:cNvPr id="56329" name="Picture 10">
            <a:extLst>
              <a:ext uri="{FF2B5EF4-FFF2-40B4-BE49-F238E27FC236}">
                <a16:creationId xmlns:a16="http://schemas.microsoft.com/office/drawing/2014/main" id="{5D27D5C5-F0CD-2EB1-DAE2-BAE01D50601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76964" y="4414839"/>
            <a:ext cx="4314825" cy="149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BE9D23E9-9FE7-6D72-7AEE-82194FEB7F60}"/>
              </a:ext>
            </a:extLst>
          </p:cNvPr>
          <p:cNvSpPr txBox="1"/>
          <p:nvPr/>
        </p:nvSpPr>
        <p:spPr>
          <a:xfrm>
            <a:off x="1001478" y="6123543"/>
            <a:ext cx="6098058" cy="369332"/>
          </a:xfrm>
          <a:prstGeom prst="rect">
            <a:avLst/>
          </a:prstGeom>
          <a:noFill/>
        </p:spPr>
        <p:txBody>
          <a:bodyPr wrap="square">
            <a:spAutoFit/>
          </a:bodyPr>
          <a:lstStyle/>
          <a:p>
            <a:r>
              <a:rPr lang="en-US" dirty="0"/>
              <a:t>https://luckkrit.github.io/cos3103-slides/6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สี่เหลี่ยมผืนผ้า 3">
            <a:extLst>
              <a:ext uri="{FF2B5EF4-FFF2-40B4-BE49-F238E27FC236}">
                <a16:creationId xmlns:a16="http://schemas.microsoft.com/office/drawing/2014/main" id="{7EAF3F8B-C15D-F74B-922C-308A5AFB0270}"/>
              </a:ext>
            </a:extLst>
          </p:cNvPr>
          <p:cNvSpPr/>
          <p:nvPr/>
        </p:nvSpPr>
        <p:spPr>
          <a:xfrm>
            <a:off x="304800" y="291548"/>
            <a:ext cx="4956313" cy="2031325"/>
          </a:xfrm>
          <a:prstGeom prst="rect">
            <a:avLst/>
          </a:prstGeom>
          <a:solidFill>
            <a:schemeClr val="accent3">
              <a:lumMod val="20000"/>
              <a:lumOff val="80000"/>
            </a:schemeClr>
          </a:solidFill>
          <a:ln>
            <a:solidFill>
              <a:schemeClr val="accent3">
                <a:lumMod val="20000"/>
                <a:lumOff val="80000"/>
              </a:schemeClr>
            </a:solidFill>
          </a:ln>
        </p:spPr>
        <p:txBody>
          <a:bodyPr wrap="square">
            <a:spAutoFit/>
          </a:bodyPr>
          <a:lstStyle/>
          <a:p>
            <a:pPr>
              <a:defRPr/>
            </a:pPr>
            <a:r>
              <a:rPr lang="en-US" dirty="0"/>
              <a:t>CREATE TABLE department ( </a:t>
            </a:r>
            <a:br>
              <a:rPr lang="en-US" dirty="0"/>
            </a:br>
            <a:r>
              <a:rPr lang="en-US" dirty="0"/>
              <a:t>           id INT PRIMARY KEY, </a:t>
            </a:r>
            <a:br>
              <a:rPr lang="en-US" dirty="0"/>
            </a:br>
            <a:r>
              <a:rPr lang="en-US" dirty="0"/>
              <a:t>           name VARCHAR(50)</a:t>
            </a:r>
            <a:br>
              <a:rPr lang="en-US" dirty="0"/>
            </a:br>
            <a:r>
              <a:rPr lang="en-US" dirty="0"/>
              <a:t> ); </a:t>
            </a:r>
            <a:br>
              <a:rPr lang="en-US" dirty="0"/>
            </a:br>
            <a:r>
              <a:rPr lang="en-US" dirty="0"/>
              <a:t>INSERT INTO department VALUES (10, 'IT’); </a:t>
            </a:r>
            <a:br>
              <a:rPr lang="en-US" dirty="0"/>
            </a:br>
            <a:r>
              <a:rPr lang="en-US" dirty="0"/>
              <a:t>INSERT INTO department VALUES (20, 'HR’); </a:t>
            </a:r>
            <a:br>
              <a:rPr lang="en-US" dirty="0"/>
            </a:br>
            <a:r>
              <a:rPr lang="en-US" dirty="0"/>
              <a:t>INSERT INTO department VALUES (30, 'INFRA');</a:t>
            </a:r>
            <a:endParaRPr lang="en-US" dirty="0">
              <a:solidFill>
                <a:prstClr val="black"/>
              </a:solidFill>
              <a:latin typeface="Calibri"/>
            </a:endParaRPr>
          </a:p>
        </p:txBody>
      </p:sp>
      <p:sp>
        <p:nvSpPr>
          <p:cNvPr id="58371" name="สี่เหลี่ยมผืนผ้า 4">
            <a:extLst>
              <a:ext uri="{FF2B5EF4-FFF2-40B4-BE49-F238E27FC236}">
                <a16:creationId xmlns:a16="http://schemas.microsoft.com/office/drawing/2014/main" id="{65057B86-274B-3965-0C21-AB74560C9468}"/>
              </a:ext>
            </a:extLst>
          </p:cNvPr>
          <p:cNvSpPr>
            <a:spLocks noChangeArrowheads="1"/>
          </p:cNvSpPr>
          <p:nvPr/>
        </p:nvSpPr>
        <p:spPr bwMode="auto">
          <a:xfrm>
            <a:off x="5658678" y="291548"/>
            <a:ext cx="6334539" cy="5355312"/>
          </a:xfrm>
          <a:prstGeom prst="rect">
            <a:avLst/>
          </a:prstGeom>
          <a:solidFill>
            <a:srgbClr val="EAEAEA"/>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None/>
            </a:pPr>
            <a:r>
              <a:rPr lang="th-TH" altLang="en-US" sz="1800" b="1" dirty="0">
                <a:solidFill>
                  <a:srgbClr val="000000"/>
                </a:solidFill>
              </a:rPr>
              <a:t>-- ขั้นที่ 1: สร้างตารางโดยยังไม่มี </a:t>
            </a:r>
            <a:r>
              <a:rPr lang="en-US" altLang="en-US" sz="1800" b="1" dirty="0">
                <a:solidFill>
                  <a:srgbClr val="000000"/>
                </a:solidFill>
              </a:rPr>
              <a:t>Foreign Key</a:t>
            </a:r>
          </a:p>
          <a:p>
            <a:pPr>
              <a:spcBef>
                <a:spcPct val="0"/>
              </a:spcBef>
              <a:buNone/>
            </a:pPr>
            <a:r>
              <a:rPr lang="en-US" altLang="en-US" sz="1800" b="1" dirty="0">
                <a:solidFill>
                  <a:srgbClr val="000000"/>
                </a:solidFill>
              </a:rPr>
              <a:t>CREATE TABLE employees (</a:t>
            </a:r>
          </a:p>
          <a:p>
            <a:pPr>
              <a:spcBef>
                <a:spcPct val="0"/>
              </a:spcBef>
              <a:buNone/>
            </a:pPr>
            <a:r>
              <a:rPr lang="en-US" altLang="en-US" sz="1800" b="1" dirty="0">
                <a:solidFill>
                  <a:srgbClr val="000000"/>
                </a:solidFill>
              </a:rPr>
              <a:t>  id INT PRIMARY KEY,</a:t>
            </a:r>
          </a:p>
          <a:p>
            <a:pPr>
              <a:spcBef>
                <a:spcPct val="0"/>
              </a:spcBef>
              <a:buNone/>
            </a:pPr>
            <a:r>
              <a:rPr lang="en-US" altLang="en-US" sz="1800" b="1" dirty="0">
                <a:solidFill>
                  <a:srgbClr val="000000"/>
                </a:solidFill>
              </a:rPr>
              <a:t>  name VARCHAR(100) NOT NULL,</a:t>
            </a:r>
          </a:p>
          <a:p>
            <a:pPr>
              <a:spcBef>
                <a:spcPct val="0"/>
              </a:spcBef>
              <a:buNone/>
            </a:pPr>
            <a:r>
              <a:rPr lang="en-US" altLang="en-US" sz="1800" b="1" dirty="0">
                <a:solidFill>
                  <a:srgbClr val="000000"/>
                </a:solidFill>
              </a:rPr>
              <a:t>  </a:t>
            </a:r>
            <a:r>
              <a:rPr lang="en-US" altLang="en-US" sz="1800" b="1" dirty="0" err="1">
                <a:solidFill>
                  <a:srgbClr val="000000"/>
                </a:solidFill>
              </a:rPr>
              <a:t>department_id</a:t>
            </a:r>
            <a:r>
              <a:rPr lang="en-US" altLang="en-US" sz="1800" b="1" dirty="0">
                <a:solidFill>
                  <a:srgbClr val="000000"/>
                </a:solidFill>
              </a:rPr>
              <a:t> INT</a:t>
            </a:r>
          </a:p>
          <a:p>
            <a:pPr>
              <a:spcBef>
                <a:spcPct val="0"/>
              </a:spcBef>
              <a:buNone/>
            </a:pPr>
            <a:r>
              <a:rPr lang="en-US" altLang="en-US" sz="1800" b="1" dirty="0">
                <a:solidFill>
                  <a:srgbClr val="000000"/>
                </a:solidFill>
              </a:rPr>
              <a:t>);</a:t>
            </a:r>
          </a:p>
          <a:p>
            <a:pPr>
              <a:spcBef>
                <a:spcPct val="0"/>
              </a:spcBef>
              <a:buNone/>
            </a:pPr>
            <a:endParaRPr lang="en-US" altLang="en-US" sz="1800" b="1" dirty="0">
              <a:solidFill>
                <a:srgbClr val="000000"/>
              </a:solidFill>
            </a:endParaRPr>
          </a:p>
          <a:p>
            <a:pPr>
              <a:spcBef>
                <a:spcPct val="0"/>
              </a:spcBef>
              <a:buNone/>
            </a:pPr>
            <a:r>
              <a:rPr lang="en-US" altLang="en-US" sz="1800" b="1" dirty="0">
                <a:solidFill>
                  <a:srgbClr val="000000"/>
                </a:solidFill>
              </a:rPr>
              <a:t>-- </a:t>
            </a:r>
            <a:r>
              <a:rPr lang="th-TH" altLang="en-US" sz="1800" b="1" dirty="0">
                <a:solidFill>
                  <a:srgbClr val="000000"/>
                </a:solidFill>
              </a:rPr>
              <a:t>ขั้นที่ 2: ผูก </a:t>
            </a:r>
            <a:r>
              <a:rPr lang="en-US" altLang="en-US" sz="1800" b="1" dirty="0">
                <a:solidFill>
                  <a:srgbClr val="000000"/>
                </a:solidFill>
              </a:rPr>
              <a:t>Foreign Key </a:t>
            </a:r>
            <a:r>
              <a:rPr lang="th-TH" altLang="en-US" sz="1800" b="1" dirty="0">
                <a:solidFill>
                  <a:srgbClr val="000000"/>
                </a:solidFill>
              </a:rPr>
              <a:t>ก่อน (ตอนนี้ตารางยังว่างเปล่า)</a:t>
            </a:r>
          </a:p>
          <a:p>
            <a:pPr>
              <a:spcBef>
                <a:spcPct val="0"/>
              </a:spcBef>
              <a:buNone/>
            </a:pPr>
            <a:r>
              <a:rPr lang="en-US" altLang="en-US" sz="1800" b="1" dirty="0">
                <a:solidFill>
                  <a:srgbClr val="000000"/>
                </a:solidFill>
              </a:rPr>
              <a:t>ALTER TABLE employees</a:t>
            </a:r>
          </a:p>
          <a:p>
            <a:pPr>
              <a:spcBef>
                <a:spcPct val="0"/>
              </a:spcBef>
              <a:buNone/>
            </a:pPr>
            <a:r>
              <a:rPr lang="en-US" altLang="en-US" sz="1800" b="1" dirty="0">
                <a:solidFill>
                  <a:srgbClr val="000000"/>
                </a:solidFill>
              </a:rPr>
              <a:t>  ADD CONSTRAINT </a:t>
            </a:r>
            <a:r>
              <a:rPr lang="en-US" altLang="en-US" sz="1800" b="1" dirty="0" err="1">
                <a:solidFill>
                  <a:srgbClr val="000000"/>
                </a:solidFill>
              </a:rPr>
              <a:t>fk_employees_department</a:t>
            </a:r>
            <a:endParaRPr lang="en-US" altLang="en-US" sz="1800" b="1" dirty="0">
              <a:solidFill>
                <a:srgbClr val="000000"/>
              </a:solidFill>
            </a:endParaRPr>
          </a:p>
          <a:p>
            <a:pPr>
              <a:spcBef>
                <a:spcPct val="0"/>
              </a:spcBef>
              <a:buNone/>
            </a:pPr>
            <a:r>
              <a:rPr lang="en-US" altLang="en-US" sz="1800" b="1" dirty="0">
                <a:solidFill>
                  <a:srgbClr val="000000"/>
                </a:solidFill>
              </a:rPr>
              <a:t>  FOREIGN KEY (</a:t>
            </a:r>
            <a:r>
              <a:rPr lang="en-US" altLang="en-US" sz="1800" b="1" dirty="0" err="1">
                <a:solidFill>
                  <a:srgbClr val="000000"/>
                </a:solidFill>
              </a:rPr>
              <a:t>department_id</a:t>
            </a:r>
            <a:r>
              <a:rPr lang="en-US" altLang="en-US" sz="1800" b="1" dirty="0">
                <a:solidFill>
                  <a:srgbClr val="000000"/>
                </a:solidFill>
              </a:rPr>
              <a:t>) REFERENCES department(id)</a:t>
            </a:r>
          </a:p>
          <a:p>
            <a:pPr>
              <a:spcBef>
                <a:spcPct val="0"/>
              </a:spcBef>
              <a:buNone/>
            </a:pPr>
            <a:r>
              <a:rPr lang="en-US" altLang="en-US" sz="1800" b="1" dirty="0">
                <a:solidFill>
                  <a:srgbClr val="000000"/>
                </a:solidFill>
              </a:rPr>
              <a:t>  ON DELETE CASCADE</a:t>
            </a:r>
          </a:p>
          <a:p>
            <a:pPr>
              <a:spcBef>
                <a:spcPct val="0"/>
              </a:spcBef>
              <a:buNone/>
            </a:pPr>
            <a:r>
              <a:rPr lang="en-US" altLang="en-US" sz="1800" b="1" dirty="0">
                <a:solidFill>
                  <a:srgbClr val="000000"/>
                </a:solidFill>
              </a:rPr>
              <a:t>  ON UPDATE CASCADE;</a:t>
            </a:r>
          </a:p>
          <a:p>
            <a:pPr>
              <a:spcBef>
                <a:spcPct val="0"/>
              </a:spcBef>
              <a:buNone/>
            </a:pPr>
            <a:endParaRPr lang="en-US" altLang="en-US" sz="1800" b="1" dirty="0">
              <a:solidFill>
                <a:srgbClr val="000000"/>
              </a:solidFill>
            </a:endParaRPr>
          </a:p>
          <a:p>
            <a:pPr>
              <a:spcBef>
                <a:spcPct val="0"/>
              </a:spcBef>
              <a:buNone/>
            </a:pPr>
            <a:r>
              <a:rPr lang="en-US" altLang="en-US" sz="1800" b="1" dirty="0">
                <a:solidFill>
                  <a:srgbClr val="000000"/>
                </a:solidFill>
              </a:rPr>
              <a:t>-- </a:t>
            </a:r>
            <a:r>
              <a:rPr lang="th-TH" altLang="en-US" sz="1800" b="1" dirty="0">
                <a:solidFill>
                  <a:srgbClr val="000000"/>
                </a:solidFill>
              </a:rPr>
              <a:t>ขั้นที่ 3: ใส่ข้อมูล (ตอนนี้มี </a:t>
            </a:r>
            <a:r>
              <a:rPr lang="en-US" altLang="en-US" sz="1800" b="1" dirty="0">
                <a:solidFill>
                  <a:srgbClr val="000000"/>
                </a:solidFill>
              </a:rPr>
              <a:t>constraint </a:t>
            </a:r>
            <a:r>
              <a:rPr lang="th-TH" altLang="en-US" sz="1800" b="1" dirty="0">
                <a:solidFill>
                  <a:srgbClr val="000000"/>
                </a:solidFill>
              </a:rPr>
              <a:t>คอยเช็คทุก </a:t>
            </a:r>
            <a:r>
              <a:rPr lang="en-US" altLang="en-US" sz="1800" b="1" dirty="0">
                <a:solidFill>
                  <a:srgbClr val="000000"/>
                </a:solidFill>
              </a:rPr>
              <a:t>row </a:t>
            </a:r>
            <a:r>
              <a:rPr lang="th-TH" altLang="en-US" sz="1800" b="1" dirty="0">
                <a:solidFill>
                  <a:srgbClr val="000000"/>
                </a:solidFill>
              </a:rPr>
              <a:t>แล้ว)</a:t>
            </a:r>
          </a:p>
          <a:p>
            <a:pPr>
              <a:spcBef>
                <a:spcPct val="0"/>
              </a:spcBef>
              <a:buNone/>
            </a:pPr>
            <a:r>
              <a:rPr lang="en-US" altLang="en-US" sz="1800" b="1" dirty="0">
                <a:solidFill>
                  <a:srgbClr val="000000"/>
                </a:solidFill>
              </a:rPr>
              <a:t>INSERT INTO employees VALUES (101, 'Anurag', 10);</a:t>
            </a:r>
          </a:p>
          <a:p>
            <a:pPr>
              <a:spcBef>
                <a:spcPct val="0"/>
              </a:spcBef>
              <a:buNone/>
            </a:pPr>
            <a:r>
              <a:rPr lang="en-US" altLang="en-US" sz="1800" b="1" dirty="0">
                <a:solidFill>
                  <a:srgbClr val="000000"/>
                </a:solidFill>
              </a:rPr>
              <a:t>INSERT INTO employees VALUES (102, 'Pranaya', 20);</a:t>
            </a:r>
          </a:p>
          <a:p>
            <a:pPr>
              <a:spcBef>
                <a:spcPct val="0"/>
              </a:spcBef>
              <a:buNone/>
            </a:pPr>
            <a:r>
              <a:rPr lang="en-US" altLang="en-US" sz="1800" b="1" dirty="0">
                <a:solidFill>
                  <a:srgbClr val="000000"/>
                </a:solidFill>
              </a:rPr>
              <a:t>INSERT INTO employees VALUES (103, 'Hina', 30);</a:t>
            </a:r>
          </a:p>
          <a:p>
            <a:pPr>
              <a:spcBef>
                <a:spcPct val="0"/>
              </a:spcBef>
              <a:buNone/>
            </a:pPr>
            <a:r>
              <a:rPr lang="en-US" altLang="en-US" sz="1800" b="1" dirty="0">
                <a:solidFill>
                  <a:srgbClr val="000000"/>
                </a:solidFill>
              </a:rPr>
              <a:t>INSERT INTO employees VALUES (104, '</a:t>
            </a:r>
            <a:r>
              <a:rPr lang="en-US" altLang="en-US" sz="1800" b="1" dirty="0" err="1">
                <a:solidFill>
                  <a:srgbClr val="000000"/>
                </a:solidFill>
              </a:rPr>
              <a:t>apirak</a:t>
            </a:r>
            <a:r>
              <a:rPr lang="en-US" altLang="en-US" sz="1800" b="1" dirty="0">
                <a:solidFill>
                  <a:srgbClr val="000000"/>
                </a:solidFill>
              </a:rPr>
              <a:t>', 10);</a:t>
            </a:r>
            <a:endParaRPr lang="en-US" altLang="en-US" sz="1800" dirty="0">
              <a:solidFill>
                <a:srgbClr val="00000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สี่เหลี่ยมผืนผ้า 3">
            <a:extLst>
              <a:ext uri="{FF2B5EF4-FFF2-40B4-BE49-F238E27FC236}">
                <a16:creationId xmlns:a16="http://schemas.microsoft.com/office/drawing/2014/main" id="{A799D246-D24E-86DF-AF8F-FCE2DFCDF2B9}"/>
              </a:ext>
            </a:extLst>
          </p:cNvPr>
          <p:cNvSpPr>
            <a:spLocks noChangeArrowheads="1"/>
          </p:cNvSpPr>
          <p:nvPr/>
        </p:nvSpPr>
        <p:spPr bwMode="auto">
          <a:xfrm>
            <a:off x="1905001" y="2438400"/>
            <a:ext cx="425926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FF0000"/>
                </a:solidFill>
              </a:rPr>
              <a:t>DELETE FROM </a:t>
            </a:r>
            <a:r>
              <a:rPr lang="en-US" altLang="en-US" sz="1800" b="1"/>
              <a:t>Department</a:t>
            </a:r>
            <a:r>
              <a:rPr lang="en-US" altLang="en-US" sz="1800" b="1">
                <a:solidFill>
                  <a:srgbClr val="FF0000"/>
                </a:solidFill>
              </a:rPr>
              <a:t> WHERE </a:t>
            </a:r>
            <a:r>
              <a:rPr lang="en-US" altLang="en-US" sz="1800" b="1"/>
              <a:t>Id = 10</a:t>
            </a:r>
            <a:r>
              <a:rPr lang="en-US" altLang="en-US" sz="1800" b="1">
                <a:solidFill>
                  <a:srgbClr val="FF0000"/>
                </a:solidFill>
              </a:rPr>
              <a:t>;</a:t>
            </a:r>
            <a:endParaRPr lang="en-US" altLang="en-US" sz="1800">
              <a:solidFill>
                <a:srgbClr val="FF0000"/>
              </a:solidFill>
            </a:endParaRPr>
          </a:p>
        </p:txBody>
      </p:sp>
      <p:pic>
        <p:nvPicPr>
          <p:cNvPr id="59395" name="Picture 2">
            <a:extLst>
              <a:ext uri="{FF2B5EF4-FFF2-40B4-BE49-F238E27FC236}">
                <a16:creationId xmlns:a16="http://schemas.microsoft.com/office/drawing/2014/main" id="{A33AC2A2-4FBD-B67C-3720-84FA01B976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3614" y="3986214"/>
            <a:ext cx="1919287" cy="1931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3">
            <a:extLst>
              <a:ext uri="{FF2B5EF4-FFF2-40B4-BE49-F238E27FC236}">
                <a16:creationId xmlns:a16="http://schemas.microsoft.com/office/drawing/2014/main" id="{4E385932-CA4B-6B33-6CA4-E7867FDF82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8388" y="4035425"/>
            <a:ext cx="3886200" cy="1951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397" name="สี่เหลี่ยมผืนผ้า 8">
            <a:extLst>
              <a:ext uri="{FF2B5EF4-FFF2-40B4-BE49-F238E27FC236}">
                <a16:creationId xmlns:a16="http://schemas.microsoft.com/office/drawing/2014/main" id="{27CF1B94-45D2-9DC7-A675-D522B8813CB9}"/>
              </a:ext>
            </a:extLst>
          </p:cNvPr>
          <p:cNvSpPr>
            <a:spLocks noChangeArrowheads="1"/>
          </p:cNvSpPr>
          <p:nvPr/>
        </p:nvSpPr>
        <p:spPr bwMode="auto">
          <a:xfrm>
            <a:off x="1828800" y="3048000"/>
            <a:ext cx="5029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FF0000"/>
                </a:solidFill>
              </a:rPr>
              <a:t> DELETE FROM </a:t>
            </a:r>
            <a:r>
              <a:rPr lang="en-US" altLang="en-US" sz="1800">
                <a:solidFill>
                  <a:srgbClr val="000000"/>
                </a:solidFill>
              </a:rPr>
              <a:t>Employees </a:t>
            </a:r>
            <a:r>
              <a:rPr lang="en-US" altLang="en-US" sz="1800" b="1">
                <a:solidFill>
                  <a:srgbClr val="FF0000"/>
                </a:solidFill>
              </a:rPr>
              <a:t>WHERE </a:t>
            </a:r>
            <a:r>
              <a:rPr lang="en-US" altLang="en-US" sz="1800" b="1"/>
              <a:t>Id = 102</a:t>
            </a:r>
            <a:r>
              <a:rPr lang="en-US" altLang="en-US" sz="1800" b="1">
                <a:solidFill>
                  <a:srgbClr val="FF0000"/>
                </a:solidFill>
              </a:rPr>
              <a:t>;  ??????</a:t>
            </a:r>
            <a:endParaRPr lang="en-US" altLang="en-US" sz="1800">
              <a:solidFill>
                <a:srgbClr val="FF0000"/>
              </a:solidFill>
            </a:endParaRPr>
          </a:p>
        </p:txBody>
      </p:sp>
      <p:sp>
        <p:nvSpPr>
          <p:cNvPr id="59398" name="TextBox 9">
            <a:extLst>
              <a:ext uri="{FF2B5EF4-FFF2-40B4-BE49-F238E27FC236}">
                <a16:creationId xmlns:a16="http://schemas.microsoft.com/office/drawing/2014/main" id="{FFA3A7B3-594A-0292-A4A0-157DCFE3763B}"/>
              </a:ext>
            </a:extLst>
          </p:cNvPr>
          <p:cNvSpPr txBox="1">
            <a:spLocks noChangeArrowheads="1"/>
          </p:cNvSpPr>
          <p:nvPr/>
        </p:nvSpPr>
        <p:spPr bwMode="auto">
          <a:xfrm>
            <a:off x="2628900" y="3692525"/>
            <a:ext cx="132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59399" name="TextBox 10">
            <a:extLst>
              <a:ext uri="{FF2B5EF4-FFF2-40B4-BE49-F238E27FC236}">
                <a16:creationId xmlns:a16="http://schemas.microsoft.com/office/drawing/2014/main" id="{BF21C59D-7BB7-3360-AC4E-616E5C2823D0}"/>
              </a:ext>
            </a:extLst>
          </p:cNvPr>
          <p:cNvSpPr txBox="1">
            <a:spLocks noChangeArrowheads="1"/>
          </p:cNvSpPr>
          <p:nvPr/>
        </p:nvSpPr>
        <p:spPr bwMode="auto">
          <a:xfrm>
            <a:off x="6096001" y="3703639"/>
            <a:ext cx="121761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59400" name="TextBox 2">
            <a:extLst>
              <a:ext uri="{FF2B5EF4-FFF2-40B4-BE49-F238E27FC236}">
                <a16:creationId xmlns:a16="http://schemas.microsoft.com/office/drawing/2014/main" id="{159871EA-93C6-3ADB-EC57-FED14919FBEB}"/>
              </a:ext>
            </a:extLst>
          </p:cNvPr>
          <p:cNvSpPr txBox="1">
            <a:spLocks noChangeArrowheads="1"/>
          </p:cNvSpPr>
          <p:nvPr/>
        </p:nvSpPr>
        <p:spPr bwMode="auto">
          <a:xfrm>
            <a:off x="1905000" y="750888"/>
            <a:ext cx="8382000" cy="1077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50000"/>
              </a:spcBef>
              <a:spcAft>
                <a:spcPts val="400"/>
              </a:spcAft>
              <a:buClr>
                <a:srgbClr val="0C7B9C"/>
              </a:buClr>
              <a:buSzPct val="70000"/>
              <a:buNone/>
            </a:pPr>
            <a:r>
              <a:rPr lang="en-US" altLang="en-US" sz="1600" b="1">
                <a:latin typeface="Arial" panose="020B0604020202020204" pitchFamily="34" charset="0"/>
              </a:rPr>
              <a:t>CASCADE:</a:t>
            </a:r>
            <a:r>
              <a:rPr lang="en-US" altLang="en-US" sz="1600">
                <a:latin typeface="Arial" panose="020B0604020202020204" pitchFamily="34" charset="0"/>
              </a:rPr>
              <a:t> If a user tries to delete the statement(s) which will affect the </a:t>
            </a:r>
            <a:r>
              <a:rPr lang="en-US" altLang="en-US" sz="1600">
                <a:solidFill>
                  <a:srgbClr val="FF0000"/>
                </a:solidFill>
                <a:latin typeface="Arial" panose="020B0604020202020204" pitchFamily="34" charset="0"/>
              </a:rPr>
              <a:t>rows in the foreign key table</a:t>
            </a:r>
            <a:r>
              <a:rPr lang="en-US" altLang="en-US" sz="1600">
                <a:latin typeface="Arial" panose="020B0604020202020204" pitchFamily="34" charset="0"/>
              </a:rPr>
              <a:t>, then </a:t>
            </a:r>
            <a:r>
              <a:rPr lang="en-US" altLang="en-US" sz="1600">
                <a:solidFill>
                  <a:srgbClr val="FF0000"/>
                </a:solidFill>
                <a:latin typeface="Arial" panose="020B0604020202020204" pitchFamily="34" charset="0"/>
              </a:rPr>
              <a:t>those rows will also be deleted when the primary key record is deleted</a:t>
            </a:r>
            <a:r>
              <a:rPr lang="en-US" altLang="en-US" sz="1600">
                <a:latin typeface="Arial" panose="020B0604020202020204" pitchFamily="34" charset="0"/>
              </a:rPr>
              <a:t>. Similarly, if an update statement affects rows in the foreign key table, then those rows will also be updated with the value from the primary key record after it has been updated.</a:t>
            </a:r>
          </a:p>
        </p:txBody>
      </p:sp>
      <p:pic>
        <p:nvPicPr>
          <p:cNvPr id="59401" name="Picture 1">
            <a:extLst>
              <a:ext uri="{FF2B5EF4-FFF2-40B4-BE49-F238E27FC236}">
                <a16:creationId xmlns:a16="http://schemas.microsoft.com/office/drawing/2014/main" id="{4D905851-42D2-419C-D1DE-D1AEE1151F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31000" y="1789113"/>
            <a:ext cx="39370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Star: 5 Points 2">
            <a:extLst>
              <a:ext uri="{FF2B5EF4-FFF2-40B4-BE49-F238E27FC236}">
                <a16:creationId xmlns:a16="http://schemas.microsoft.com/office/drawing/2014/main" id="{B1F2DAE2-0417-C065-738B-3DED7A0AD485}"/>
              </a:ext>
            </a:extLst>
          </p:cNvPr>
          <p:cNvSpPr/>
          <p:nvPr/>
        </p:nvSpPr>
        <p:spPr>
          <a:xfrm>
            <a:off x="422787" y="430750"/>
            <a:ext cx="1101213" cy="106188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สี่เหลี่ยมผืนผ้า 3">
            <a:extLst>
              <a:ext uri="{FF2B5EF4-FFF2-40B4-BE49-F238E27FC236}">
                <a16:creationId xmlns:a16="http://schemas.microsoft.com/office/drawing/2014/main" id="{4A6D831C-13EC-A03B-684E-8F020C000042}"/>
              </a:ext>
            </a:extLst>
          </p:cNvPr>
          <p:cNvSpPr>
            <a:spLocks noChangeArrowheads="1"/>
          </p:cNvSpPr>
          <p:nvPr/>
        </p:nvSpPr>
        <p:spPr bwMode="auto">
          <a:xfrm>
            <a:off x="523460" y="2451583"/>
            <a:ext cx="6751983"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None/>
            </a:pPr>
            <a:r>
              <a:rPr lang="en-US" sz="2000" dirty="0"/>
              <a:t>CREATE TABLE employees ( </a:t>
            </a:r>
            <a:br>
              <a:rPr lang="en-US" sz="2000" dirty="0"/>
            </a:br>
            <a:r>
              <a:rPr lang="en-US" sz="2000" dirty="0"/>
              <a:t>     id INT PRIMARY KEY, </a:t>
            </a:r>
            <a:br>
              <a:rPr lang="en-US" sz="2000" dirty="0"/>
            </a:br>
            <a:r>
              <a:rPr lang="en-US" sz="2000" dirty="0"/>
              <a:t>     name VARCHAR(100) NOT NULL, </a:t>
            </a:r>
            <a:br>
              <a:rPr lang="en-US" sz="2000" dirty="0"/>
            </a:br>
            <a:r>
              <a:rPr lang="en-US" sz="2000" dirty="0"/>
              <a:t>     </a:t>
            </a:r>
            <a:r>
              <a:rPr lang="en-US" sz="2000" dirty="0" err="1"/>
              <a:t>department_id</a:t>
            </a:r>
            <a:r>
              <a:rPr lang="en-US" sz="2000" dirty="0"/>
              <a:t> INT, </a:t>
            </a:r>
            <a:br>
              <a:rPr lang="en-US" sz="2000" dirty="0"/>
            </a:br>
            <a:r>
              <a:rPr lang="en-US" sz="2000" dirty="0"/>
              <a:t>     FOREIGN KEY (</a:t>
            </a:r>
            <a:r>
              <a:rPr lang="en-US" sz="2000" dirty="0" err="1"/>
              <a:t>department_id</a:t>
            </a:r>
            <a:r>
              <a:rPr lang="en-US" sz="2000" dirty="0"/>
              <a:t>) REFERENCES  department(id) </a:t>
            </a:r>
            <a:br>
              <a:rPr lang="en-US" sz="2000" dirty="0"/>
            </a:br>
            <a:r>
              <a:rPr lang="en-US" sz="2000" dirty="0"/>
              <a:t>      ON DELETE CASCADE</a:t>
            </a:r>
            <a:br>
              <a:rPr lang="en-US" sz="2000" dirty="0"/>
            </a:br>
            <a:r>
              <a:rPr lang="en-US" sz="2000" dirty="0"/>
              <a:t>      ON UPDATE CASCADE</a:t>
            </a:r>
            <a:br>
              <a:rPr lang="en-US" sz="2000" dirty="0"/>
            </a:br>
            <a:r>
              <a:rPr lang="en-US" sz="2000" dirty="0"/>
              <a:t>); </a:t>
            </a:r>
            <a:br>
              <a:rPr lang="en-US" sz="2000" dirty="0"/>
            </a:br>
            <a:r>
              <a:rPr lang="en-US" sz="2000" dirty="0"/>
              <a:t>INSERT INTO employees VALUES (101, 'Anurag', 10); </a:t>
            </a:r>
            <a:br>
              <a:rPr lang="en-US" sz="2000" dirty="0"/>
            </a:br>
            <a:r>
              <a:rPr lang="en-US" sz="2000" dirty="0"/>
              <a:t>INSERT INTO employees VALUES (102, 'Pranaya', 20); </a:t>
            </a:r>
            <a:br>
              <a:rPr lang="en-US" sz="2000" dirty="0"/>
            </a:br>
            <a:r>
              <a:rPr lang="en-US" sz="2000" dirty="0"/>
              <a:t>INSERT INTO employees VALUES (103, 'Hina', 30); </a:t>
            </a:r>
            <a:br>
              <a:rPr lang="en-US" sz="2000" dirty="0"/>
            </a:br>
            <a:r>
              <a:rPr lang="en-US" sz="2000" dirty="0"/>
              <a:t>INSERT INTO employees VALUES (104, '</a:t>
            </a:r>
            <a:r>
              <a:rPr lang="en-US" sz="2000" dirty="0" err="1"/>
              <a:t>apirak</a:t>
            </a:r>
            <a:r>
              <a:rPr lang="en-US" sz="2000" dirty="0"/>
              <a:t>', 10);</a:t>
            </a:r>
            <a:endParaRPr lang="en-US" altLang="en-US" sz="2000" dirty="0">
              <a:solidFill>
                <a:srgbClr val="000000"/>
              </a:solidFill>
            </a:endParaRPr>
          </a:p>
        </p:txBody>
      </p:sp>
      <p:sp>
        <p:nvSpPr>
          <p:cNvPr id="60419" name="สี่เหลี่ยมผืนผ้า 4">
            <a:extLst>
              <a:ext uri="{FF2B5EF4-FFF2-40B4-BE49-F238E27FC236}">
                <a16:creationId xmlns:a16="http://schemas.microsoft.com/office/drawing/2014/main" id="{66867539-32AB-D179-9C4D-53497D6AEB29}"/>
              </a:ext>
            </a:extLst>
          </p:cNvPr>
          <p:cNvSpPr>
            <a:spLocks noChangeArrowheads="1"/>
          </p:cNvSpPr>
          <p:nvPr/>
        </p:nvSpPr>
        <p:spPr bwMode="auto">
          <a:xfrm>
            <a:off x="7467600" y="275950"/>
            <a:ext cx="4572000"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None/>
            </a:pPr>
            <a:r>
              <a:rPr lang="en-US" sz="1800" dirty="0"/>
              <a:t>CREATE TABLE department ( </a:t>
            </a:r>
            <a:br>
              <a:rPr lang="en-US" sz="1800" dirty="0"/>
            </a:br>
            <a:r>
              <a:rPr lang="en-US" sz="1800" dirty="0"/>
              <a:t>	id INT PRIMARY KEY, </a:t>
            </a:r>
            <a:br>
              <a:rPr lang="en-US" sz="1800" dirty="0"/>
            </a:br>
            <a:r>
              <a:rPr lang="en-US" sz="1800" dirty="0"/>
              <a:t>	name VARCHAR(50) </a:t>
            </a:r>
            <a:br>
              <a:rPr lang="en-US" sz="1800" dirty="0"/>
            </a:br>
            <a:r>
              <a:rPr lang="en-US" sz="1800" dirty="0"/>
              <a:t>); </a:t>
            </a:r>
            <a:br>
              <a:rPr lang="en-US" sz="1800" dirty="0"/>
            </a:br>
            <a:r>
              <a:rPr lang="en-US" sz="1800" dirty="0"/>
              <a:t>INSERT INTO department VALUES (10, 'IT’); </a:t>
            </a:r>
            <a:br>
              <a:rPr lang="en-US" sz="1800" dirty="0"/>
            </a:br>
            <a:r>
              <a:rPr lang="en-US" sz="1800" dirty="0"/>
              <a:t>INSERT INTO department VALUES (20, 'HR’); </a:t>
            </a:r>
            <a:br>
              <a:rPr lang="en-US" sz="1800" dirty="0"/>
            </a:br>
            <a:r>
              <a:rPr lang="en-US" sz="1800" dirty="0"/>
              <a:t>INSERT INTO department VALUES (30, 'INFRA');</a:t>
            </a:r>
            <a:endParaRPr lang="en-US" altLang="en-US" sz="1800" dirty="0">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สี่เหลี่ยมผืนผ้า 3">
            <a:extLst>
              <a:ext uri="{FF2B5EF4-FFF2-40B4-BE49-F238E27FC236}">
                <a16:creationId xmlns:a16="http://schemas.microsoft.com/office/drawing/2014/main" id="{6335C90C-ED60-0817-A9F6-49E3F7ABF642}"/>
              </a:ext>
            </a:extLst>
          </p:cNvPr>
          <p:cNvSpPr>
            <a:spLocks noChangeArrowheads="1"/>
          </p:cNvSpPr>
          <p:nvPr/>
        </p:nvSpPr>
        <p:spPr bwMode="auto">
          <a:xfrm>
            <a:off x="1981200" y="2895601"/>
            <a:ext cx="4267200" cy="830263"/>
          </a:xfrm>
          <a:prstGeom prst="rect">
            <a:avLst/>
          </a:prstGeom>
          <a:noFill/>
          <a:ln w="9525">
            <a:solidFill>
              <a:srgbClr val="00B050"/>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th-TH" altLang="en-US" sz="1600" b="1">
              <a:solidFill>
                <a:srgbClr val="0070C0"/>
              </a:solidFill>
            </a:endParaRPr>
          </a:p>
          <a:p>
            <a:pPr eaLnBrk="1" hangingPunct="1">
              <a:spcBef>
                <a:spcPct val="0"/>
              </a:spcBef>
              <a:buFontTx/>
              <a:buNone/>
            </a:pPr>
            <a:r>
              <a:rPr lang="en-US" altLang="en-US" sz="1600" b="1">
                <a:solidFill>
                  <a:srgbClr val="0070C0"/>
                </a:solidFill>
              </a:rPr>
              <a:t>UPDATE</a:t>
            </a:r>
            <a:r>
              <a:rPr lang="en-US" altLang="en-US" sz="1600" b="1">
                <a:solidFill>
                  <a:srgbClr val="000000"/>
                </a:solidFill>
              </a:rPr>
              <a:t> Department </a:t>
            </a:r>
            <a:r>
              <a:rPr lang="en-US" altLang="en-US" sz="1600" b="1">
                <a:solidFill>
                  <a:srgbClr val="0070C0"/>
                </a:solidFill>
              </a:rPr>
              <a:t>SET</a:t>
            </a:r>
            <a:r>
              <a:rPr lang="en-US" altLang="en-US" sz="1600" b="1">
                <a:solidFill>
                  <a:srgbClr val="000000"/>
                </a:solidFill>
              </a:rPr>
              <a:t> Id = 40 </a:t>
            </a:r>
            <a:r>
              <a:rPr lang="en-US" altLang="en-US" sz="1600" b="1">
                <a:solidFill>
                  <a:srgbClr val="0070C0"/>
                </a:solidFill>
              </a:rPr>
              <a:t>WHERE</a:t>
            </a:r>
            <a:r>
              <a:rPr lang="en-US" altLang="en-US" sz="1600" b="1">
                <a:solidFill>
                  <a:srgbClr val="000000"/>
                </a:solidFill>
              </a:rPr>
              <a:t> Id = 30</a:t>
            </a:r>
            <a:r>
              <a:rPr lang="th-TH" altLang="en-US" sz="1600" b="1">
                <a:solidFill>
                  <a:srgbClr val="000000"/>
                </a:solidFill>
              </a:rPr>
              <a:t> </a:t>
            </a:r>
            <a:r>
              <a:rPr lang="en-US" altLang="en-US" sz="1600" b="1">
                <a:solidFill>
                  <a:srgbClr val="000000"/>
                </a:solidFill>
              </a:rPr>
              <a:t>;</a:t>
            </a:r>
            <a:endParaRPr lang="th-TH" altLang="en-US" sz="1600" b="1">
              <a:solidFill>
                <a:srgbClr val="000000"/>
              </a:solidFill>
            </a:endParaRPr>
          </a:p>
          <a:p>
            <a:pPr eaLnBrk="1" hangingPunct="1">
              <a:spcBef>
                <a:spcPct val="0"/>
              </a:spcBef>
              <a:buFontTx/>
              <a:buNone/>
            </a:pPr>
            <a:endParaRPr lang="en-US" altLang="en-US" sz="1600">
              <a:solidFill>
                <a:srgbClr val="000000"/>
              </a:solidFill>
            </a:endParaRPr>
          </a:p>
        </p:txBody>
      </p:sp>
      <p:pic>
        <p:nvPicPr>
          <p:cNvPr id="62467" name="Picture 2">
            <a:extLst>
              <a:ext uri="{FF2B5EF4-FFF2-40B4-BE49-F238E27FC236}">
                <a16:creationId xmlns:a16="http://schemas.microsoft.com/office/drawing/2014/main" id="{14A02EB9-B3FB-59C9-FE29-F1574280B2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3946525"/>
            <a:ext cx="2667000" cy="2533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2468" name="Picture 3">
            <a:extLst>
              <a:ext uri="{FF2B5EF4-FFF2-40B4-BE49-F238E27FC236}">
                <a16:creationId xmlns:a16="http://schemas.microsoft.com/office/drawing/2014/main" id="{1321A2FB-9432-875B-61EF-41F1C74133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6401" y="3962400"/>
            <a:ext cx="4830763" cy="236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2469" name="Picture 2">
            <a:extLst>
              <a:ext uri="{FF2B5EF4-FFF2-40B4-BE49-F238E27FC236}">
                <a16:creationId xmlns:a16="http://schemas.microsoft.com/office/drawing/2014/main" id="{003C3A1B-A7FE-A5D1-0F1E-FFE86854819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33600" y="381001"/>
            <a:ext cx="2209800" cy="2225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2470" name="Picture 3">
            <a:extLst>
              <a:ext uri="{FF2B5EF4-FFF2-40B4-BE49-F238E27FC236}">
                <a16:creationId xmlns:a16="http://schemas.microsoft.com/office/drawing/2014/main" id="{5B3EE95C-1825-3B0C-C427-BC5FE274F78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81600" y="381000"/>
            <a:ext cx="455295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สี่เหลี่ยมผืนผ้า 9">
            <a:extLst>
              <a:ext uri="{FF2B5EF4-FFF2-40B4-BE49-F238E27FC236}">
                <a16:creationId xmlns:a16="http://schemas.microsoft.com/office/drawing/2014/main" id="{AF4907D3-62B4-9DA9-B3BB-BC383C2FAB7F}"/>
              </a:ext>
            </a:extLst>
          </p:cNvPr>
          <p:cNvSpPr/>
          <p:nvPr/>
        </p:nvSpPr>
        <p:spPr>
          <a:xfrm>
            <a:off x="1905000" y="228600"/>
            <a:ext cx="8229600" cy="2514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prstClr val="white"/>
              </a:solidFill>
            </a:endParaRPr>
          </a:p>
        </p:txBody>
      </p:sp>
      <p:sp>
        <p:nvSpPr>
          <p:cNvPr id="11" name="ลูกศรลง 10">
            <a:extLst>
              <a:ext uri="{FF2B5EF4-FFF2-40B4-BE49-F238E27FC236}">
                <a16:creationId xmlns:a16="http://schemas.microsoft.com/office/drawing/2014/main" id="{9C5BB841-89F7-D164-1ADC-012FDF23939A}"/>
              </a:ext>
            </a:extLst>
          </p:cNvPr>
          <p:cNvSpPr/>
          <p:nvPr/>
        </p:nvSpPr>
        <p:spPr>
          <a:xfrm>
            <a:off x="6553200" y="2819400"/>
            <a:ext cx="304800" cy="838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prstClr val="white"/>
              </a:solidFill>
            </a:endParaRPr>
          </a:p>
        </p:txBody>
      </p:sp>
      <p:sp>
        <p:nvSpPr>
          <p:cNvPr id="62473" name="TextBox 8">
            <a:extLst>
              <a:ext uri="{FF2B5EF4-FFF2-40B4-BE49-F238E27FC236}">
                <a16:creationId xmlns:a16="http://schemas.microsoft.com/office/drawing/2014/main" id="{469B8426-5C08-77A5-F09B-A5683830F73F}"/>
              </a:ext>
            </a:extLst>
          </p:cNvPr>
          <p:cNvSpPr txBox="1">
            <a:spLocks noChangeArrowheads="1"/>
          </p:cNvSpPr>
          <p:nvPr/>
        </p:nvSpPr>
        <p:spPr bwMode="auto">
          <a:xfrm>
            <a:off x="2895600" y="3886200"/>
            <a:ext cx="132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62474" name="TextBox 11">
            <a:extLst>
              <a:ext uri="{FF2B5EF4-FFF2-40B4-BE49-F238E27FC236}">
                <a16:creationId xmlns:a16="http://schemas.microsoft.com/office/drawing/2014/main" id="{F3D8743C-FC2E-A9B4-05F1-C72F0C60A25D}"/>
              </a:ext>
            </a:extLst>
          </p:cNvPr>
          <p:cNvSpPr txBox="1">
            <a:spLocks noChangeArrowheads="1"/>
          </p:cNvSpPr>
          <p:nvPr/>
        </p:nvSpPr>
        <p:spPr bwMode="auto">
          <a:xfrm>
            <a:off x="2819400" y="381000"/>
            <a:ext cx="132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62475" name="TextBox 12">
            <a:extLst>
              <a:ext uri="{FF2B5EF4-FFF2-40B4-BE49-F238E27FC236}">
                <a16:creationId xmlns:a16="http://schemas.microsoft.com/office/drawing/2014/main" id="{84BC5F28-5ACB-C3ED-30C6-70A479FB121C}"/>
              </a:ext>
            </a:extLst>
          </p:cNvPr>
          <p:cNvSpPr txBox="1">
            <a:spLocks noChangeArrowheads="1"/>
          </p:cNvSpPr>
          <p:nvPr/>
        </p:nvSpPr>
        <p:spPr bwMode="auto">
          <a:xfrm>
            <a:off x="7240588" y="3886200"/>
            <a:ext cx="1217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62476" name="TextBox 13">
            <a:extLst>
              <a:ext uri="{FF2B5EF4-FFF2-40B4-BE49-F238E27FC236}">
                <a16:creationId xmlns:a16="http://schemas.microsoft.com/office/drawing/2014/main" id="{94E8F401-A039-60D6-C89A-B44E354F0DC5}"/>
              </a:ext>
            </a:extLst>
          </p:cNvPr>
          <p:cNvSpPr txBox="1">
            <a:spLocks noChangeArrowheads="1"/>
          </p:cNvSpPr>
          <p:nvPr/>
        </p:nvSpPr>
        <p:spPr bwMode="auto">
          <a:xfrm>
            <a:off x="7162801" y="381000"/>
            <a:ext cx="12176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2" name="Oval 1">
            <a:extLst>
              <a:ext uri="{FF2B5EF4-FFF2-40B4-BE49-F238E27FC236}">
                <a16:creationId xmlns:a16="http://schemas.microsoft.com/office/drawing/2014/main" id="{ABD9A28A-DB3F-95FD-D42C-9F3EEE421091}"/>
              </a:ext>
            </a:extLst>
          </p:cNvPr>
          <p:cNvSpPr/>
          <p:nvPr/>
        </p:nvSpPr>
        <p:spPr>
          <a:xfrm>
            <a:off x="8153400" y="5410200"/>
            <a:ext cx="838200" cy="6096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 name="Oval 2">
            <a:extLst>
              <a:ext uri="{FF2B5EF4-FFF2-40B4-BE49-F238E27FC236}">
                <a16:creationId xmlns:a16="http://schemas.microsoft.com/office/drawing/2014/main" id="{4C9F84B7-A1D3-F10B-2593-8BAA84A95602}"/>
              </a:ext>
            </a:extLst>
          </p:cNvPr>
          <p:cNvSpPr/>
          <p:nvPr/>
        </p:nvSpPr>
        <p:spPr>
          <a:xfrm>
            <a:off x="2286000" y="1752600"/>
            <a:ext cx="838200" cy="609600"/>
          </a:xfrm>
          <a:prstGeom prst="ellips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 name="Oval 3">
            <a:extLst>
              <a:ext uri="{FF2B5EF4-FFF2-40B4-BE49-F238E27FC236}">
                <a16:creationId xmlns:a16="http://schemas.microsoft.com/office/drawing/2014/main" id="{B66D0BA5-7CFC-B202-E555-DFF8070ABB83}"/>
              </a:ext>
            </a:extLst>
          </p:cNvPr>
          <p:cNvSpPr/>
          <p:nvPr/>
        </p:nvSpPr>
        <p:spPr>
          <a:xfrm>
            <a:off x="2286000" y="5486400"/>
            <a:ext cx="838200" cy="6096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5" name="Oval 4">
            <a:extLst>
              <a:ext uri="{FF2B5EF4-FFF2-40B4-BE49-F238E27FC236}">
                <a16:creationId xmlns:a16="http://schemas.microsoft.com/office/drawing/2014/main" id="{2E27B21E-0602-D710-0328-5DCC0CAFEE57}"/>
              </a:ext>
            </a:extLst>
          </p:cNvPr>
          <p:cNvSpPr/>
          <p:nvPr/>
        </p:nvSpPr>
        <p:spPr>
          <a:xfrm>
            <a:off x="7620000" y="1720850"/>
            <a:ext cx="838200" cy="609600"/>
          </a:xfrm>
          <a:prstGeom prst="ellips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490" name="Picture 2">
            <a:extLst>
              <a:ext uri="{FF2B5EF4-FFF2-40B4-BE49-F238E27FC236}">
                <a16:creationId xmlns:a16="http://schemas.microsoft.com/office/drawing/2014/main" id="{A0E93317-94E3-7985-9BC3-F506FB23EB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74838" y="136525"/>
            <a:ext cx="2667000" cy="2533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3491" name="Picture 3">
            <a:extLst>
              <a:ext uri="{FF2B5EF4-FFF2-40B4-BE49-F238E27FC236}">
                <a16:creationId xmlns:a16="http://schemas.microsoft.com/office/drawing/2014/main" id="{000570AF-E331-8EF2-D682-AE09ABECC0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56238" y="152400"/>
            <a:ext cx="4830762" cy="236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492" name="สี่เหลี่ยมผืนผ้า 5">
            <a:extLst>
              <a:ext uri="{FF2B5EF4-FFF2-40B4-BE49-F238E27FC236}">
                <a16:creationId xmlns:a16="http://schemas.microsoft.com/office/drawing/2014/main" id="{48F80B2F-1446-5B29-1982-C825DF53192F}"/>
              </a:ext>
            </a:extLst>
          </p:cNvPr>
          <p:cNvSpPr>
            <a:spLocks noChangeArrowheads="1"/>
          </p:cNvSpPr>
          <p:nvPr/>
        </p:nvSpPr>
        <p:spPr bwMode="auto">
          <a:xfrm>
            <a:off x="5257800" y="2590801"/>
            <a:ext cx="4953000" cy="923925"/>
          </a:xfrm>
          <a:prstGeom prst="rect">
            <a:avLst/>
          </a:prstGeom>
          <a:noFill/>
          <a:ln w="9525">
            <a:solidFill>
              <a:srgbClr val="00B050"/>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th-TH" altLang="en-US" sz="1800" b="1">
              <a:solidFill>
                <a:srgbClr val="0070C0"/>
              </a:solidFill>
            </a:endParaRPr>
          </a:p>
          <a:p>
            <a:pPr eaLnBrk="1" hangingPunct="1">
              <a:spcBef>
                <a:spcPct val="0"/>
              </a:spcBef>
              <a:buFontTx/>
              <a:buNone/>
            </a:pPr>
            <a:r>
              <a:rPr lang="en-US" altLang="en-US" sz="1800" b="1">
                <a:solidFill>
                  <a:srgbClr val="0070C0"/>
                </a:solidFill>
              </a:rPr>
              <a:t>   DELETE FROM  </a:t>
            </a:r>
            <a:r>
              <a:rPr lang="en-US" altLang="en-US" sz="1800" b="1">
                <a:solidFill>
                  <a:srgbClr val="000000"/>
                </a:solidFill>
              </a:rPr>
              <a:t>employees</a:t>
            </a:r>
            <a:r>
              <a:rPr lang="en-US" altLang="en-US" sz="1800" b="1">
                <a:solidFill>
                  <a:srgbClr val="0070C0"/>
                </a:solidFill>
              </a:rPr>
              <a:t> WHERE </a:t>
            </a:r>
            <a:r>
              <a:rPr lang="en-US" altLang="en-US" sz="1800" b="1">
                <a:solidFill>
                  <a:srgbClr val="000000"/>
                </a:solidFill>
              </a:rPr>
              <a:t>Id = 102 </a:t>
            </a:r>
            <a:r>
              <a:rPr lang="en-US" altLang="en-US" sz="1800" b="1">
                <a:solidFill>
                  <a:srgbClr val="0070C0"/>
                </a:solidFill>
              </a:rPr>
              <a:t>;</a:t>
            </a:r>
          </a:p>
          <a:p>
            <a:pPr eaLnBrk="1" hangingPunct="1">
              <a:spcBef>
                <a:spcPct val="0"/>
              </a:spcBef>
              <a:buFontTx/>
              <a:buNone/>
            </a:pPr>
            <a:endParaRPr lang="en-US" altLang="en-US" sz="1800">
              <a:solidFill>
                <a:srgbClr val="000000"/>
              </a:solidFill>
            </a:endParaRPr>
          </a:p>
        </p:txBody>
      </p:sp>
      <p:sp>
        <p:nvSpPr>
          <p:cNvPr id="7" name="ลูกศรลง 6">
            <a:extLst>
              <a:ext uri="{FF2B5EF4-FFF2-40B4-BE49-F238E27FC236}">
                <a16:creationId xmlns:a16="http://schemas.microsoft.com/office/drawing/2014/main" id="{5D35D3C4-24F7-9784-60DB-74C43EDD2715}"/>
              </a:ext>
            </a:extLst>
          </p:cNvPr>
          <p:cNvSpPr/>
          <p:nvPr/>
        </p:nvSpPr>
        <p:spPr>
          <a:xfrm>
            <a:off x="4724400" y="2743200"/>
            <a:ext cx="304800" cy="838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prstClr val="white"/>
              </a:solidFill>
            </a:endParaRPr>
          </a:p>
        </p:txBody>
      </p:sp>
      <p:pic>
        <p:nvPicPr>
          <p:cNvPr id="63494" name="Picture 2">
            <a:extLst>
              <a:ext uri="{FF2B5EF4-FFF2-40B4-BE49-F238E27FC236}">
                <a16:creationId xmlns:a16="http://schemas.microsoft.com/office/drawing/2014/main" id="{C1F764A0-2E57-12F4-AE33-2FD4D574DB4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8800" y="3962400"/>
            <a:ext cx="4819650"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3495" name="Picture 2">
            <a:extLst>
              <a:ext uri="{FF2B5EF4-FFF2-40B4-BE49-F238E27FC236}">
                <a16:creationId xmlns:a16="http://schemas.microsoft.com/office/drawing/2014/main" id="{04E6821E-3AC2-D4BE-0CAE-7A95B6B975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3962400"/>
            <a:ext cx="2667000" cy="2533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496" name="TextBox 7">
            <a:extLst>
              <a:ext uri="{FF2B5EF4-FFF2-40B4-BE49-F238E27FC236}">
                <a16:creationId xmlns:a16="http://schemas.microsoft.com/office/drawing/2014/main" id="{6EA61AF9-BA9C-37BC-07CD-AE96D9EADE46}"/>
              </a:ext>
            </a:extLst>
          </p:cNvPr>
          <p:cNvSpPr txBox="1">
            <a:spLocks noChangeArrowheads="1"/>
          </p:cNvSpPr>
          <p:nvPr/>
        </p:nvSpPr>
        <p:spPr bwMode="auto">
          <a:xfrm>
            <a:off x="7240588" y="3657600"/>
            <a:ext cx="1217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63497" name="TextBox 9">
            <a:extLst>
              <a:ext uri="{FF2B5EF4-FFF2-40B4-BE49-F238E27FC236}">
                <a16:creationId xmlns:a16="http://schemas.microsoft.com/office/drawing/2014/main" id="{54781CE5-2D1E-1EAF-BA60-2545D9D634E8}"/>
              </a:ext>
            </a:extLst>
          </p:cNvPr>
          <p:cNvSpPr txBox="1">
            <a:spLocks noChangeArrowheads="1"/>
          </p:cNvSpPr>
          <p:nvPr/>
        </p:nvSpPr>
        <p:spPr bwMode="auto">
          <a:xfrm>
            <a:off x="7392988" y="76200"/>
            <a:ext cx="1217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63498" name="TextBox 10">
            <a:extLst>
              <a:ext uri="{FF2B5EF4-FFF2-40B4-BE49-F238E27FC236}">
                <a16:creationId xmlns:a16="http://schemas.microsoft.com/office/drawing/2014/main" id="{69B1EB48-FB7B-481B-6918-62921DE8AD21}"/>
              </a:ext>
            </a:extLst>
          </p:cNvPr>
          <p:cNvSpPr txBox="1">
            <a:spLocks noChangeArrowheads="1"/>
          </p:cNvSpPr>
          <p:nvPr/>
        </p:nvSpPr>
        <p:spPr bwMode="auto">
          <a:xfrm>
            <a:off x="2895600" y="3886200"/>
            <a:ext cx="132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63499" name="TextBox 11">
            <a:extLst>
              <a:ext uri="{FF2B5EF4-FFF2-40B4-BE49-F238E27FC236}">
                <a16:creationId xmlns:a16="http://schemas.microsoft.com/office/drawing/2014/main" id="{CF2B118D-3D3A-D2D9-448F-73D415381766}"/>
              </a:ext>
            </a:extLst>
          </p:cNvPr>
          <p:cNvSpPr txBox="1">
            <a:spLocks noChangeArrowheads="1"/>
          </p:cNvSpPr>
          <p:nvPr/>
        </p:nvSpPr>
        <p:spPr bwMode="auto">
          <a:xfrm>
            <a:off x="2819400" y="87314"/>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2" name="Rectangle 1">
            <a:extLst>
              <a:ext uri="{FF2B5EF4-FFF2-40B4-BE49-F238E27FC236}">
                <a16:creationId xmlns:a16="http://schemas.microsoft.com/office/drawing/2014/main" id="{C49B07FD-470D-9779-4B4E-B93F33B350EF}"/>
              </a:ext>
            </a:extLst>
          </p:cNvPr>
          <p:cNvSpPr/>
          <p:nvPr/>
        </p:nvSpPr>
        <p:spPr>
          <a:xfrm>
            <a:off x="5456238" y="1143000"/>
            <a:ext cx="4449762" cy="533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 name="Oval 2">
            <a:extLst>
              <a:ext uri="{FF2B5EF4-FFF2-40B4-BE49-F238E27FC236}">
                <a16:creationId xmlns:a16="http://schemas.microsoft.com/office/drawing/2014/main" id="{A70D3C3E-6351-7614-EA0C-9E766C89132E}"/>
              </a:ext>
            </a:extLst>
          </p:cNvPr>
          <p:cNvSpPr/>
          <p:nvPr/>
        </p:nvSpPr>
        <p:spPr>
          <a:xfrm>
            <a:off x="2438400" y="1382714"/>
            <a:ext cx="457200" cy="36988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 name="Oval 3">
            <a:extLst>
              <a:ext uri="{FF2B5EF4-FFF2-40B4-BE49-F238E27FC236}">
                <a16:creationId xmlns:a16="http://schemas.microsoft.com/office/drawing/2014/main" id="{F9392360-18EE-21DE-DD58-855CB9458B04}"/>
              </a:ext>
            </a:extLst>
          </p:cNvPr>
          <p:cNvSpPr/>
          <p:nvPr/>
        </p:nvSpPr>
        <p:spPr>
          <a:xfrm>
            <a:off x="2514600" y="5181600"/>
            <a:ext cx="457200" cy="36988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3503" name="TextBox 5">
            <a:extLst>
              <a:ext uri="{FF2B5EF4-FFF2-40B4-BE49-F238E27FC236}">
                <a16:creationId xmlns:a16="http://schemas.microsoft.com/office/drawing/2014/main" id="{F7B7150F-5C7C-3985-AE5E-2DDDD70EDDC8}"/>
              </a:ext>
            </a:extLst>
          </p:cNvPr>
          <p:cNvSpPr txBox="1">
            <a:spLocks noChangeArrowheads="1"/>
          </p:cNvSpPr>
          <p:nvPr/>
        </p:nvSpPr>
        <p:spPr bwMode="auto">
          <a:xfrm>
            <a:off x="1600201" y="2935288"/>
            <a:ext cx="3122613"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FontTx/>
              <a:buNone/>
            </a:pPr>
            <a:r>
              <a:rPr lang="en-US" altLang="en-US" sz="1800">
                <a:latin typeface="Arial" panose="020B0604020202020204" pitchFamily="34" charset="0"/>
              </a:rPr>
              <a:t>DELETE FROM  department WHERE Id = 20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สี่เหลี่ยมผืนผ้า 3">
            <a:extLst>
              <a:ext uri="{FF2B5EF4-FFF2-40B4-BE49-F238E27FC236}">
                <a16:creationId xmlns:a16="http://schemas.microsoft.com/office/drawing/2014/main" id="{DC8BBE61-50CD-F616-6A85-8AEBEC639E4E}"/>
              </a:ext>
            </a:extLst>
          </p:cNvPr>
          <p:cNvSpPr>
            <a:spLocks noChangeArrowheads="1"/>
          </p:cNvSpPr>
          <p:nvPr/>
        </p:nvSpPr>
        <p:spPr bwMode="auto">
          <a:xfrm>
            <a:off x="1981200" y="147638"/>
            <a:ext cx="80772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b="1">
                <a:solidFill>
                  <a:srgbClr val="FF0000"/>
                </a:solidFill>
              </a:rPr>
              <a:t>SET NULL Referential Integrity Constraints in MySQL</a:t>
            </a:r>
            <a:endParaRPr lang="en-US" altLang="en-US" sz="2400">
              <a:solidFill>
                <a:srgbClr val="FF0000"/>
              </a:solidFill>
            </a:endParaRPr>
          </a:p>
        </p:txBody>
      </p:sp>
      <p:sp>
        <p:nvSpPr>
          <p:cNvPr id="65539" name="สี่เหลี่ยมผืนผ้า 4">
            <a:extLst>
              <a:ext uri="{FF2B5EF4-FFF2-40B4-BE49-F238E27FC236}">
                <a16:creationId xmlns:a16="http://schemas.microsoft.com/office/drawing/2014/main" id="{A0EB735D-ED3B-AA32-1EE5-788A7FC53449}"/>
              </a:ext>
            </a:extLst>
          </p:cNvPr>
          <p:cNvSpPr>
            <a:spLocks noChangeArrowheads="1"/>
          </p:cNvSpPr>
          <p:nvPr/>
        </p:nvSpPr>
        <p:spPr bwMode="auto">
          <a:xfrm>
            <a:off x="1981200" y="685801"/>
            <a:ext cx="8077200" cy="1754326"/>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spcBef>
                <a:spcPct val="0"/>
              </a:spcBef>
              <a:buNone/>
            </a:pPr>
            <a:r>
              <a:rPr lang="en-US" sz="1800" dirty="0"/>
              <a:t>CREATE TABLE department ( id INT PRIMARY KEY, name VARCHAR(50) );</a:t>
            </a:r>
            <a:br>
              <a:rPr lang="en-US" sz="1800" dirty="0"/>
            </a:br>
            <a:r>
              <a:rPr lang="en-US" altLang="en-US" sz="1800" dirty="0">
                <a:solidFill>
                  <a:srgbClr val="000000"/>
                </a:solidFill>
              </a:rPr>
              <a:t>-- Insert some test data in Department Table</a:t>
            </a:r>
            <a:endParaRPr lang="th-TH" altLang="en-US" sz="1800" dirty="0">
              <a:solidFill>
                <a:srgbClr val="000000"/>
              </a:solidFill>
            </a:endParaRPr>
          </a:p>
          <a:p>
            <a:pPr eaLnBrk="1" hangingPunct="1">
              <a:spcBef>
                <a:spcPct val="0"/>
              </a:spcBef>
              <a:buFontTx/>
              <a:buNone/>
            </a:pPr>
            <a:r>
              <a:rPr lang="en-US" altLang="en-US" sz="1800" b="1" dirty="0">
                <a:solidFill>
                  <a:srgbClr val="0070C0"/>
                </a:solidFill>
              </a:rPr>
              <a:t>Insert </a:t>
            </a:r>
            <a:r>
              <a:rPr lang="th-TH" altLang="en-US" sz="1800" b="1" dirty="0">
                <a:solidFill>
                  <a:srgbClr val="0070C0"/>
                </a:solidFill>
              </a:rPr>
              <a:t>  </a:t>
            </a:r>
            <a:r>
              <a:rPr lang="en-US" altLang="en-US" sz="1800" b="1" dirty="0">
                <a:solidFill>
                  <a:srgbClr val="0070C0"/>
                </a:solidFill>
              </a:rPr>
              <a:t>into </a:t>
            </a:r>
            <a:r>
              <a:rPr lang="th-TH" altLang="en-US" sz="1800" b="1" dirty="0">
                <a:solidFill>
                  <a:srgbClr val="0070C0"/>
                </a:solidFill>
              </a:rPr>
              <a:t>  </a:t>
            </a:r>
            <a:r>
              <a:rPr lang="en-US" altLang="en-US" sz="1800" dirty="0">
                <a:solidFill>
                  <a:srgbClr val="000000"/>
                </a:solidFill>
              </a:rPr>
              <a:t>Department values (10, 'IT');</a:t>
            </a:r>
            <a:endParaRPr lang="th-TH" altLang="en-US" sz="1800" dirty="0">
              <a:solidFill>
                <a:srgbClr val="000000"/>
              </a:solidFill>
            </a:endParaRPr>
          </a:p>
          <a:p>
            <a:pPr eaLnBrk="1" hangingPunct="1">
              <a:spcBef>
                <a:spcPct val="0"/>
              </a:spcBef>
              <a:buFontTx/>
              <a:buNone/>
            </a:pPr>
            <a:r>
              <a:rPr lang="en-US" altLang="en-US" sz="1800" b="1" dirty="0">
                <a:solidFill>
                  <a:srgbClr val="0070C0"/>
                </a:solidFill>
              </a:rPr>
              <a:t>Insert </a:t>
            </a:r>
            <a:r>
              <a:rPr lang="th-TH" altLang="en-US" sz="1800" b="1" dirty="0">
                <a:solidFill>
                  <a:srgbClr val="0070C0"/>
                </a:solidFill>
              </a:rPr>
              <a:t>  </a:t>
            </a:r>
            <a:r>
              <a:rPr lang="en-US" altLang="en-US" sz="1800" b="1" dirty="0">
                <a:solidFill>
                  <a:srgbClr val="0070C0"/>
                </a:solidFill>
              </a:rPr>
              <a:t>into </a:t>
            </a:r>
            <a:r>
              <a:rPr lang="th-TH" altLang="en-US" sz="1800" b="1" dirty="0">
                <a:solidFill>
                  <a:srgbClr val="0070C0"/>
                </a:solidFill>
              </a:rPr>
              <a:t>  </a:t>
            </a:r>
            <a:r>
              <a:rPr lang="en-US" altLang="en-US" sz="1800" dirty="0">
                <a:solidFill>
                  <a:srgbClr val="000000"/>
                </a:solidFill>
              </a:rPr>
              <a:t>Department values (20, 'HR');</a:t>
            </a:r>
            <a:endParaRPr lang="th-TH" altLang="en-US" sz="1800" dirty="0">
              <a:solidFill>
                <a:srgbClr val="000000"/>
              </a:solidFill>
            </a:endParaRPr>
          </a:p>
          <a:p>
            <a:pPr eaLnBrk="1" hangingPunct="1">
              <a:spcBef>
                <a:spcPct val="0"/>
              </a:spcBef>
              <a:buFontTx/>
              <a:buNone/>
            </a:pPr>
            <a:r>
              <a:rPr lang="en-US" altLang="en-US" sz="1800" b="1" dirty="0">
                <a:solidFill>
                  <a:srgbClr val="0070C0"/>
                </a:solidFill>
              </a:rPr>
              <a:t>Insert </a:t>
            </a:r>
            <a:r>
              <a:rPr lang="th-TH" altLang="en-US" sz="1800" b="1" dirty="0">
                <a:solidFill>
                  <a:srgbClr val="0070C0"/>
                </a:solidFill>
              </a:rPr>
              <a:t>  </a:t>
            </a:r>
            <a:r>
              <a:rPr lang="en-US" altLang="en-US" sz="1800" b="1" dirty="0">
                <a:solidFill>
                  <a:srgbClr val="0070C0"/>
                </a:solidFill>
              </a:rPr>
              <a:t>into </a:t>
            </a:r>
            <a:r>
              <a:rPr lang="th-TH" altLang="en-US" sz="1800" b="1" dirty="0">
                <a:solidFill>
                  <a:srgbClr val="0070C0"/>
                </a:solidFill>
              </a:rPr>
              <a:t>  </a:t>
            </a:r>
            <a:r>
              <a:rPr lang="en-US" altLang="en-US" sz="1800" dirty="0">
                <a:solidFill>
                  <a:srgbClr val="000000"/>
                </a:solidFill>
              </a:rPr>
              <a:t>Department values (30, 'INFRA');</a:t>
            </a:r>
            <a:endParaRPr lang="th-TH" altLang="en-US" sz="1800" dirty="0">
              <a:solidFill>
                <a:srgbClr val="000000"/>
              </a:solidFill>
            </a:endParaRPr>
          </a:p>
          <a:p>
            <a:pPr eaLnBrk="1" hangingPunct="1">
              <a:spcBef>
                <a:spcPct val="0"/>
              </a:spcBef>
              <a:buFontTx/>
              <a:buNone/>
            </a:pPr>
            <a:endParaRPr lang="en-US" altLang="en-US" sz="1800" dirty="0">
              <a:solidFill>
                <a:srgbClr val="000000"/>
              </a:solidFill>
            </a:endParaRPr>
          </a:p>
        </p:txBody>
      </p:sp>
      <p:sp>
        <p:nvSpPr>
          <p:cNvPr id="6" name="TextBox 5">
            <a:extLst>
              <a:ext uri="{FF2B5EF4-FFF2-40B4-BE49-F238E27FC236}">
                <a16:creationId xmlns:a16="http://schemas.microsoft.com/office/drawing/2014/main" id="{FC6213FD-5060-8F4F-9A1F-1370094D3262}"/>
              </a:ext>
            </a:extLst>
          </p:cNvPr>
          <p:cNvSpPr txBox="1"/>
          <p:nvPr/>
        </p:nvSpPr>
        <p:spPr>
          <a:xfrm>
            <a:off x="1905000" y="2797175"/>
            <a:ext cx="8153400" cy="3970318"/>
          </a:xfrm>
          <a:prstGeom prst="rect">
            <a:avLst/>
          </a:prstGeom>
          <a:solidFill>
            <a:schemeClr val="accent1">
              <a:lumMod val="20000"/>
              <a:lumOff val="80000"/>
            </a:schemeClr>
          </a:solidFill>
        </p:spPr>
        <p:txBody>
          <a:bodyPr>
            <a:spAutoFit/>
          </a:bodyPr>
          <a:lstStyle/>
          <a:p>
            <a:pPr>
              <a:defRPr/>
            </a:pPr>
            <a:r>
              <a:rPr lang="en-US" dirty="0"/>
              <a:t>CREATE TABLE employees ( </a:t>
            </a:r>
            <a:br>
              <a:rPr lang="en-US" dirty="0"/>
            </a:br>
            <a:r>
              <a:rPr lang="en-US" dirty="0"/>
              <a:t>       id INT PRIMARY KEY, </a:t>
            </a:r>
            <a:br>
              <a:rPr lang="en-US" dirty="0"/>
            </a:br>
            <a:r>
              <a:rPr lang="en-US" dirty="0"/>
              <a:t>       name VARCHAR(100) NOT NULL, </a:t>
            </a:r>
            <a:br>
              <a:rPr lang="en-US" dirty="0"/>
            </a:br>
            <a:r>
              <a:rPr lang="en-US" dirty="0"/>
              <a:t>       </a:t>
            </a:r>
            <a:r>
              <a:rPr lang="en-US" dirty="0" err="1"/>
              <a:t>department_id</a:t>
            </a:r>
            <a:r>
              <a:rPr lang="en-US" dirty="0"/>
              <a:t> INT, </a:t>
            </a:r>
          </a:p>
          <a:p>
            <a:pPr>
              <a:defRPr/>
            </a:pPr>
            <a:r>
              <a:rPr lang="en-US" dirty="0"/>
              <a:t>       FOREIGN KEY (</a:t>
            </a:r>
            <a:r>
              <a:rPr lang="en-US" dirty="0" err="1"/>
              <a:t>department_id</a:t>
            </a:r>
            <a:r>
              <a:rPr lang="en-US" dirty="0"/>
              <a:t>) REFERENCES department(id) </a:t>
            </a:r>
          </a:p>
          <a:p>
            <a:pPr>
              <a:defRPr/>
            </a:pPr>
            <a:r>
              <a:rPr lang="en-US" dirty="0"/>
              <a:t>               ON DELETE SET NULL </a:t>
            </a:r>
          </a:p>
          <a:p>
            <a:pPr>
              <a:defRPr/>
            </a:pPr>
            <a:r>
              <a:rPr lang="en-US" dirty="0"/>
              <a:t>               ON UPDATE SET NULL </a:t>
            </a:r>
          </a:p>
          <a:p>
            <a:pPr>
              <a:defRPr/>
            </a:pPr>
            <a:r>
              <a:rPr lang="en-US" dirty="0"/>
              <a:t>);</a:t>
            </a:r>
          </a:p>
          <a:p>
            <a:pPr>
              <a:defRPr/>
            </a:pPr>
            <a:endParaRPr lang="th-TH" dirty="0">
              <a:solidFill>
                <a:prstClr val="black"/>
              </a:solidFill>
              <a:latin typeface="Calibri"/>
            </a:endParaRPr>
          </a:p>
          <a:p>
            <a:pPr>
              <a:defRPr/>
            </a:pPr>
            <a:r>
              <a:rPr lang="en-US" b="1" dirty="0">
                <a:solidFill>
                  <a:srgbClr val="0070C0"/>
                </a:solidFill>
                <a:latin typeface="Calibri"/>
              </a:rPr>
              <a:t>INSERT</a:t>
            </a:r>
            <a:r>
              <a:rPr lang="th-TH" b="1" dirty="0">
                <a:solidFill>
                  <a:srgbClr val="0070C0"/>
                </a:solidFill>
                <a:latin typeface="Calibri"/>
              </a:rPr>
              <a:t>  </a:t>
            </a:r>
            <a:r>
              <a:rPr lang="en-US" dirty="0">
                <a:solidFill>
                  <a:srgbClr val="0070C0"/>
                </a:solidFill>
                <a:latin typeface="Calibri"/>
              </a:rPr>
              <a:t> </a:t>
            </a:r>
            <a:r>
              <a:rPr lang="en-US" b="1" dirty="0">
                <a:solidFill>
                  <a:srgbClr val="0070C0"/>
                </a:solidFill>
                <a:latin typeface="Calibri"/>
              </a:rPr>
              <a:t>into</a:t>
            </a:r>
            <a:r>
              <a:rPr lang="en-US" dirty="0">
                <a:solidFill>
                  <a:srgbClr val="0070C0"/>
                </a:solidFill>
                <a:latin typeface="Calibri"/>
              </a:rPr>
              <a:t> </a:t>
            </a:r>
            <a:r>
              <a:rPr lang="th-TH" dirty="0">
                <a:solidFill>
                  <a:srgbClr val="0070C0"/>
                </a:solidFill>
                <a:latin typeface="Calibri"/>
              </a:rPr>
              <a:t>  </a:t>
            </a:r>
            <a:r>
              <a:rPr lang="en-US" dirty="0">
                <a:solidFill>
                  <a:prstClr val="black"/>
                </a:solidFill>
                <a:latin typeface="Calibri"/>
              </a:rPr>
              <a:t>Employees </a:t>
            </a:r>
            <a:r>
              <a:rPr lang="en-US" b="1" dirty="0">
                <a:solidFill>
                  <a:prstClr val="black"/>
                </a:solidFill>
                <a:latin typeface="Calibri"/>
              </a:rPr>
              <a:t>VALUES</a:t>
            </a:r>
            <a:r>
              <a:rPr lang="en-US" dirty="0">
                <a:solidFill>
                  <a:prstClr val="black"/>
                </a:solidFill>
                <a:latin typeface="Calibri"/>
              </a:rPr>
              <a:t> (101, '</a:t>
            </a:r>
            <a:r>
              <a:rPr lang="en-US" dirty="0" err="1">
                <a:solidFill>
                  <a:prstClr val="black"/>
                </a:solidFill>
                <a:latin typeface="Calibri"/>
              </a:rPr>
              <a:t>Anurag</a:t>
            </a:r>
            <a:r>
              <a:rPr lang="en-US" dirty="0">
                <a:solidFill>
                  <a:prstClr val="black"/>
                </a:solidFill>
                <a:latin typeface="Calibri"/>
              </a:rPr>
              <a:t>', 10); </a:t>
            </a:r>
          </a:p>
          <a:p>
            <a:pPr>
              <a:defRPr/>
            </a:pPr>
            <a:r>
              <a:rPr lang="en-US" b="1" dirty="0">
                <a:solidFill>
                  <a:srgbClr val="0070C0"/>
                </a:solidFill>
                <a:latin typeface="Calibri"/>
              </a:rPr>
              <a:t>INSERT</a:t>
            </a:r>
            <a:r>
              <a:rPr lang="en-US" dirty="0">
                <a:solidFill>
                  <a:srgbClr val="0070C0"/>
                </a:solidFill>
                <a:latin typeface="Calibri"/>
              </a:rPr>
              <a:t> </a:t>
            </a:r>
            <a:r>
              <a:rPr lang="th-TH" dirty="0">
                <a:solidFill>
                  <a:srgbClr val="0070C0"/>
                </a:solidFill>
                <a:latin typeface="Calibri"/>
              </a:rPr>
              <a:t>  </a:t>
            </a:r>
            <a:r>
              <a:rPr lang="en-US" b="1" dirty="0">
                <a:solidFill>
                  <a:srgbClr val="0070C0"/>
                </a:solidFill>
                <a:latin typeface="Calibri"/>
              </a:rPr>
              <a:t>into</a:t>
            </a:r>
            <a:r>
              <a:rPr lang="en-US" dirty="0">
                <a:solidFill>
                  <a:srgbClr val="0070C0"/>
                </a:solidFill>
                <a:latin typeface="Calibri"/>
              </a:rPr>
              <a:t> </a:t>
            </a:r>
            <a:r>
              <a:rPr lang="th-TH" dirty="0">
                <a:solidFill>
                  <a:srgbClr val="0070C0"/>
                </a:solidFill>
                <a:latin typeface="Calibri"/>
              </a:rPr>
              <a:t>  </a:t>
            </a:r>
            <a:r>
              <a:rPr lang="en-US" dirty="0">
                <a:solidFill>
                  <a:prstClr val="black"/>
                </a:solidFill>
                <a:latin typeface="Calibri"/>
              </a:rPr>
              <a:t>Employees </a:t>
            </a:r>
            <a:r>
              <a:rPr lang="en-US" b="1" dirty="0">
                <a:solidFill>
                  <a:prstClr val="black"/>
                </a:solidFill>
                <a:latin typeface="Calibri"/>
              </a:rPr>
              <a:t>VALUES</a:t>
            </a:r>
            <a:r>
              <a:rPr lang="en-US" dirty="0">
                <a:solidFill>
                  <a:prstClr val="black"/>
                </a:solidFill>
                <a:latin typeface="Calibri"/>
              </a:rPr>
              <a:t> (102, '</a:t>
            </a:r>
            <a:r>
              <a:rPr lang="en-US" dirty="0" err="1">
                <a:solidFill>
                  <a:prstClr val="black"/>
                </a:solidFill>
                <a:latin typeface="Calibri"/>
              </a:rPr>
              <a:t>Pranaya</a:t>
            </a:r>
            <a:r>
              <a:rPr lang="en-US" dirty="0">
                <a:solidFill>
                  <a:prstClr val="black"/>
                </a:solidFill>
                <a:latin typeface="Calibri"/>
              </a:rPr>
              <a:t>', 20); </a:t>
            </a:r>
          </a:p>
          <a:p>
            <a:pPr>
              <a:defRPr/>
            </a:pPr>
            <a:r>
              <a:rPr lang="en-US" b="1" dirty="0">
                <a:solidFill>
                  <a:srgbClr val="0070C0"/>
                </a:solidFill>
                <a:latin typeface="Calibri"/>
              </a:rPr>
              <a:t>INSERT</a:t>
            </a:r>
            <a:r>
              <a:rPr lang="en-US" dirty="0">
                <a:solidFill>
                  <a:srgbClr val="0070C0"/>
                </a:solidFill>
                <a:latin typeface="Calibri"/>
              </a:rPr>
              <a:t> </a:t>
            </a:r>
            <a:r>
              <a:rPr lang="th-TH" dirty="0">
                <a:solidFill>
                  <a:srgbClr val="0070C0"/>
                </a:solidFill>
                <a:latin typeface="Calibri"/>
              </a:rPr>
              <a:t>  </a:t>
            </a:r>
            <a:r>
              <a:rPr lang="en-US" b="1" dirty="0">
                <a:solidFill>
                  <a:srgbClr val="0070C0"/>
                </a:solidFill>
                <a:latin typeface="Calibri"/>
              </a:rPr>
              <a:t>into</a:t>
            </a:r>
            <a:r>
              <a:rPr lang="en-US" dirty="0">
                <a:solidFill>
                  <a:srgbClr val="0070C0"/>
                </a:solidFill>
                <a:latin typeface="Calibri"/>
              </a:rPr>
              <a:t> </a:t>
            </a:r>
            <a:r>
              <a:rPr lang="th-TH" dirty="0">
                <a:solidFill>
                  <a:srgbClr val="0070C0"/>
                </a:solidFill>
                <a:latin typeface="Calibri"/>
              </a:rPr>
              <a:t>  </a:t>
            </a:r>
            <a:r>
              <a:rPr lang="en-US" dirty="0">
                <a:solidFill>
                  <a:prstClr val="black"/>
                </a:solidFill>
                <a:latin typeface="Calibri"/>
              </a:rPr>
              <a:t>Employees </a:t>
            </a:r>
            <a:r>
              <a:rPr lang="en-US" b="1" dirty="0">
                <a:solidFill>
                  <a:prstClr val="black"/>
                </a:solidFill>
                <a:latin typeface="Calibri"/>
              </a:rPr>
              <a:t>VALUES</a:t>
            </a:r>
            <a:r>
              <a:rPr lang="en-US" dirty="0">
                <a:solidFill>
                  <a:prstClr val="black"/>
                </a:solidFill>
                <a:latin typeface="Calibri"/>
              </a:rPr>
              <a:t> (103, '</a:t>
            </a:r>
            <a:r>
              <a:rPr lang="en-US" dirty="0" err="1">
                <a:solidFill>
                  <a:prstClr val="black"/>
                </a:solidFill>
                <a:latin typeface="Calibri"/>
              </a:rPr>
              <a:t>Hina</a:t>
            </a:r>
            <a:r>
              <a:rPr lang="en-US" dirty="0">
                <a:solidFill>
                  <a:prstClr val="black"/>
                </a:solidFill>
                <a:latin typeface="Calibri"/>
              </a:rPr>
              <a:t>', 30);</a:t>
            </a:r>
          </a:p>
          <a:p>
            <a:pPr>
              <a:defRPr/>
            </a:pPr>
            <a:r>
              <a:rPr lang="en-US" b="1" dirty="0">
                <a:solidFill>
                  <a:srgbClr val="0070C0"/>
                </a:solidFill>
                <a:latin typeface="Calibri"/>
              </a:rPr>
              <a:t>INSERT </a:t>
            </a:r>
            <a:r>
              <a:rPr lang="th-TH" b="1" dirty="0">
                <a:solidFill>
                  <a:srgbClr val="0070C0"/>
                </a:solidFill>
                <a:latin typeface="Calibri"/>
              </a:rPr>
              <a:t> </a:t>
            </a:r>
            <a:r>
              <a:rPr lang="en-US" b="1" dirty="0">
                <a:solidFill>
                  <a:srgbClr val="0070C0"/>
                </a:solidFill>
                <a:latin typeface="Calibri"/>
              </a:rPr>
              <a:t>into </a:t>
            </a:r>
            <a:r>
              <a:rPr lang="th-TH" b="1" dirty="0">
                <a:solidFill>
                  <a:srgbClr val="0070C0"/>
                </a:solidFill>
                <a:latin typeface="Calibri"/>
              </a:rPr>
              <a:t>  </a:t>
            </a:r>
            <a:r>
              <a:rPr lang="en-US" dirty="0">
                <a:solidFill>
                  <a:prstClr val="black"/>
                </a:solidFill>
                <a:latin typeface="Calibri"/>
              </a:rPr>
              <a:t>Employees</a:t>
            </a:r>
            <a:r>
              <a:rPr lang="en-US" b="1" dirty="0">
                <a:solidFill>
                  <a:prstClr val="black"/>
                </a:solidFill>
                <a:latin typeface="Calibri"/>
              </a:rPr>
              <a:t> VALUES </a:t>
            </a:r>
            <a:r>
              <a:rPr lang="en-US" dirty="0">
                <a:solidFill>
                  <a:prstClr val="black"/>
                </a:solidFill>
                <a:latin typeface="Calibri"/>
              </a:rPr>
              <a:t>(104, '</a:t>
            </a:r>
            <a:r>
              <a:rPr lang="en-US" dirty="0" err="1">
                <a:solidFill>
                  <a:prstClr val="black"/>
                </a:solidFill>
                <a:latin typeface="Calibri"/>
              </a:rPr>
              <a:t>apirak</a:t>
            </a:r>
            <a:r>
              <a:rPr lang="en-US" dirty="0">
                <a:solidFill>
                  <a:prstClr val="black"/>
                </a:solidFill>
                <a:latin typeface="Calibri"/>
              </a:rPr>
              <a:t>', 10); </a:t>
            </a:r>
          </a:p>
          <a:p>
            <a:pPr>
              <a:defRPr/>
            </a:pPr>
            <a:endParaRPr lang="en-US" dirty="0">
              <a:solidFill>
                <a:prstClr val="black"/>
              </a:solidFill>
              <a:latin typeface="Calibri"/>
            </a:endParaRPr>
          </a:p>
        </p:txBody>
      </p:sp>
      <p:sp>
        <p:nvSpPr>
          <p:cNvPr id="3" name="Star: 5 Points 2">
            <a:extLst>
              <a:ext uri="{FF2B5EF4-FFF2-40B4-BE49-F238E27FC236}">
                <a16:creationId xmlns:a16="http://schemas.microsoft.com/office/drawing/2014/main" id="{68449B5E-3801-BE24-7798-729E8D9FDB50}"/>
              </a:ext>
            </a:extLst>
          </p:cNvPr>
          <p:cNvSpPr/>
          <p:nvPr/>
        </p:nvSpPr>
        <p:spPr>
          <a:xfrm>
            <a:off x="540773" y="511277"/>
            <a:ext cx="1101213" cy="1061884"/>
          </a:xfrm>
          <a:prstGeom prst="star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586" name="Picture 2">
            <a:extLst>
              <a:ext uri="{FF2B5EF4-FFF2-40B4-BE49-F238E27FC236}">
                <a16:creationId xmlns:a16="http://schemas.microsoft.com/office/drawing/2014/main" id="{7FF3C70C-6149-1F7D-1724-6A8B8E6685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63750" y="152400"/>
            <a:ext cx="3346450"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587" name="Picture 3">
            <a:extLst>
              <a:ext uri="{FF2B5EF4-FFF2-40B4-BE49-F238E27FC236}">
                <a16:creationId xmlns:a16="http://schemas.microsoft.com/office/drawing/2014/main" id="{503CF235-274B-2F92-0D52-3A9AE1F0BA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1800" y="152401"/>
            <a:ext cx="2209800" cy="1947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588" name="Picture 4">
            <a:extLst>
              <a:ext uri="{FF2B5EF4-FFF2-40B4-BE49-F238E27FC236}">
                <a16:creationId xmlns:a16="http://schemas.microsoft.com/office/drawing/2014/main" id="{96E30839-B859-0D26-4B08-A08ED7CFEA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81801" y="3505200"/>
            <a:ext cx="27924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589" name="Picture 5">
            <a:extLst>
              <a:ext uri="{FF2B5EF4-FFF2-40B4-BE49-F238E27FC236}">
                <a16:creationId xmlns:a16="http://schemas.microsoft.com/office/drawing/2014/main" id="{A091985E-7E12-D5BE-154F-E4ADF48BD57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86000" y="3505201"/>
            <a:ext cx="3429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590" name="สี่เหลี่ยมผืนผ้า 7">
            <a:extLst>
              <a:ext uri="{FF2B5EF4-FFF2-40B4-BE49-F238E27FC236}">
                <a16:creationId xmlns:a16="http://schemas.microsoft.com/office/drawing/2014/main" id="{DA02D027-6910-A428-CC92-99144FE72AE6}"/>
              </a:ext>
            </a:extLst>
          </p:cNvPr>
          <p:cNvSpPr>
            <a:spLocks noChangeArrowheads="1"/>
          </p:cNvSpPr>
          <p:nvPr/>
        </p:nvSpPr>
        <p:spPr bwMode="auto">
          <a:xfrm>
            <a:off x="6781800" y="2286001"/>
            <a:ext cx="38100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b="1">
                <a:solidFill>
                  <a:srgbClr val="0070C0"/>
                </a:solidFill>
              </a:rPr>
              <a:t>DELETE FROM </a:t>
            </a:r>
            <a:r>
              <a:rPr lang="en-US" altLang="en-US" sz="2400" b="1">
                <a:solidFill>
                  <a:srgbClr val="262626"/>
                </a:solidFill>
              </a:rPr>
              <a:t>Department</a:t>
            </a:r>
            <a:r>
              <a:rPr lang="en-US" altLang="en-US" sz="2400" b="1">
                <a:solidFill>
                  <a:srgbClr val="0070C0"/>
                </a:solidFill>
              </a:rPr>
              <a:t> WHERE </a:t>
            </a:r>
            <a:r>
              <a:rPr lang="en-US" altLang="en-US" sz="2400" b="1">
                <a:solidFill>
                  <a:srgbClr val="262626"/>
                </a:solidFill>
              </a:rPr>
              <a:t>Id = 10</a:t>
            </a:r>
            <a:r>
              <a:rPr lang="th-TH" altLang="en-US" sz="2400" b="1">
                <a:solidFill>
                  <a:srgbClr val="262626"/>
                </a:solidFill>
              </a:rPr>
              <a:t> </a:t>
            </a:r>
            <a:r>
              <a:rPr lang="en-US" altLang="en-US" sz="2400" b="1">
                <a:solidFill>
                  <a:srgbClr val="0070C0"/>
                </a:solidFill>
              </a:rPr>
              <a:t>;</a:t>
            </a:r>
            <a:endParaRPr lang="en-US" altLang="en-US" sz="2400">
              <a:solidFill>
                <a:srgbClr val="0070C0"/>
              </a:solidFill>
            </a:endParaRPr>
          </a:p>
        </p:txBody>
      </p:sp>
      <p:sp>
        <p:nvSpPr>
          <p:cNvPr id="9" name="วงรี 8">
            <a:extLst>
              <a:ext uri="{FF2B5EF4-FFF2-40B4-BE49-F238E27FC236}">
                <a16:creationId xmlns:a16="http://schemas.microsoft.com/office/drawing/2014/main" id="{404A1C02-1C9C-C49F-5345-2C5CC89E02C7}"/>
              </a:ext>
            </a:extLst>
          </p:cNvPr>
          <p:cNvSpPr/>
          <p:nvPr/>
        </p:nvSpPr>
        <p:spPr>
          <a:xfrm>
            <a:off x="4038600" y="5029200"/>
            <a:ext cx="685800" cy="685800"/>
          </a:xfrm>
          <a:prstGeom prst="ellipse">
            <a:avLst/>
          </a:prstGeom>
          <a:noFill/>
          <a:ln>
            <a:solidFill>
              <a:srgbClr val="2A8487"/>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prstClr val="white"/>
              </a:solidFill>
            </a:endParaRPr>
          </a:p>
        </p:txBody>
      </p:sp>
      <p:sp>
        <p:nvSpPr>
          <p:cNvPr id="67592" name="TextBox 9">
            <a:extLst>
              <a:ext uri="{FF2B5EF4-FFF2-40B4-BE49-F238E27FC236}">
                <a16:creationId xmlns:a16="http://schemas.microsoft.com/office/drawing/2014/main" id="{8610BE50-F6AD-06F6-B938-6F27ED80DFD1}"/>
              </a:ext>
            </a:extLst>
          </p:cNvPr>
          <p:cNvSpPr txBox="1">
            <a:spLocks noChangeArrowheads="1"/>
          </p:cNvSpPr>
          <p:nvPr/>
        </p:nvSpPr>
        <p:spPr bwMode="auto">
          <a:xfrm>
            <a:off x="3124201" y="3200400"/>
            <a:ext cx="12176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67593" name="TextBox 10">
            <a:extLst>
              <a:ext uri="{FF2B5EF4-FFF2-40B4-BE49-F238E27FC236}">
                <a16:creationId xmlns:a16="http://schemas.microsoft.com/office/drawing/2014/main" id="{D1905FCE-3DB3-A98D-2590-E3C05BAA9399}"/>
              </a:ext>
            </a:extLst>
          </p:cNvPr>
          <p:cNvSpPr txBox="1">
            <a:spLocks noChangeArrowheads="1"/>
          </p:cNvSpPr>
          <p:nvPr/>
        </p:nvSpPr>
        <p:spPr bwMode="auto">
          <a:xfrm>
            <a:off x="4419601" y="1001714"/>
            <a:ext cx="121761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67594" name="TextBox 11">
            <a:extLst>
              <a:ext uri="{FF2B5EF4-FFF2-40B4-BE49-F238E27FC236}">
                <a16:creationId xmlns:a16="http://schemas.microsoft.com/office/drawing/2014/main" id="{6E7CCD37-CEEA-A8C2-4024-A25F7531C23B}"/>
              </a:ext>
            </a:extLst>
          </p:cNvPr>
          <p:cNvSpPr txBox="1">
            <a:spLocks noChangeArrowheads="1"/>
          </p:cNvSpPr>
          <p:nvPr/>
        </p:nvSpPr>
        <p:spPr bwMode="auto">
          <a:xfrm>
            <a:off x="7435850" y="3276600"/>
            <a:ext cx="132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67595" name="TextBox 12">
            <a:extLst>
              <a:ext uri="{FF2B5EF4-FFF2-40B4-BE49-F238E27FC236}">
                <a16:creationId xmlns:a16="http://schemas.microsoft.com/office/drawing/2014/main" id="{2BE08C02-C51D-27A7-A8C8-DBC33ECB5689}"/>
              </a:ext>
            </a:extLst>
          </p:cNvPr>
          <p:cNvSpPr txBox="1">
            <a:spLocks noChangeArrowheads="1"/>
          </p:cNvSpPr>
          <p:nvPr/>
        </p:nvSpPr>
        <p:spPr bwMode="auto">
          <a:xfrm>
            <a:off x="8578850" y="11114"/>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2" name="Rectangle 1">
            <a:extLst>
              <a:ext uri="{FF2B5EF4-FFF2-40B4-BE49-F238E27FC236}">
                <a16:creationId xmlns:a16="http://schemas.microsoft.com/office/drawing/2014/main" id="{1CF55C86-45EF-79DC-E54D-D3F9D422D189}"/>
              </a:ext>
            </a:extLst>
          </p:cNvPr>
          <p:cNvSpPr/>
          <p:nvPr/>
        </p:nvSpPr>
        <p:spPr>
          <a:xfrm>
            <a:off x="6553200" y="685800"/>
            <a:ext cx="2590800" cy="52228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 name="Oval 2">
            <a:extLst>
              <a:ext uri="{FF2B5EF4-FFF2-40B4-BE49-F238E27FC236}">
                <a16:creationId xmlns:a16="http://schemas.microsoft.com/office/drawing/2014/main" id="{DD0222F9-C2E8-1A0C-787B-9C034EC596F7}"/>
              </a:ext>
            </a:extLst>
          </p:cNvPr>
          <p:cNvSpPr/>
          <p:nvPr/>
        </p:nvSpPr>
        <p:spPr>
          <a:xfrm>
            <a:off x="3810000" y="1512888"/>
            <a:ext cx="609600" cy="468312"/>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 name="Oval 3">
            <a:extLst>
              <a:ext uri="{FF2B5EF4-FFF2-40B4-BE49-F238E27FC236}">
                <a16:creationId xmlns:a16="http://schemas.microsoft.com/office/drawing/2014/main" id="{8604C483-5403-ADDB-4760-4A77C81F7454}"/>
              </a:ext>
            </a:extLst>
          </p:cNvPr>
          <p:cNvSpPr/>
          <p:nvPr/>
        </p:nvSpPr>
        <p:spPr>
          <a:xfrm>
            <a:off x="3810000" y="609601"/>
            <a:ext cx="609600" cy="46831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5" name="วงรี 8">
            <a:extLst>
              <a:ext uri="{FF2B5EF4-FFF2-40B4-BE49-F238E27FC236}">
                <a16:creationId xmlns:a16="http://schemas.microsoft.com/office/drawing/2014/main" id="{802FAACA-FBE0-E895-C391-0620D3B24355}"/>
              </a:ext>
            </a:extLst>
          </p:cNvPr>
          <p:cNvSpPr/>
          <p:nvPr/>
        </p:nvSpPr>
        <p:spPr>
          <a:xfrm>
            <a:off x="4038600" y="3962400"/>
            <a:ext cx="685800" cy="6858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prstClr val="white"/>
              </a:solidFill>
            </a:endParaRPr>
          </a:p>
        </p:txBody>
      </p:sp>
      <p:sp>
        <p:nvSpPr>
          <p:cNvPr id="7" name="Freeform: Shape 6">
            <a:extLst>
              <a:ext uri="{FF2B5EF4-FFF2-40B4-BE49-F238E27FC236}">
                <a16:creationId xmlns:a16="http://schemas.microsoft.com/office/drawing/2014/main" id="{987D6711-6D97-1286-6509-05B0C593C516}"/>
              </a:ext>
            </a:extLst>
          </p:cNvPr>
          <p:cNvSpPr/>
          <p:nvPr/>
        </p:nvSpPr>
        <p:spPr>
          <a:xfrm>
            <a:off x="4443413" y="808038"/>
            <a:ext cx="1524000" cy="3370262"/>
          </a:xfrm>
          <a:custGeom>
            <a:avLst/>
            <a:gdLst>
              <a:gd name="connsiteX0" fmla="*/ 0 w 1524015"/>
              <a:gd name="connsiteY0" fmla="*/ 33110 h 3371202"/>
              <a:gd name="connsiteX1" fmla="*/ 831273 w 1524015"/>
              <a:gd name="connsiteY1" fmla="*/ 60819 h 3371202"/>
              <a:gd name="connsiteX2" fmla="*/ 905164 w 1524015"/>
              <a:gd name="connsiteY2" fmla="*/ 97765 h 3371202"/>
              <a:gd name="connsiteX3" fmla="*/ 1071418 w 1524015"/>
              <a:gd name="connsiteY3" fmla="*/ 190128 h 3371202"/>
              <a:gd name="connsiteX4" fmla="*/ 1117600 w 1524015"/>
              <a:gd name="connsiteY4" fmla="*/ 227074 h 3371202"/>
              <a:gd name="connsiteX5" fmla="*/ 1182254 w 1524015"/>
              <a:gd name="connsiteY5" fmla="*/ 291728 h 3371202"/>
              <a:gd name="connsiteX6" fmla="*/ 1219200 w 1524015"/>
              <a:gd name="connsiteY6" fmla="*/ 374856 h 3371202"/>
              <a:gd name="connsiteX7" fmla="*/ 1283854 w 1524015"/>
              <a:gd name="connsiteY7" fmla="*/ 467219 h 3371202"/>
              <a:gd name="connsiteX8" fmla="*/ 1357745 w 1524015"/>
              <a:gd name="connsiteY8" fmla="*/ 624237 h 3371202"/>
              <a:gd name="connsiteX9" fmla="*/ 1413164 w 1524015"/>
              <a:gd name="connsiteY9" fmla="*/ 744310 h 3371202"/>
              <a:gd name="connsiteX10" fmla="*/ 1459345 w 1524015"/>
              <a:gd name="connsiteY10" fmla="*/ 864383 h 3371202"/>
              <a:gd name="connsiteX11" fmla="*/ 1496291 w 1524015"/>
              <a:gd name="connsiteY11" fmla="*/ 1196892 h 3371202"/>
              <a:gd name="connsiteX12" fmla="*/ 1524000 w 1524015"/>
              <a:gd name="connsiteY12" fmla="*/ 1280019 h 3371202"/>
              <a:gd name="connsiteX13" fmla="*/ 1431636 w 1524015"/>
              <a:gd name="connsiteY13" fmla="*/ 1723365 h 3371202"/>
              <a:gd name="connsiteX14" fmla="*/ 1413164 w 1524015"/>
              <a:gd name="connsiteY14" fmla="*/ 1815728 h 3371202"/>
              <a:gd name="connsiteX15" fmla="*/ 1330036 w 1524015"/>
              <a:gd name="connsiteY15" fmla="*/ 2102056 h 3371202"/>
              <a:gd name="connsiteX16" fmla="*/ 1209964 w 1524015"/>
              <a:gd name="connsiteY16" fmla="*/ 2332965 h 3371202"/>
              <a:gd name="connsiteX17" fmla="*/ 1043709 w 1524015"/>
              <a:gd name="connsiteY17" fmla="*/ 2702419 h 3371202"/>
              <a:gd name="connsiteX18" fmla="*/ 988291 w 1524015"/>
              <a:gd name="connsiteY18" fmla="*/ 2804019 h 3371202"/>
              <a:gd name="connsiteX19" fmla="*/ 822036 w 1524015"/>
              <a:gd name="connsiteY19" fmla="*/ 2933328 h 3371202"/>
              <a:gd name="connsiteX20" fmla="*/ 775854 w 1524015"/>
              <a:gd name="connsiteY20" fmla="*/ 2979510 h 3371202"/>
              <a:gd name="connsiteX21" fmla="*/ 692727 w 1524015"/>
              <a:gd name="connsiteY21" fmla="*/ 3025692 h 3371202"/>
              <a:gd name="connsiteX22" fmla="*/ 618836 w 1524015"/>
              <a:gd name="connsiteY22" fmla="*/ 3081110 h 3371202"/>
              <a:gd name="connsiteX23" fmla="*/ 443345 w 1524015"/>
              <a:gd name="connsiteY23" fmla="*/ 3182710 h 3371202"/>
              <a:gd name="connsiteX24" fmla="*/ 341745 w 1524015"/>
              <a:gd name="connsiteY24" fmla="*/ 3238128 h 3371202"/>
              <a:gd name="connsiteX25" fmla="*/ 304800 w 1524015"/>
              <a:gd name="connsiteY25" fmla="*/ 3293546 h 3371202"/>
              <a:gd name="connsiteX26" fmla="*/ 277091 w 1524015"/>
              <a:gd name="connsiteY26" fmla="*/ 3312019 h 3371202"/>
              <a:gd name="connsiteX27" fmla="*/ 295564 w 1524015"/>
              <a:gd name="connsiteY27" fmla="*/ 3247365 h 3371202"/>
              <a:gd name="connsiteX28" fmla="*/ 323273 w 1524015"/>
              <a:gd name="connsiteY28" fmla="*/ 3219656 h 3371202"/>
              <a:gd name="connsiteX29" fmla="*/ 240145 w 1524015"/>
              <a:gd name="connsiteY29" fmla="*/ 3247365 h 3371202"/>
              <a:gd name="connsiteX30" fmla="*/ 203200 w 1524015"/>
              <a:gd name="connsiteY30" fmla="*/ 3275074 h 3371202"/>
              <a:gd name="connsiteX31" fmla="*/ 212436 w 1524015"/>
              <a:gd name="connsiteY31" fmla="*/ 3312019 h 3371202"/>
              <a:gd name="connsiteX32" fmla="*/ 240145 w 1524015"/>
              <a:gd name="connsiteY32" fmla="*/ 3367437 h 3371202"/>
              <a:gd name="connsiteX33" fmla="*/ 369454 w 1524015"/>
              <a:gd name="connsiteY33" fmla="*/ 3358201 h 3371202"/>
              <a:gd name="connsiteX34" fmla="*/ 360218 w 1524015"/>
              <a:gd name="connsiteY34" fmla="*/ 3284310 h 3371202"/>
              <a:gd name="connsiteX35" fmla="*/ 350982 w 1524015"/>
              <a:gd name="connsiteY35" fmla="*/ 3284310 h 3371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524015" h="3371202">
                <a:moveTo>
                  <a:pt x="0" y="33110"/>
                </a:moveTo>
                <a:cubicBezTo>
                  <a:pt x="277091" y="42346"/>
                  <a:pt x="583298" y="-63170"/>
                  <a:pt x="831273" y="60819"/>
                </a:cubicBezTo>
                <a:lnTo>
                  <a:pt x="905164" y="97765"/>
                </a:lnTo>
                <a:cubicBezTo>
                  <a:pt x="980752" y="135559"/>
                  <a:pt x="1004414" y="143740"/>
                  <a:pt x="1071418" y="190128"/>
                </a:cubicBezTo>
                <a:cubicBezTo>
                  <a:pt x="1087627" y="201349"/>
                  <a:pt x="1103068" y="213753"/>
                  <a:pt x="1117600" y="227074"/>
                </a:cubicBezTo>
                <a:cubicBezTo>
                  <a:pt x="1140067" y="247669"/>
                  <a:pt x="1182254" y="291728"/>
                  <a:pt x="1182254" y="291728"/>
                </a:cubicBezTo>
                <a:cubicBezTo>
                  <a:pt x="1194569" y="319437"/>
                  <a:pt x="1204007" y="348614"/>
                  <a:pt x="1219200" y="374856"/>
                </a:cubicBezTo>
                <a:cubicBezTo>
                  <a:pt x="1238029" y="407380"/>
                  <a:pt x="1267852" y="433215"/>
                  <a:pt x="1283854" y="467219"/>
                </a:cubicBezTo>
                <a:lnTo>
                  <a:pt x="1357745" y="624237"/>
                </a:lnTo>
                <a:cubicBezTo>
                  <a:pt x="1376387" y="664183"/>
                  <a:pt x="1402473" y="701544"/>
                  <a:pt x="1413164" y="744310"/>
                </a:cubicBezTo>
                <a:cubicBezTo>
                  <a:pt x="1429754" y="810673"/>
                  <a:pt x="1417244" y="769656"/>
                  <a:pt x="1459345" y="864383"/>
                </a:cubicBezTo>
                <a:cubicBezTo>
                  <a:pt x="1471660" y="975219"/>
                  <a:pt x="1479150" y="1086699"/>
                  <a:pt x="1496291" y="1196892"/>
                </a:cubicBezTo>
                <a:cubicBezTo>
                  <a:pt x="1500780" y="1225753"/>
                  <a:pt x="1524712" y="1250820"/>
                  <a:pt x="1524000" y="1280019"/>
                </a:cubicBezTo>
                <a:cubicBezTo>
                  <a:pt x="1515897" y="1612231"/>
                  <a:pt x="1503175" y="1490860"/>
                  <a:pt x="1431636" y="1723365"/>
                </a:cubicBezTo>
                <a:cubicBezTo>
                  <a:pt x="1422403" y="1753374"/>
                  <a:pt x="1419834" y="1785047"/>
                  <a:pt x="1413164" y="1815728"/>
                </a:cubicBezTo>
                <a:cubicBezTo>
                  <a:pt x="1392149" y="1912397"/>
                  <a:pt x="1370242" y="2011064"/>
                  <a:pt x="1330036" y="2102056"/>
                </a:cubicBezTo>
                <a:cubicBezTo>
                  <a:pt x="1294973" y="2181409"/>
                  <a:pt x="1234893" y="2249870"/>
                  <a:pt x="1209964" y="2332965"/>
                </a:cubicBezTo>
                <a:cubicBezTo>
                  <a:pt x="1129468" y="2601282"/>
                  <a:pt x="1192583" y="2446024"/>
                  <a:pt x="1043709" y="2702419"/>
                </a:cubicBezTo>
                <a:cubicBezTo>
                  <a:pt x="1024338" y="2735780"/>
                  <a:pt x="1018742" y="2780335"/>
                  <a:pt x="988291" y="2804019"/>
                </a:cubicBezTo>
                <a:cubicBezTo>
                  <a:pt x="932873" y="2847122"/>
                  <a:pt x="871680" y="2883684"/>
                  <a:pt x="822036" y="2933328"/>
                </a:cubicBezTo>
                <a:cubicBezTo>
                  <a:pt x="806642" y="2948722"/>
                  <a:pt x="793569" y="2966856"/>
                  <a:pt x="775854" y="2979510"/>
                </a:cubicBezTo>
                <a:cubicBezTo>
                  <a:pt x="750060" y="2997934"/>
                  <a:pt x="719340" y="3008472"/>
                  <a:pt x="692727" y="3025692"/>
                </a:cubicBezTo>
                <a:cubicBezTo>
                  <a:pt x="666878" y="3042418"/>
                  <a:pt x="644890" y="3064706"/>
                  <a:pt x="618836" y="3081110"/>
                </a:cubicBezTo>
                <a:cubicBezTo>
                  <a:pt x="561636" y="3117125"/>
                  <a:pt x="507470" y="3161336"/>
                  <a:pt x="443345" y="3182710"/>
                </a:cubicBezTo>
                <a:cubicBezTo>
                  <a:pt x="388081" y="3201131"/>
                  <a:pt x="423892" y="3186786"/>
                  <a:pt x="341745" y="3238128"/>
                </a:cubicBezTo>
                <a:cubicBezTo>
                  <a:pt x="329430" y="3256601"/>
                  <a:pt x="319420" y="3276838"/>
                  <a:pt x="304800" y="3293546"/>
                </a:cubicBezTo>
                <a:cubicBezTo>
                  <a:pt x="297490" y="3301900"/>
                  <a:pt x="279268" y="3322904"/>
                  <a:pt x="277091" y="3312019"/>
                </a:cubicBezTo>
                <a:cubicBezTo>
                  <a:pt x="272695" y="3290040"/>
                  <a:pt x="285540" y="3267412"/>
                  <a:pt x="295564" y="3247365"/>
                </a:cubicBezTo>
                <a:cubicBezTo>
                  <a:pt x="301406" y="3235682"/>
                  <a:pt x="336335" y="3219656"/>
                  <a:pt x="323273" y="3219656"/>
                </a:cubicBezTo>
                <a:cubicBezTo>
                  <a:pt x="294065" y="3219656"/>
                  <a:pt x="267854" y="3238129"/>
                  <a:pt x="240145" y="3247365"/>
                </a:cubicBezTo>
                <a:cubicBezTo>
                  <a:pt x="227830" y="3256601"/>
                  <a:pt x="209264" y="3260925"/>
                  <a:pt x="203200" y="3275074"/>
                </a:cubicBezTo>
                <a:cubicBezTo>
                  <a:pt x="198200" y="3286742"/>
                  <a:pt x="207722" y="3300233"/>
                  <a:pt x="212436" y="3312019"/>
                </a:cubicBezTo>
                <a:cubicBezTo>
                  <a:pt x="220106" y="3331195"/>
                  <a:pt x="230909" y="3348964"/>
                  <a:pt x="240145" y="3367437"/>
                </a:cubicBezTo>
                <a:cubicBezTo>
                  <a:pt x="283248" y="3364358"/>
                  <a:pt x="333925" y="3382798"/>
                  <a:pt x="369454" y="3358201"/>
                </a:cubicBezTo>
                <a:cubicBezTo>
                  <a:pt x="389862" y="3344072"/>
                  <a:pt x="366238" y="3308391"/>
                  <a:pt x="360218" y="3284310"/>
                </a:cubicBezTo>
                <a:cubicBezTo>
                  <a:pt x="359471" y="3281323"/>
                  <a:pt x="354061" y="3284310"/>
                  <a:pt x="350982" y="3284310"/>
                </a:cubicBezTo>
              </a:path>
            </a:pathLst>
          </a:custGeom>
        </p:spPr>
        <p:style>
          <a:lnRef idx="1">
            <a:schemeClr val="accent2"/>
          </a:lnRef>
          <a:fillRef idx="0">
            <a:schemeClr val="accent2"/>
          </a:fillRef>
          <a:effectRef idx="0">
            <a:schemeClr val="accent2"/>
          </a:effectRef>
          <a:fontRef idx="minor">
            <a:schemeClr val="tx1"/>
          </a:fontRef>
        </p:style>
        <p:txBody>
          <a:bodyPr anchor="ctr"/>
          <a:lstStyle/>
          <a:p>
            <a:pPr algn="ctr">
              <a:defRPr/>
            </a:pPr>
            <a:endParaRPr lang="en-US"/>
          </a:p>
        </p:txBody>
      </p:sp>
      <p:sp>
        <p:nvSpPr>
          <p:cNvPr id="10" name="Freeform: Shape 9">
            <a:extLst>
              <a:ext uri="{FF2B5EF4-FFF2-40B4-BE49-F238E27FC236}">
                <a16:creationId xmlns:a16="http://schemas.microsoft.com/office/drawing/2014/main" id="{76047FB3-144B-ABDC-C083-07F683545961}"/>
              </a:ext>
            </a:extLst>
          </p:cNvPr>
          <p:cNvSpPr/>
          <p:nvPr/>
        </p:nvSpPr>
        <p:spPr>
          <a:xfrm>
            <a:off x="4424364" y="1801814"/>
            <a:ext cx="1690687" cy="3563937"/>
          </a:xfrm>
          <a:custGeom>
            <a:avLst/>
            <a:gdLst>
              <a:gd name="connsiteX0" fmla="*/ 0 w 1690255"/>
              <a:gd name="connsiteY0" fmla="*/ 0 h 3565285"/>
              <a:gd name="connsiteX1" fmla="*/ 295564 w 1690255"/>
              <a:gd name="connsiteY1" fmla="*/ 55418 h 3565285"/>
              <a:gd name="connsiteX2" fmla="*/ 969818 w 1690255"/>
              <a:gd name="connsiteY2" fmla="*/ 304800 h 3565285"/>
              <a:gd name="connsiteX3" fmla="*/ 1080655 w 1690255"/>
              <a:gd name="connsiteY3" fmla="*/ 397164 h 3565285"/>
              <a:gd name="connsiteX4" fmla="*/ 1579418 w 1690255"/>
              <a:gd name="connsiteY4" fmla="*/ 895927 h 3565285"/>
              <a:gd name="connsiteX5" fmla="*/ 1616364 w 1690255"/>
              <a:gd name="connsiteY5" fmla="*/ 969818 h 3565285"/>
              <a:gd name="connsiteX6" fmla="*/ 1690255 w 1690255"/>
              <a:gd name="connsiteY6" fmla="*/ 1274618 h 3565285"/>
              <a:gd name="connsiteX7" fmla="*/ 1671782 w 1690255"/>
              <a:gd name="connsiteY7" fmla="*/ 1865745 h 3565285"/>
              <a:gd name="connsiteX8" fmla="*/ 1662546 w 1690255"/>
              <a:gd name="connsiteY8" fmla="*/ 1948873 h 3565285"/>
              <a:gd name="connsiteX9" fmla="*/ 1625600 w 1690255"/>
              <a:gd name="connsiteY9" fmla="*/ 2124364 h 3565285"/>
              <a:gd name="connsiteX10" fmla="*/ 1607127 w 1690255"/>
              <a:gd name="connsiteY10" fmla="*/ 2235200 h 3565285"/>
              <a:gd name="connsiteX11" fmla="*/ 1560946 w 1690255"/>
              <a:gd name="connsiteY11" fmla="*/ 2327564 h 3565285"/>
              <a:gd name="connsiteX12" fmla="*/ 1459346 w 1690255"/>
              <a:gd name="connsiteY12" fmla="*/ 2613891 h 3565285"/>
              <a:gd name="connsiteX13" fmla="*/ 1422400 w 1690255"/>
              <a:gd name="connsiteY13" fmla="*/ 2669309 h 3565285"/>
              <a:gd name="connsiteX14" fmla="*/ 1348509 w 1690255"/>
              <a:gd name="connsiteY14" fmla="*/ 2798618 h 3565285"/>
              <a:gd name="connsiteX15" fmla="*/ 1302327 w 1690255"/>
              <a:gd name="connsiteY15" fmla="*/ 2844800 h 3565285"/>
              <a:gd name="connsiteX16" fmla="*/ 1062182 w 1690255"/>
              <a:gd name="connsiteY16" fmla="*/ 3020291 h 3565285"/>
              <a:gd name="connsiteX17" fmla="*/ 942109 w 1690255"/>
              <a:gd name="connsiteY17" fmla="*/ 3103418 h 3565285"/>
              <a:gd name="connsiteX18" fmla="*/ 822037 w 1690255"/>
              <a:gd name="connsiteY18" fmla="*/ 3186545 h 3565285"/>
              <a:gd name="connsiteX19" fmla="*/ 748146 w 1690255"/>
              <a:gd name="connsiteY19" fmla="*/ 3232727 h 3565285"/>
              <a:gd name="connsiteX20" fmla="*/ 692727 w 1690255"/>
              <a:gd name="connsiteY20" fmla="*/ 3269673 h 3565285"/>
              <a:gd name="connsiteX21" fmla="*/ 655782 w 1690255"/>
              <a:gd name="connsiteY21" fmla="*/ 3288145 h 3565285"/>
              <a:gd name="connsiteX22" fmla="*/ 517237 w 1690255"/>
              <a:gd name="connsiteY22" fmla="*/ 3398982 h 3565285"/>
              <a:gd name="connsiteX23" fmla="*/ 434109 w 1690255"/>
              <a:gd name="connsiteY23" fmla="*/ 3435927 h 3565285"/>
              <a:gd name="connsiteX24" fmla="*/ 406400 w 1690255"/>
              <a:gd name="connsiteY24" fmla="*/ 3445164 h 3565285"/>
              <a:gd name="connsiteX25" fmla="*/ 314037 w 1690255"/>
              <a:gd name="connsiteY25" fmla="*/ 3482109 h 3565285"/>
              <a:gd name="connsiteX26" fmla="*/ 258618 w 1690255"/>
              <a:gd name="connsiteY26" fmla="*/ 3491345 h 3565285"/>
              <a:gd name="connsiteX27" fmla="*/ 230909 w 1690255"/>
              <a:gd name="connsiteY27" fmla="*/ 3500582 h 3565285"/>
              <a:gd name="connsiteX28" fmla="*/ 249382 w 1690255"/>
              <a:gd name="connsiteY28" fmla="*/ 3463636 h 3565285"/>
              <a:gd name="connsiteX29" fmla="*/ 230909 w 1690255"/>
              <a:gd name="connsiteY29" fmla="*/ 3509818 h 3565285"/>
              <a:gd name="connsiteX30" fmla="*/ 249382 w 1690255"/>
              <a:gd name="connsiteY30" fmla="*/ 3546764 h 3565285"/>
              <a:gd name="connsiteX31" fmla="*/ 323273 w 1690255"/>
              <a:gd name="connsiteY31" fmla="*/ 3565236 h 3565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690255" h="3565285">
                <a:moveTo>
                  <a:pt x="0" y="0"/>
                </a:moveTo>
                <a:cubicBezTo>
                  <a:pt x="98521" y="18473"/>
                  <a:pt x="199097" y="28180"/>
                  <a:pt x="295564" y="55418"/>
                </a:cubicBezTo>
                <a:cubicBezTo>
                  <a:pt x="659955" y="158305"/>
                  <a:pt x="702023" y="184292"/>
                  <a:pt x="969818" y="304800"/>
                </a:cubicBezTo>
                <a:cubicBezTo>
                  <a:pt x="1072572" y="407554"/>
                  <a:pt x="852245" y="189519"/>
                  <a:pt x="1080655" y="397164"/>
                </a:cubicBezTo>
                <a:cubicBezTo>
                  <a:pt x="1223726" y="527228"/>
                  <a:pt x="1447998" y="730224"/>
                  <a:pt x="1579418" y="895927"/>
                </a:cubicBezTo>
                <a:cubicBezTo>
                  <a:pt x="1596530" y="917503"/>
                  <a:pt x="1607036" y="943908"/>
                  <a:pt x="1616364" y="969818"/>
                </a:cubicBezTo>
                <a:cubicBezTo>
                  <a:pt x="1662001" y="1096585"/>
                  <a:pt x="1665985" y="1145177"/>
                  <a:pt x="1690255" y="1274618"/>
                </a:cubicBezTo>
                <a:cubicBezTo>
                  <a:pt x="1684097" y="1471660"/>
                  <a:pt x="1679877" y="1668773"/>
                  <a:pt x="1671782" y="1865745"/>
                </a:cubicBezTo>
                <a:cubicBezTo>
                  <a:pt x="1670637" y="1893601"/>
                  <a:pt x="1667447" y="1921427"/>
                  <a:pt x="1662546" y="1948873"/>
                </a:cubicBezTo>
                <a:cubicBezTo>
                  <a:pt x="1652037" y="2007721"/>
                  <a:pt x="1636960" y="2065674"/>
                  <a:pt x="1625600" y="2124364"/>
                </a:cubicBezTo>
                <a:cubicBezTo>
                  <a:pt x="1618483" y="2161137"/>
                  <a:pt x="1618483" y="2199508"/>
                  <a:pt x="1607127" y="2235200"/>
                </a:cubicBezTo>
                <a:cubicBezTo>
                  <a:pt x="1596690" y="2268002"/>
                  <a:pt x="1573372" y="2295463"/>
                  <a:pt x="1560946" y="2327564"/>
                </a:cubicBezTo>
                <a:cubicBezTo>
                  <a:pt x="1541819" y="2376977"/>
                  <a:pt x="1494348" y="2543887"/>
                  <a:pt x="1459346" y="2613891"/>
                </a:cubicBezTo>
                <a:cubicBezTo>
                  <a:pt x="1449417" y="2633749"/>
                  <a:pt x="1433823" y="2650271"/>
                  <a:pt x="1422400" y="2669309"/>
                </a:cubicBezTo>
                <a:cubicBezTo>
                  <a:pt x="1396858" y="2711878"/>
                  <a:pt x="1376542" y="2757647"/>
                  <a:pt x="1348509" y="2798618"/>
                </a:cubicBezTo>
                <a:cubicBezTo>
                  <a:pt x="1336216" y="2816585"/>
                  <a:pt x="1318779" y="2830542"/>
                  <a:pt x="1302327" y="2844800"/>
                </a:cubicBezTo>
                <a:cubicBezTo>
                  <a:pt x="1214201" y="2921176"/>
                  <a:pt x="1165255" y="2949206"/>
                  <a:pt x="1062182" y="3020291"/>
                </a:cubicBezTo>
                <a:lnTo>
                  <a:pt x="942109" y="3103418"/>
                </a:lnTo>
                <a:cubicBezTo>
                  <a:pt x="902085" y="3131127"/>
                  <a:pt x="862541" y="3159542"/>
                  <a:pt x="822037" y="3186545"/>
                </a:cubicBezTo>
                <a:cubicBezTo>
                  <a:pt x="797870" y="3202656"/>
                  <a:pt x="772578" y="3217021"/>
                  <a:pt x="748146" y="3232727"/>
                </a:cubicBezTo>
                <a:cubicBezTo>
                  <a:pt x="729470" y="3244733"/>
                  <a:pt x="712585" y="3259744"/>
                  <a:pt x="692727" y="3269673"/>
                </a:cubicBezTo>
                <a:cubicBezTo>
                  <a:pt x="680412" y="3275830"/>
                  <a:pt x="666866" y="3279978"/>
                  <a:pt x="655782" y="3288145"/>
                </a:cubicBezTo>
                <a:cubicBezTo>
                  <a:pt x="608170" y="3323228"/>
                  <a:pt x="571281" y="3374963"/>
                  <a:pt x="517237" y="3398982"/>
                </a:cubicBezTo>
                <a:cubicBezTo>
                  <a:pt x="489528" y="3411297"/>
                  <a:pt x="462099" y="3424264"/>
                  <a:pt x="434109" y="3435927"/>
                </a:cubicBezTo>
                <a:cubicBezTo>
                  <a:pt x="425122" y="3439672"/>
                  <a:pt x="415349" y="3441329"/>
                  <a:pt x="406400" y="3445164"/>
                </a:cubicBezTo>
                <a:cubicBezTo>
                  <a:pt x="352898" y="3468094"/>
                  <a:pt x="381302" y="3465293"/>
                  <a:pt x="314037" y="3482109"/>
                </a:cubicBezTo>
                <a:cubicBezTo>
                  <a:pt x="295868" y="3486651"/>
                  <a:pt x="277091" y="3488266"/>
                  <a:pt x="258618" y="3491345"/>
                </a:cubicBezTo>
                <a:cubicBezTo>
                  <a:pt x="249382" y="3494424"/>
                  <a:pt x="233988" y="3509818"/>
                  <a:pt x="230909" y="3500582"/>
                </a:cubicBezTo>
                <a:cubicBezTo>
                  <a:pt x="226555" y="3487520"/>
                  <a:pt x="249382" y="3449867"/>
                  <a:pt x="249382" y="3463636"/>
                </a:cubicBezTo>
                <a:cubicBezTo>
                  <a:pt x="249382" y="3480216"/>
                  <a:pt x="237067" y="3494424"/>
                  <a:pt x="230909" y="3509818"/>
                </a:cubicBezTo>
                <a:cubicBezTo>
                  <a:pt x="237067" y="3522133"/>
                  <a:pt x="238367" y="3538503"/>
                  <a:pt x="249382" y="3546764"/>
                </a:cubicBezTo>
                <a:cubicBezTo>
                  <a:pt x="276608" y="3567183"/>
                  <a:pt x="296091" y="3565236"/>
                  <a:pt x="323273" y="3565236"/>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Picture 4">
            <a:extLst>
              <a:ext uri="{FF2B5EF4-FFF2-40B4-BE49-F238E27FC236}">
                <a16:creationId xmlns:a16="http://schemas.microsoft.com/office/drawing/2014/main" id="{4E7F36C1-E8CD-B49D-A79E-6910FEF049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05601" y="228600"/>
            <a:ext cx="27924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611" name="Picture 5">
            <a:extLst>
              <a:ext uri="{FF2B5EF4-FFF2-40B4-BE49-F238E27FC236}">
                <a16:creationId xmlns:a16="http://schemas.microsoft.com/office/drawing/2014/main" id="{99DCDBF5-4806-651A-7DE4-243188B9A7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8839" y="228600"/>
            <a:ext cx="3284537"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612" name="Picture 2">
            <a:extLst>
              <a:ext uri="{FF2B5EF4-FFF2-40B4-BE49-F238E27FC236}">
                <a16:creationId xmlns:a16="http://schemas.microsoft.com/office/drawing/2014/main" id="{C4C4F40B-23F9-06EC-BDC2-AB1B7B0E2B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0" y="3733800"/>
            <a:ext cx="3797300" cy="236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สี่เหลี่ยมผืนผ้า 8">
            <a:extLst>
              <a:ext uri="{FF2B5EF4-FFF2-40B4-BE49-F238E27FC236}">
                <a16:creationId xmlns:a16="http://schemas.microsoft.com/office/drawing/2014/main" id="{5CD71ADF-3696-C184-6AB2-D460AF6A0FC1}"/>
              </a:ext>
            </a:extLst>
          </p:cNvPr>
          <p:cNvSpPr/>
          <p:nvPr/>
        </p:nvSpPr>
        <p:spPr>
          <a:xfrm>
            <a:off x="2743200" y="2819401"/>
            <a:ext cx="6934200" cy="461963"/>
          </a:xfrm>
          <a:prstGeom prst="rect">
            <a:avLst/>
          </a:prstGeom>
          <a:solidFill>
            <a:schemeClr val="accent5">
              <a:lumMod val="20000"/>
              <a:lumOff val="80000"/>
            </a:schemeClr>
          </a:solidFill>
        </p:spPr>
        <p:txBody>
          <a:bodyPr>
            <a:spAutoFit/>
          </a:bodyPr>
          <a:lstStyle/>
          <a:p>
            <a:pPr>
              <a:defRPr/>
            </a:pPr>
            <a:r>
              <a:rPr lang="en-US" sz="2400" b="1" dirty="0">
                <a:solidFill>
                  <a:srgbClr val="FF0000"/>
                </a:solidFill>
                <a:latin typeface="Calibri"/>
              </a:rPr>
              <a:t>UPDATE</a:t>
            </a:r>
            <a:r>
              <a:rPr lang="en-US" sz="2400" b="1" dirty="0">
                <a:solidFill>
                  <a:prstClr val="black"/>
                </a:solidFill>
                <a:latin typeface="Calibri"/>
              </a:rPr>
              <a:t> Department </a:t>
            </a:r>
            <a:r>
              <a:rPr lang="en-US" sz="2400" b="1" dirty="0">
                <a:solidFill>
                  <a:srgbClr val="FF0000"/>
                </a:solidFill>
                <a:latin typeface="Calibri"/>
              </a:rPr>
              <a:t>SET</a:t>
            </a:r>
            <a:r>
              <a:rPr lang="en-US" sz="2400" b="1" dirty="0">
                <a:solidFill>
                  <a:prstClr val="black"/>
                </a:solidFill>
                <a:latin typeface="Calibri"/>
              </a:rPr>
              <a:t> Id = 40 </a:t>
            </a:r>
            <a:r>
              <a:rPr lang="th-TH" sz="2400" b="1" dirty="0">
                <a:solidFill>
                  <a:prstClr val="black"/>
                </a:solidFill>
                <a:latin typeface="Calibri"/>
              </a:rPr>
              <a:t> </a:t>
            </a:r>
            <a:r>
              <a:rPr lang="en-US" sz="2400" b="1" dirty="0">
                <a:solidFill>
                  <a:srgbClr val="FF0000"/>
                </a:solidFill>
                <a:latin typeface="Calibri"/>
              </a:rPr>
              <a:t>WHERE</a:t>
            </a:r>
            <a:r>
              <a:rPr lang="en-US" sz="2400" b="1" dirty="0">
                <a:solidFill>
                  <a:prstClr val="black"/>
                </a:solidFill>
                <a:latin typeface="Calibri"/>
              </a:rPr>
              <a:t> </a:t>
            </a:r>
            <a:r>
              <a:rPr lang="th-TH" sz="2400" b="1" dirty="0">
                <a:solidFill>
                  <a:prstClr val="black"/>
                </a:solidFill>
                <a:latin typeface="Calibri"/>
              </a:rPr>
              <a:t> </a:t>
            </a:r>
            <a:r>
              <a:rPr lang="en-US" sz="2400" b="1" dirty="0">
                <a:solidFill>
                  <a:prstClr val="black"/>
                </a:solidFill>
                <a:latin typeface="Calibri"/>
              </a:rPr>
              <a:t>Id = 30</a:t>
            </a:r>
            <a:r>
              <a:rPr lang="th-TH" sz="2400" b="1" dirty="0">
                <a:solidFill>
                  <a:prstClr val="black"/>
                </a:solidFill>
                <a:latin typeface="Calibri"/>
              </a:rPr>
              <a:t> </a:t>
            </a:r>
            <a:r>
              <a:rPr lang="en-US" sz="2400" b="1" dirty="0">
                <a:solidFill>
                  <a:prstClr val="black"/>
                </a:solidFill>
                <a:latin typeface="Calibri"/>
              </a:rPr>
              <a:t>;</a:t>
            </a:r>
            <a:endParaRPr lang="en-US" sz="2400" dirty="0">
              <a:solidFill>
                <a:prstClr val="black"/>
              </a:solidFill>
              <a:latin typeface="Calibri"/>
            </a:endParaRPr>
          </a:p>
        </p:txBody>
      </p:sp>
      <p:pic>
        <p:nvPicPr>
          <p:cNvPr id="68614" name="Picture 3">
            <a:extLst>
              <a:ext uri="{FF2B5EF4-FFF2-40B4-BE49-F238E27FC236}">
                <a16:creationId xmlns:a16="http://schemas.microsoft.com/office/drawing/2014/main" id="{F51410B7-23C3-33D9-2285-C9C960F6800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05600" y="3657600"/>
            <a:ext cx="2590800" cy="198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วงรี 10">
            <a:extLst>
              <a:ext uri="{FF2B5EF4-FFF2-40B4-BE49-F238E27FC236}">
                <a16:creationId xmlns:a16="http://schemas.microsoft.com/office/drawing/2014/main" id="{252B1DBC-0F7D-245B-0847-70D35D89F414}"/>
              </a:ext>
            </a:extLst>
          </p:cNvPr>
          <p:cNvSpPr/>
          <p:nvPr/>
        </p:nvSpPr>
        <p:spPr>
          <a:xfrm>
            <a:off x="7162800" y="4800600"/>
            <a:ext cx="685800" cy="3810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prstClr val="white"/>
              </a:solidFill>
            </a:endParaRPr>
          </a:p>
        </p:txBody>
      </p:sp>
      <p:sp>
        <p:nvSpPr>
          <p:cNvPr id="68616" name="TextBox 7">
            <a:extLst>
              <a:ext uri="{FF2B5EF4-FFF2-40B4-BE49-F238E27FC236}">
                <a16:creationId xmlns:a16="http://schemas.microsoft.com/office/drawing/2014/main" id="{2CBA25B5-6F93-205A-727C-44ED42833242}"/>
              </a:ext>
            </a:extLst>
          </p:cNvPr>
          <p:cNvSpPr txBox="1">
            <a:spLocks noChangeArrowheads="1"/>
          </p:cNvSpPr>
          <p:nvPr/>
        </p:nvSpPr>
        <p:spPr bwMode="auto">
          <a:xfrm>
            <a:off x="7435850" y="3363914"/>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68617" name="TextBox 9">
            <a:extLst>
              <a:ext uri="{FF2B5EF4-FFF2-40B4-BE49-F238E27FC236}">
                <a16:creationId xmlns:a16="http://schemas.microsoft.com/office/drawing/2014/main" id="{D4E1527E-DE94-1C3F-7DE3-C8DDA55DFE4A}"/>
              </a:ext>
            </a:extLst>
          </p:cNvPr>
          <p:cNvSpPr txBox="1">
            <a:spLocks noChangeArrowheads="1"/>
          </p:cNvSpPr>
          <p:nvPr/>
        </p:nvSpPr>
        <p:spPr bwMode="auto">
          <a:xfrm>
            <a:off x="7435850" y="76200"/>
            <a:ext cx="132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department</a:t>
            </a:r>
          </a:p>
        </p:txBody>
      </p:sp>
      <p:sp>
        <p:nvSpPr>
          <p:cNvPr id="68618" name="TextBox 11">
            <a:extLst>
              <a:ext uri="{FF2B5EF4-FFF2-40B4-BE49-F238E27FC236}">
                <a16:creationId xmlns:a16="http://schemas.microsoft.com/office/drawing/2014/main" id="{DD7F6A6C-7102-3A6F-7F26-F70527BD5B3C}"/>
              </a:ext>
            </a:extLst>
          </p:cNvPr>
          <p:cNvSpPr txBox="1">
            <a:spLocks noChangeArrowheads="1"/>
          </p:cNvSpPr>
          <p:nvPr/>
        </p:nvSpPr>
        <p:spPr bwMode="auto">
          <a:xfrm>
            <a:off x="3352801" y="87314"/>
            <a:ext cx="1217613"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68619" name="TextBox 12">
            <a:extLst>
              <a:ext uri="{FF2B5EF4-FFF2-40B4-BE49-F238E27FC236}">
                <a16:creationId xmlns:a16="http://schemas.microsoft.com/office/drawing/2014/main" id="{2D9014EF-ABAF-072A-532F-D4A318968E6A}"/>
              </a:ext>
            </a:extLst>
          </p:cNvPr>
          <p:cNvSpPr txBox="1">
            <a:spLocks noChangeArrowheads="1"/>
          </p:cNvSpPr>
          <p:nvPr/>
        </p:nvSpPr>
        <p:spPr bwMode="auto">
          <a:xfrm>
            <a:off x="3352801" y="3429000"/>
            <a:ext cx="12176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800" b="1">
                <a:solidFill>
                  <a:srgbClr val="000000"/>
                </a:solidFill>
              </a:rPr>
              <a:t>employees</a:t>
            </a:r>
          </a:p>
        </p:txBody>
      </p:sp>
      <p:sp>
        <p:nvSpPr>
          <p:cNvPr id="2" name="Rectangle 1">
            <a:extLst>
              <a:ext uri="{FF2B5EF4-FFF2-40B4-BE49-F238E27FC236}">
                <a16:creationId xmlns:a16="http://schemas.microsoft.com/office/drawing/2014/main" id="{637D28D2-BFCE-D671-C597-4C950CED91B6}"/>
              </a:ext>
            </a:extLst>
          </p:cNvPr>
          <p:cNvSpPr/>
          <p:nvPr/>
        </p:nvSpPr>
        <p:spPr>
          <a:xfrm>
            <a:off x="6629401" y="1524000"/>
            <a:ext cx="2792413" cy="36988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B1661FF7-0575-AA70-597F-457D9E6A58E7}"/>
              </a:ext>
            </a:extLst>
          </p:cNvPr>
          <p:cNvSpPr/>
          <p:nvPr/>
        </p:nvSpPr>
        <p:spPr>
          <a:xfrm>
            <a:off x="2362201" y="1447800"/>
            <a:ext cx="2792413" cy="36988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AFA355AD-7577-96E6-7205-CA40F2AB773B}"/>
              </a:ext>
            </a:extLst>
          </p:cNvPr>
          <p:cNvSpPr/>
          <p:nvPr/>
        </p:nvSpPr>
        <p:spPr>
          <a:xfrm>
            <a:off x="2057401" y="5029200"/>
            <a:ext cx="2792413" cy="36988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Arc 5">
            <a:extLst>
              <a:ext uri="{FF2B5EF4-FFF2-40B4-BE49-F238E27FC236}">
                <a16:creationId xmlns:a16="http://schemas.microsoft.com/office/drawing/2014/main" id="{0224AE80-E725-287B-D12D-328A7CC486CF}"/>
              </a:ext>
            </a:extLst>
          </p:cNvPr>
          <p:cNvSpPr/>
          <p:nvPr/>
        </p:nvSpPr>
        <p:spPr>
          <a:xfrm flipH="1">
            <a:off x="1676400" y="1633538"/>
            <a:ext cx="731838" cy="3624262"/>
          </a:xfrm>
          <a:prstGeom prst="arc">
            <a:avLst>
              <a:gd name="adj1" fmla="val 16180297"/>
              <a:gd name="adj2" fmla="val 5354427"/>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B92D0EA-242A-19AB-A531-8D108040E9EF}"/>
              </a:ext>
            </a:extLst>
          </p:cNvPr>
          <p:cNvSpPr>
            <a:spLocks noGrp="1"/>
          </p:cNvSpPr>
          <p:nvPr>
            <p:ph type="title"/>
          </p:nvPr>
        </p:nvSpPr>
        <p:spPr/>
        <p:txBody>
          <a:bodyPr/>
          <a:lstStyle/>
          <a:p>
            <a:r>
              <a:rPr lang="en-US" dirty="0" err="1"/>
              <a:t>กฎของคอดด์</a:t>
            </a:r>
            <a:r>
              <a:rPr lang="en-US" dirty="0"/>
              <a:t> (Code's 12 Relationship Database Rules)</a:t>
            </a:r>
          </a:p>
        </p:txBody>
      </p:sp>
      <p:sp>
        <p:nvSpPr>
          <p:cNvPr id="5" name="Text Placeholder 4">
            <a:extLst>
              <a:ext uri="{FF2B5EF4-FFF2-40B4-BE49-F238E27FC236}">
                <a16:creationId xmlns:a16="http://schemas.microsoft.com/office/drawing/2014/main" id="{CEA84431-595C-1270-B442-80A8961E2CB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307850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186780-7F41-AACA-5AB4-41415733F154}"/>
              </a:ext>
            </a:extLst>
          </p:cNvPr>
          <p:cNvSpPr>
            <a:spLocks noGrp="1"/>
          </p:cNvSpPr>
          <p:nvPr>
            <p:ph type="title"/>
          </p:nvPr>
        </p:nvSpPr>
        <p:spPr/>
        <p:txBody>
          <a:bodyPr/>
          <a:lstStyle/>
          <a:p>
            <a:r>
              <a:rPr lang="en-US" dirty="0" err="1"/>
              <a:t>กฎข้อที่</a:t>
            </a:r>
            <a:r>
              <a:rPr lang="en-US" dirty="0"/>
              <a:t> 1 </a:t>
            </a:r>
            <a:r>
              <a:rPr lang="en-US" dirty="0" err="1"/>
              <a:t>กฎข่าวสาร</a:t>
            </a:r>
            <a:r>
              <a:rPr lang="en-US" dirty="0"/>
              <a:t> (Information Rule)</a:t>
            </a:r>
          </a:p>
        </p:txBody>
      </p:sp>
      <p:sp>
        <p:nvSpPr>
          <p:cNvPr id="5" name="Content Placeholder 4">
            <a:extLst>
              <a:ext uri="{FF2B5EF4-FFF2-40B4-BE49-F238E27FC236}">
                <a16:creationId xmlns:a16="http://schemas.microsoft.com/office/drawing/2014/main" id="{E4A986DA-A9E6-99EC-FF13-76E0DBED04EA}"/>
              </a:ext>
            </a:extLst>
          </p:cNvPr>
          <p:cNvSpPr>
            <a:spLocks noGrp="1"/>
          </p:cNvSpPr>
          <p:nvPr>
            <p:ph idx="1"/>
          </p:nvPr>
        </p:nvSpPr>
        <p:spPr/>
        <p:txBody>
          <a:bodyPr/>
          <a:lstStyle/>
          <a:p>
            <a:r>
              <a:rPr lang="en-US" dirty="0" err="1"/>
              <a:t>ข้อมูลทั้งหมดในฐานข้อมูลเชิงสัมพันธ์</a:t>
            </a:r>
            <a:r>
              <a:rPr lang="en-US" dirty="0"/>
              <a:t> </a:t>
            </a:r>
            <a:r>
              <a:rPr lang="en-US" dirty="0" err="1"/>
              <a:t>จะถูกแสดงในระดับตรรกะ</a:t>
            </a:r>
            <a:r>
              <a:rPr lang="en-US" dirty="0"/>
              <a:t> (logical level) </a:t>
            </a:r>
            <a:r>
              <a:rPr lang="en-US" dirty="0" err="1"/>
              <a:t>ด้วยวิธีการเดียวกันเท่านั้น</a:t>
            </a:r>
            <a:r>
              <a:rPr lang="en-US" dirty="0"/>
              <a:t> </a:t>
            </a:r>
            <a:r>
              <a:rPr lang="en-US" dirty="0" err="1"/>
              <a:t>โดยอยู่ในรูปของตารางซึ่งประกอบด้วย</a:t>
            </a:r>
            <a:r>
              <a:rPr lang="en-US" dirty="0"/>
              <a:t> </a:t>
            </a:r>
            <a:r>
              <a:rPr lang="en-US" dirty="0" err="1"/>
              <a:t>ชื่อตาราง</a:t>
            </a:r>
            <a:r>
              <a:rPr lang="en-US" dirty="0"/>
              <a:t> </a:t>
            </a:r>
            <a:r>
              <a:rPr lang="en-US" dirty="0" err="1"/>
              <a:t>ชื่อคอลัมน์</a:t>
            </a:r>
            <a:r>
              <a:rPr lang="en-US" dirty="0"/>
              <a:t> </a:t>
            </a:r>
            <a:r>
              <a:rPr lang="en-US" dirty="0" err="1"/>
              <a:t>ชนิดของข้อมูลในแต่ละคอลัมน์</a:t>
            </a:r>
            <a:r>
              <a:rPr lang="en-US" dirty="0"/>
              <a:t> </a:t>
            </a:r>
            <a:r>
              <a:rPr lang="en-US" dirty="0" err="1"/>
              <a:t>อาจจะมีบางคอลัมน์เป็น</a:t>
            </a:r>
            <a:r>
              <a:rPr lang="en-US" dirty="0"/>
              <a:t> key </a:t>
            </a:r>
            <a:r>
              <a:rPr lang="en-US" dirty="0" err="1"/>
              <a:t>หรือเป็น</a:t>
            </a:r>
            <a:r>
              <a:rPr lang="en-US" dirty="0"/>
              <a:t> index </a:t>
            </a:r>
            <a:r>
              <a:rPr lang="en-US" dirty="0" err="1"/>
              <a:t>และมีขอบเขตในแต่ละคอลัมน์</a:t>
            </a:r>
            <a:r>
              <a:rPr lang="en-US" dirty="0"/>
              <a:t> </a:t>
            </a:r>
            <a:r>
              <a:rPr lang="en-US" dirty="0" err="1"/>
              <a:t>ที่เรียก</a:t>
            </a:r>
            <a:r>
              <a:rPr lang="en-US" dirty="0"/>
              <a:t> Domain </a:t>
            </a:r>
            <a:r>
              <a:rPr lang="en-US" dirty="0" err="1"/>
              <a:t>เป็นต้น</a:t>
            </a:r>
            <a:endParaRPr lang="en-US" dirty="0"/>
          </a:p>
        </p:txBody>
      </p:sp>
    </p:spTree>
    <p:extLst>
      <p:ext uri="{BB962C8B-B14F-4D97-AF65-F5344CB8AC3E}">
        <p14:creationId xmlns:p14="http://schemas.microsoft.com/office/powerpoint/2010/main" val="203499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0B36-6CC8-8067-B70C-E2A9464F2C0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FEFE9E-4432-76A4-8368-D0CBA3E095E2}"/>
              </a:ext>
            </a:extLst>
          </p:cNvPr>
          <p:cNvSpPr>
            <a:spLocks noGrp="1"/>
          </p:cNvSpPr>
          <p:nvPr>
            <p:ph type="title"/>
          </p:nvPr>
        </p:nvSpPr>
        <p:spPr/>
        <p:txBody>
          <a:bodyPr/>
          <a:lstStyle/>
          <a:p>
            <a:r>
              <a:rPr lang="en-US" dirty="0" err="1"/>
              <a:t>กฎข้อที่</a:t>
            </a:r>
            <a:r>
              <a:rPr lang="en-US" dirty="0"/>
              <a:t> 2 </a:t>
            </a:r>
            <a:r>
              <a:rPr lang="en-US" dirty="0" err="1"/>
              <a:t>กฎการประกันการเข้าถึงข้อมูล</a:t>
            </a:r>
            <a:r>
              <a:rPr lang="en-US" dirty="0"/>
              <a:t> (Guaranteed Access Rule)</a:t>
            </a:r>
          </a:p>
        </p:txBody>
      </p:sp>
      <p:sp>
        <p:nvSpPr>
          <p:cNvPr id="5" name="Content Placeholder 4">
            <a:extLst>
              <a:ext uri="{FF2B5EF4-FFF2-40B4-BE49-F238E27FC236}">
                <a16:creationId xmlns:a16="http://schemas.microsoft.com/office/drawing/2014/main" id="{8C6A3296-7F60-5A95-0585-E5D43D1AD4E1}"/>
              </a:ext>
            </a:extLst>
          </p:cNvPr>
          <p:cNvSpPr>
            <a:spLocks noGrp="1"/>
          </p:cNvSpPr>
          <p:nvPr>
            <p:ph idx="1"/>
          </p:nvPr>
        </p:nvSpPr>
        <p:spPr/>
        <p:txBody>
          <a:bodyPr/>
          <a:lstStyle/>
          <a:p>
            <a:r>
              <a:rPr lang="en-US" dirty="0" err="1"/>
              <a:t>ในแต่ละและทุก</a:t>
            </a:r>
            <a:r>
              <a:rPr lang="en-US" dirty="0"/>
              <a:t> ๆ </a:t>
            </a:r>
            <a:r>
              <a:rPr lang="en-US" dirty="0" err="1"/>
              <a:t>ค่าของข้อมูลในฐานข้อมูลเชิงสัมพันธ์</a:t>
            </a:r>
            <a:r>
              <a:rPr lang="en-US" dirty="0"/>
              <a:t> จะต้องรับประกันได้ว่าผู้ใช้สามารถเข้าถึงข้อมูลทุกตัวในทุกตารางได้ </a:t>
            </a:r>
            <a:r>
              <a:rPr lang="en-US" dirty="0" err="1"/>
              <a:t>โดยระบุด้วยชื่อตาราง</a:t>
            </a:r>
            <a:r>
              <a:rPr lang="en-US" dirty="0"/>
              <a:t>, </a:t>
            </a:r>
            <a:r>
              <a:rPr lang="en-US" dirty="0" err="1"/>
              <a:t>ค่าคีย์หลัก</a:t>
            </a:r>
            <a:r>
              <a:rPr lang="en-US" dirty="0"/>
              <a:t> (primary key) </a:t>
            </a:r>
            <a:r>
              <a:rPr lang="en-US" dirty="0" err="1"/>
              <a:t>และชื่อคอลัมน์และจะได้ผลลัพธ์เพียงค่าเดียวเท่านั้น</a:t>
            </a:r>
            <a:endParaRPr lang="en-US" dirty="0"/>
          </a:p>
        </p:txBody>
      </p:sp>
    </p:spTree>
    <p:extLst>
      <p:ext uri="{BB962C8B-B14F-4D97-AF65-F5344CB8AC3E}">
        <p14:creationId xmlns:p14="http://schemas.microsoft.com/office/powerpoint/2010/main" val="34524851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4396F-B5F1-3E76-7579-DFD78CE0395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D384B4-7FDF-068A-472D-4C558D16060D}"/>
              </a:ext>
            </a:extLst>
          </p:cNvPr>
          <p:cNvSpPr>
            <a:spLocks noGrp="1"/>
          </p:cNvSpPr>
          <p:nvPr>
            <p:ph type="title"/>
          </p:nvPr>
        </p:nvSpPr>
        <p:spPr/>
        <p:txBody>
          <a:bodyPr/>
          <a:lstStyle/>
          <a:p>
            <a:r>
              <a:rPr lang="en-US" dirty="0" err="1"/>
              <a:t>กฎข้อที่</a:t>
            </a:r>
            <a:r>
              <a:rPr lang="en-US" dirty="0"/>
              <a:t> 3 </a:t>
            </a:r>
            <a:r>
              <a:rPr lang="en-US" dirty="0" err="1"/>
              <a:t>วิธีแสดงข้อมูลบางรายการที่ยังไม่พร้อมหรือยังไม่มีค่า</a:t>
            </a:r>
            <a:r>
              <a:rPr lang="en-US" dirty="0"/>
              <a:t> (Systematic Treatment of Null Values)</a:t>
            </a:r>
          </a:p>
        </p:txBody>
      </p:sp>
      <p:sp>
        <p:nvSpPr>
          <p:cNvPr id="5" name="Content Placeholder 4">
            <a:extLst>
              <a:ext uri="{FF2B5EF4-FFF2-40B4-BE49-F238E27FC236}">
                <a16:creationId xmlns:a16="http://schemas.microsoft.com/office/drawing/2014/main" id="{D9FE8E4E-5AEF-C126-A17A-4A92E78A6B05}"/>
              </a:ext>
            </a:extLst>
          </p:cNvPr>
          <p:cNvSpPr>
            <a:spLocks noGrp="1"/>
          </p:cNvSpPr>
          <p:nvPr>
            <p:ph idx="1"/>
          </p:nvPr>
        </p:nvSpPr>
        <p:spPr/>
        <p:txBody>
          <a:bodyPr/>
          <a:lstStyle/>
          <a:p>
            <a:r>
              <a:rPr lang="en-US" dirty="0" err="1"/>
              <a:t>นั่นคือจะมีค่า</a:t>
            </a:r>
            <a:r>
              <a:rPr lang="en-US" dirty="0"/>
              <a:t> Null </a:t>
            </a:r>
            <a:r>
              <a:rPr lang="en-US" dirty="0" err="1"/>
              <a:t>ซึ่งเป็นตัวบอกความแตกต่างระหว่างข้อมูลที่ยังไม่พร้อม</a:t>
            </a:r>
            <a:r>
              <a:rPr lang="en-US" dirty="0"/>
              <a:t> (Empty character strings) </a:t>
            </a:r>
            <a:r>
              <a:rPr lang="en-US" dirty="0" err="1"/>
              <a:t>หรือข้อมูลที่ยังไม่มีค่า</a:t>
            </a:r>
            <a:r>
              <a:rPr lang="en-US" dirty="0"/>
              <a:t> (Strings of blank character) </a:t>
            </a:r>
            <a:r>
              <a:rPr lang="en-US" dirty="0" err="1"/>
              <a:t>หรือค่าศูนย์</a:t>
            </a:r>
            <a:r>
              <a:rPr lang="en-US" dirty="0"/>
              <a:t> </a:t>
            </a:r>
            <a:r>
              <a:rPr lang="en-US" dirty="0" err="1"/>
              <a:t>ซึ่งความแตกต่างนี้จะไม่ทำให้เกิดความเข้าใจผิดในการใช้</a:t>
            </a:r>
            <a:endParaRPr lang="en-US" dirty="0"/>
          </a:p>
        </p:txBody>
      </p:sp>
    </p:spTree>
    <p:extLst>
      <p:ext uri="{BB962C8B-B14F-4D97-AF65-F5344CB8AC3E}">
        <p14:creationId xmlns:p14="http://schemas.microsoft.com/office/powerpoint/2010/main" val="25198595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4D8D2-3AFC-1A2A-F81D-C780FDD3D2C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B3ABA1-210F-C39B-69A3-D03B58440AE4}"/>
              </a:ext>
            </a:extLst>
          </p:cNvPr>
          <p:cNvSpPr>
            <a:spLocks noGrp="1"/>
          </p:cNvSpPr>
          <p:nvPr>
            <p:ph type="title"/>
          </p:nvPr>
        </p:nvSpPr>
        <p:spPr/>
        <p:txBody>
          <a:bodyPr>
            <a:normAutofit fontScale="90000"/>
          </a:bodyPr>
          <a:lstStyle/>
          <a:p>
            <a:r>
              <a:rPr lang="en-US" dirty="0" err="1"/>
              <a:t>กฎข้อที่</a:t>
            </a:r>
            <a:r>
              <a:rPr lang="en-US" dirty="0"/>
              <a:t> 4. กฎการออนไลน์แคตาล็อกแบบไดนามิกที่ต้องอยู่บนพื้นฐานของแบบจำลองเชิงสัมพันธ์ (Dynamic On-Line Catalog Based on the Relational Model)</a:t>
            </a:r>
          </a:p>
        </p:txBody>
      </p:sp>
      <p:sp>
        <p:nvSpPr>
          <p:cNvPr id="5" name="Content Placeholder 4">
            <a:extLst>
              <a:ext uri="{FF2B5EF4-FFF2-40B4-BE49-F238E27FC236}">
                <a16:creationId xmlns:a16="http://schemas.microsoft.com/office/drawing/2014/main" id="{6AB2E707-106B-C640-64F9-084724F43D83}"/>
              </a:ext>
            </a:extLst>
          </p:cNvPr>
          <p:cNvSpPr>
            <a:spLocks noGrp="1"/>
          </p:cNvSpPr>
          <p:nvPr>
            <p:ph idx="1"/>
          </p:nvPr>
        </p:nvSpPr>
        <p:spPr/>
        <p:txBody>
          <a:bodyPr/>
          <a:lstStyle/>
          <a:p>
            <a:r>
              <a:rPr lang="en-US" dirty="0" err="1"/>
              <a:t>เป็นกฎที่ว่าด้วยตารางต่าง</a:t>
            </a:r>
            <a:r>
              <a:rPr lang="en-US" dirty="0"/>
              <a:t> ๆ </a:t>
            </a:r>
            <a:r>
              <a:rPr lang="en-US" dirty="0" err="1"/>
              <a:t>ที่บรรจุภายในฐานข้อมูล</a:t>
            </a:r>
            <a:r>
              <a:rPr lang="en-US" dirty="0"/>
              <a:t> </a:t>
            </a:r>
            <a:r>
              <a:rPr lang="en-US" dirty="0" err="1"/>
              <a:t>ซึ่งภายในจะมี</a:t>
            </a:r>
            <a:r>
              <a:rPr lang="en-US" dirty="0"/>
              <a:t> metadata ที่สามารถนำมาใช้เพื่องานด้านสิทธิการเข้าถึงฐานข้อมูลที่เป็นไปตามมาตรฐานภาษาฐานข้อมูลเชิงสัมพันธ์</a:t>
            </a:r>
          </a:p>
        </p:txBody>
      </p:sp>
    </p:spTree>
    <p:extLst>
      <p:ext uri="{BB962C8B-B14F-4D97-AF65-F5344CB8AC3E}">
        <p14:creationId xmlns:p14="http://schemas.microsoft.com/office/powerpoint/2010/main" val="26314843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069E0-D3D4-C97F-5F1C-EE9D9774A25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681104-BC4E-4DCE-79C7-223A7ED970D1}"/>
              </a:ext>
            </a:extLst>
          </p:cNvPr>
          <p:cNvSpPr>
            <a:spLocks noGrp="1"/>
          </p:cNvSpPr>
          <p:nvPr>
            <p:ph type="title"/>
          </p:nvPr>
        </p:nvSpPr>
        <p:spPr/>
        <p:txBody>
          <a:bodyPr>
            <a:normAutofit/>
          </a:bodyPr>
          <a:lstStyle/>
          <a:p>
            <a:r>
              <a:rPr lang="en-US" dirty="0" err="1"/>
              <a:t>กฎข้อที่</a:t>
            </a:r>
            <a:r>
              <a:rPr lang="en-US" dirty="0"/>
              <a:t> 5 </a:t>
            </a:r>
            <a:r>
              <a:rPr lang="en-US" dirty="0" err="1"/>
              <a:t>กฎการใช้ภาษา</a:t>
            </a:r>
            <a:r>
              <a:rPr lang="en-US" dirty="0"/>
              <a:t> (Comprehensive Data Sublanguage Rule)</a:t>
            </a:r>
          </a:p>
        </p:txBody>
      </p:sp>
      <p:sp>
        <p:nvSpPr>
          <p:cNvPr id="5" name="Content Placeholder 4">
            <a:extLst>
              <a:ext uri="{FF2B5EF4-FFF2-40B4-BE49-F238E27FC236}">
                <a16:creationId xmlns:a16="http://schemas.microsoft.com/office/drawing/2014/main" id="{11255E51-1E01-1628-7B1C-9FA637F94168}"/>
              </a:ext>
            </a:extLst>
          </p:cNvPr>
          <p:cNvSpPr>
            <a:spLocks noGrp="1"/>
          </p:cNvSpPr>
          <p:nvPr>
            <p:ph idx="1"/>
          </p:nvPr>
        </p:nvSpPr>
        <p:spPr/>
        <p:txBody>
          <a:bodyPr/>
          <a:lstStyle/>
          <a:p>
            <a:r>
              <a:rPr lang="en-US" dirty="0" err="1"/>
              <a:t>ระบบฐานข้อมูลเชิงสัมพันธ์</a:t>
            </a:r>
            <a:r>
              <a:rPr lang="en-US" dirty="0"/>
              <a:t> </a:t>
            </a:r>
            <a:r>
              <a:rPr lang="en-US" dirty="0" err="1"/>
              <a:t>อาจจะมีภาษาที่ใช้หลายภาษา</a:t>
            </a:r>
            <a:r>
              <a:rPr lang="en-US" dirty="0"/>
              <a:t> </a:t>
            </a:r>
            <a:r>
              <a:rPr lang="en-US" dirty="0" err="1"/>
              <a:t>หรือมีลักษณะการติดต่อการใช้อยู่หลายวิธีการได้</a:t>
            </a:r>
            <a:r>
              <a:rPr lang="en-US" dirty="0"/>
              <a:t> </a:t>
            </a:r>
            <a:r>
              <a:rPr lang="en-US" dirty="0" err="1"/>
              <a:t>แต่อย่างน้อยที่สุด</a:t>
            </a:r>
            <a:r>
              <a:rPr lang="en-US" dirty="0"/>
              <a:t> </a:t>
            </a:r>
            <a:r>
              <a:rPr lang="en-US" dirty="0" err="1"/>
              <a:t>จะต้องมี</a:t>
            </a:r>
            <a:r>
              <a:rPr lang="en-US" dirty="0"/>
              <a:t> 1 </a:t>
            </a:r>
            <a:r>
              <a:rPr lang="en-US" dirty="0" err="1"/>
              <a:t>ภาษา</a:t>
            </a:r>
            <a:r>
              <a:rPr lang="en-US" dirty="0"/>
              <a:t> </a:t>
            </a:r>
            <a:r>
              <a:rPr lang="en-US" dirty="0" err="1"/>
              <a:t>ที่มีความสามารถ</a:t>
            </a:r>
            <a:r>
              <a:rPr lang="en-US" dirty="0"/>
              <a:t> </a:t>
            </a:r>
            <a:r>
              <a:rPr lang="en-US" dirty="0" err="1"/>
              <a:t>ดังนี้</a:t>
            </a:r>
            <a:endParaRPr lang="en-US" dirty="0"/>
          </a:p>
          <a:p>
            <a:pPr lvl="1"/>
            <a:r>
              <a:rPr lang="en-US" dirty="0" err="1"/>
              <a:t>นิยามโครงสร้างของข้อมูล</a:t>
            </a:r>
            <a:r>
              <a:rPr lang="en-US" dirty="0"/>
              <a:t> (data definitions)</a:t>
            </a:r>
          </a:p>
          <a:p>
            <a:pPr lvl="1"/>
            <a:r>
              <a:rPr lang="en-US" dirty="0" err="1"/>
              <a:t>นิยามโครงสร้างของวิว</a:t>
            </a:r>
            <a:r>
              <a:rPr lang="en-US" dirty="0"/>
              <a:t> (view definitions)</a:t>
            </a:r>
          </a:p>
          <a:p>
            <a:pPr lvl="1"/>
            <a:r>
              <a:rPr lang="en-US" dirty="0" err="1"/>
              <a:t>เปลี่ยนแปลงหรือแก้ไขข้อมูล</a:t>
            </a:r>
            <a:r>
              <a:rPr lang="en-US" dirty="0"/>
              <a:t> </a:t>
            </a:r>
            <a:r>
              <a:rPr lang="en-US" dirty="0" err="1"/>
              <a:t>ทั้งลักษณะโต้ตอบทันที</a:t>
            </a:r>
            <a:r>
              <a:rPr lang="en-US" dirty="0"/>
              <a:t> (interactive) </a:t>
            </a:r>
            <a:r>
              <a:rPr lang="en-US" dirty="0" err="1"/>
              <a:t>หรือในลักษณะการเขียนโปรแกรม</a:t>
            </a:r>
            <a:endParaRPr lang="en-US" dirty="0"/>
          </a:p>
          <a:p>
            <a:pPr lvl="1"/>
            <a:r>
              <a:rPr lang="en-US" dirty="0" err="1"/>
              <a:t>กำหนดกฎเกณฑ์ควบคุม</a:t>
            </a:r>
            <a:r>
              <a:rPr lang="en-US" dirty="0"/>
              <a:t> integrity </a:t>
            </a:r>
            <a:r>
              <a:rPr lang="en-US" dirty="0" err="1"/>
              <a:t>ของข้อมูล</a:t>
            </a:r>
            <a:r>
              <a:rPr lang="en-US" dirty="0"/>
              <a:t> (Integrity constraints)</a:t>
            </a:r>
          </a:p>
          <a:p>
            <a:pPr lvl="1"/>
            <a:r>
              <a:rPr lang="en-US" dirty="0" err="1"/>
              <a:t>กำหนดสิทธิการใช้ข้อมูล</a:t>
            </a:r>
            <a:r>
              <a:rPr lang="en-US" dirty="0"/>
              <a:t> (Authorization) </a:t>
            </a:r>
            <a:r>
              <a:rPr lang="en-US" dirty="0" err="1"/>
              <a:t>เป็นต้น</a:t>
            </a:r>
            <a:endParaRPr lang="en-US" dirty="0"/>
          </a:p>
        </p:txBody>
      </p:sp>
    </p:spTree>
    <p:extLst>
      <p:ext uri="{BB962C8B-B14F-4D97-AF65-F5344CB8AC3E}">
        <p14:creationId xmlns:p14="http://schemas.microsoft.com/office/powerpoint/2010/main" val="2346237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D8044-9198-291F-553E-9F5536EE8D2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2739C49-DC12-96EE-03CB-892855D8A057}"/>
              </a:ext>
            </a:extLst>
          </p:cNvPr>
          <p:cNvSpPr>
            <a:spLocks noGrp="1"/>
          </p:cNvSpPr>
          <p:nvPr>
            <p:ph type="title"/>
          </p:nvPr>
        </p:nvSpPr>
        <p:spPr/>
        <p:txBody>
          <a:bodyPr>
            <a:normAutofit/>
          </a:bodyPr>
          <a:lstStyle/>
          <a:p>
            <a:r>
              <a:rPr lang="en-US" dirty="0" err="1"/>
              <a:t>กฎข้อที่</a:t>
            </a:r>
            <a:r>
              <a:rPr lang="en-US" dirty="0"/>
              <a:t> 6. </a:t>
            </a:r>
            <a:r>
              <a:rPr lang="en-US" dirty="0" err="1"/>
              <a:t>กฎการปรับปรุงวิว</a:t>
            </a:r>
            <a:r>
              <a:rPr lang="en-US" dirty="0"/>
              <a:t> (View Updating)</a:t>
            </a:r>
          </a:p>
        </p:txBody>
      </p:sp>
      <p:sp>
        <p:nvSpPr>
          <p:cNvPr id="5" name="Content Placeholder 4">
            <a:extLst>
              <a:ext uri="{FF2B5EF4-FFF2-40B4-BE49-F238E27FC236}">
                <a16:creationId xmlns:a16="http://schemas.microsoft.com/office/drawing/2014/main" id="{23C24470-7A32-A9B1-33D8-913ABB3A9875}"/>
              </a:ext>
            </a:extLst>
          </p:cNvPr>
          <p:cNvSpPr>
            <a:spLocks noGrp="1"/>
          </p:cNvSpPr>
          <p:nvPr>
            <p:ph idx="1"/>
          </p:nvPr>
        </p:nvSpPr>
        <p:spPr/>
        <p:txBody>
          <a:bodyPr/>
          <a:lstStyle/>
          <a:p>
            <a:r>
              <a:rPr lang="en-US" dirty="0" err="1"/>
              <a:t>เป็นกฎที่ว่าด้วย</a:t>
            </a:r>
            <a:r>
              <a:rPr lang="en-US" dirty="0"/>
              <a:t> </a:t>
            </a:r>
            <a:r>
              <a:rPr lang="en-US" dirty="0" err="1"/>
              <a:t>วิวทุกวิวที่สามารถอัปเดตหรือปรับปรุงได้</a:t>
            </a:r>
            <a:r>
              <a:rPr lang="en-US" dirty="0"/>
              <a:t> </a:t>
            </a:r>
            <a:r>
              <a:rPr lang="en-US" dirty="0" err="1"/>
              <a:t>ดังนั้นในเชิงทฤษฎีวิวจึงสามารถอัปเดตได้โดยผ่านระบบ</a:t>
            </a:r>
            <a:endParaRPr lang="en-US" dirty="0"/>
          </a:p>
        </p:txBody>
      </p:sp>
    </p:spTree>
    <p:extLst>
      <p:ext uri="{BB962C8B-B14F-4D97-AF65-F5344CB8AC3E}">
        <p14:creationId xmlns:p14="http://schemas.microsoft.com/office/powerpoint/2010/main" val="14682045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72838-81AA-CE02-0478-7C078BC0ED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E8FCC7-0CA0-AA88-4F8A-1A7AEE3D2BCE}"/>
              </a:ext>
            </a:extLst>
          </p:cNvPr>
          <p:cNvSpPr>
            <a:spLocks noGrp="1"/>
          </p:cNvSpPr>
          <p:nvPr>
            <p:ph type="title"/>
          </p:nvPr>
        </p:nvSpPr>
        <p:spPr/>
        <p:txBody>
          <a:bodyPr>
            <a:normAutofit/>
          </a:bodyPr>
          <a:lstStyle/>
          <a:p>
            <a:r>
              <a:rPr lang="en-US" dirty="0" err="1"/>
              <a:t>กฎข้อที่</a:t>
            </a:r>
            <a:r>
              <a:rPr lang="en-US" dirty="0"/>
              <a:t> 7 </a:t>
            </a:r>
            <a:r>
              <a:rPr lang="en-US" dirty="0" err="1"/>
              <a:t>ความสามารถในการเพิ่ม</a:t>
            </a:r>
            <a:r>
              <a:rPr lang="en-US" dirty="0"/>
              <a:t> </a:t>
            </a:r>
            <a:r>
              <a:rPr lang="en-US" dirty="0" err="1"/>
              <a:t>ลด</a:t>
            </a:r>
            <a:r>
              <a:rPr lang="en-US" dirty="0"/>
              <a:t> </a:t>
            </a:r>
            <a:r>
              <a:rPr lang="en-US" dirty="0" err="1"/>
              <a:t>และแก้ไขข้อมูล</a:t>
            </a:r>
            <a:r>
              <a:rPr lang="en-US" dirty="0"/>
              <a:t> (High-level Insert, Update and Delete)</a:t>
            </a:r>
          </a:p>
        </p:txBody>
      </p:sp>
      <p:sp>
        <p:nvSpPr>
          <p:cNvPr id="5" name="Content Placeholder 4">
            <a:extLst>
              <a:ext uri="{FF2B5EF4-FFF2-40B4-BE49-F238E27FC236}">
                <a16:creationId xmlns:a16="http://schemas.microsoft.com/office/drawing/2014/main" id="{DCEF1596-18B5-A72A-F50E-60ED53A6DB35}"/>
              </a:ext>
            </a:extLst>
          </p:cNvPr>
          <p:cNvSpPr>
            <a:spLocks noGrp="1"/>
          </p:cNvSpPr>
          <p:nvPr>
            <p:ph idx="1"/>
          </p:nvPr>
        </p:nvSpPr>
        <p:spPr/>
        <p:txBody>
          <a:bodyPr/>
          <a:lstStyle/>
          <a:p>
            <a:r>
              <a:rPr lang="en-US" dirty="0" err="1"/>
              <a:t>ระบบจัดการฐานข้อมูล</a:t>
            </a:r>
            <a:r>
              <a:rPr lang="en-US" dirty="0"/>
              <a:t> </a:t>
            </a:r>
            <a:r>
              <a:rPr lang="en-US" dirty="0" err="1"/>
              <a:t>ควรจะมีภาษาที่มีความสามารถให้ผู้ใช้เพิ่ม</a:t>
            </a:r>
            <a:r>
              <a:rPr lang="en-US" dirty="0"/>
              <a:t> </a:t>
            </a:r>
            <a:r>
              <a:rPr lang="en-US" dirty="0" err="1"/>
              <a:t>ลด</a:t>
            </a:r>
            <a:r>
              <a:rPr lang="en-US" dirty="0"/>
              <a:t> </a:t>
            </a:r>
            <a:r>
              <a:rPr lang="en-US" dirty="0" err="1"/>
              <a:t>หรือแก้ไขข้อมูลในหลาย</a:t>
            </a:r>
            <a:r>
              <a:rPr lang="en-US" dirty="0"/>
              <a:t> ๆ </a:t>
            </a:r>
            <a:r>
              <a:rPr lang="en-US" dirty="0" err="1"/>
              <a:t>แถว</a:t>
            </a:r>
            <a:r>
              <a:rPr lang="en-US" dirty="0"/>
              <a:t> </a:t>
            </a:r>
            <a:r>
              <a:rPr lang="en-US" dirty="0" err="1"/>
              <a:t>ได้ด้วยคำสั่งเพียงคำสั่งเดียว</a:t>
            </a:r>
            <a:endParaRPr lang="en-US" dirty="0"/>
          </a:p>
        </p:txBody>
      </p:sp>
    </p:spTree>
    <p:extLst>
      <p:ext uri="{BB962C8B-B14F-4D97-AF65-F5344CB8AC3E}">
        <p14:creationId xmlns:p14="http://schemas.microsoft.com/office/powerpoint/2010/main" val="36318248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B7AA2-ED16-E25C-AA72-D3E7B25EE81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428D3A3-670C-F55C-0E4F-039E951BCE84}"/>
              </a:ext>
            </a:extLst>
          </p:cNvPr>
          <p:cNvSpPr>
            <a:spLocks noGrp="1"/>
          </p:cNvSpPr>
          <p:nvPr>
            <p:ph type="title"/>
          </p:nvPr>
        </p:nvSpPr>
        <p:spPr/>
        <p:txBody>
          <a:bodyPr>
            <a:normAutofit/>
          </a:bodyPr>
          <a:lstStyle/>
          <a:p>
            <a:r>
              <a:rPr lang="en-US" dirty="0" err="1"/>
              <a:t>กฎข้อที่</a:t>
            </a:r>
            <a:r>
              <a:rPr lang="en-US" dirty="0"/>
              <a:t> 8 </a:t>
            </a:r>
            <a:r>
              <a:rPr lang="en-US" dirty="0" err="1"/>
              <a:t>ความเป็นอิสระของข้อมูลในระดับกายภาพ</a:t>
            </a:r>
            <a:r>
              <a:rPr lang="en-US" dirty="0"/>
              <a:t> (Physical Data Independent)</a:t>
            </a:r>
          </a:p>
        </p:txBody>
      </p:sp>
      <p:sp>
        <p:nvSpPr>
          <p:cNvPr id="5" name="Content Placeholder 4">
            <a:extLst>
              <a:ext uri="{FF2B5EF4-FFF2-40B4-BE49-F238E27FC236}">
                <a16:creationId xmlns:a16="http://schemas.microsoft.com/office/drawing/2014/main" id="{60E9CC0F-5B41-BE80-9DD0-949C9BEBC429}"/>
              </a:ext>
            </a:extLst>
          </p:cNvPr>
          <p:cNvSpPr>
            <a:spLocks noGrp="1"/>
          </p:cNvSpPr>
          <p:nvPr>
            <p:ph idx="1"/>
          </p:nvPr>
        </p:nvSpPr>
        <p:spPr/>
        <p:txBody>
          <a:bodyPr/>
          <a:lstStyle/>
          <a:p>
            <a:r>
              <a:rPr lang="en-US" dirty="0" err="1"/>
              <a:t>ผู้ใช้ไม่จำเป็นต้องรับรู้ว่าข้อมูลจริง</a:t>
            </a:r>
            <a:r>
              <a:rPr lang="en-US" dirty="0"/>
              <a:t> ๆ </a:t>
            </a:r>
            <a:r>
              <a:rPr lang="en-US" dirty="0" err="1"/>
              <a:t>จะมีการจัดเก็บอย่างไร</a:t>
            </a:r>
            <a:r>
              <a:rPr lang="en-US" dirty="0"/>
              <a:t> </a:t>
            </a:r>
            <a:r>
              <a:rPr lang="en-US" dirty="0" err="1"/>
              <a:t>แม้ว่าจะมีการเปลี่ยนแปลงการจัดเก็บข้อมูลอย่างไร</a:t>
            </a:r>
            <a:r>
              <a:rPr lang="en-US" dirty="0"/>
              <a:t> </a:t>
            </a:r>
            <a:r>
              <a:rPr lang="en-US" dirty="0" err="1"/>
              <a:t>ก็จะไม่มีผลกระทบต่องานของผู้ใช้แต่อย่างไร</a:t>
            </a:r>
            <a:endParaRPr lang="en-US" dirty="0"/>
          </a:p>
        </p:txBody>
      </p:sp>
    </p:spTree>
    <p:extLst>
      <p:ext uri="{BB962C8B-B14F-4D97-AF65-F5344CB8AC3E}">
        <p14:creationId xmlns:p14="http://schemas.microsoft.com/office/powerpoint/2010/main" val="7059193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DC79B-D179-498E-8F4D-DB33D99973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BF96765-6159-E24B-1F4F-2462E3C308B8}"/>
              </a:ext>
            </a:extLst>
          </p:cNvPr>
          <p:cNvSpPr>
            <a:spLocks noGrp="1"/>
          </p:cNvSpPr>
          <p:nvPr>
            <p:ph type="title"/>
          </p:nvPr>
        </p:nvSpPr>
        <p:spPr/>
        <p:txBody>
          <a:bodyPr>
            <a:normAutofit/>
          </a:bodyPr>
          <a:lstStyle/>
          <a:p>
            <a:r>
              <a:rPr lang="en-US" dirty="0" err="1"/>
              <a:t>กฎข้อที่</a:t>
            </a:r>
            <a:r>
              <a:rPr lang="en-US" dirty="0"/>
              <a:t> 9 </a:t>
            </a:r>
            <a:r>
              <a:rPr lang="en-US" dirty="0" err="1"/>
              <a:t>ความเป็นอิสระของข้อมูลในระดับตรรกะ</a:t>
            </a:r>
            <a:r>
              <a:rPr lang="en-US" dirty="0"/>
              <a:t> (Logic Data Independent)</a:t>
            </a:r>
          </a:p>
        </p:txBody>
      </p:sp>
      <p:sp>
        <p:nvSpPr>
          <p:cNvPr id="5" name="Content Placeholder 4">
            <a:extLst>
              <a:ext uri="{FF2B5EF4-FFF2-40B4-BE49-F238E27FC236}">
                <a16:creationId xmlns:a16="http://schemas.microsoft.com/office/drawing/2014/main" id="{2E462C67-8FC3-C429-22FE-95316049B31F}"/>
              </a:ext>
            </a:extLst>
          </p:cNvPr>
          <p:cNvSpPr>
            <a:spLocks noGrp="1"/>
          </p:cNvSpPr>
          <p:nvPr>
            <p:ph idx="1"/>
          </p:nvPr>
        </p:nvSpPr>
        <p:spPr/>
        <p:txBody>
          <a:bodyPr/>
          <a:lstStyle/>
          <a:p>
            <a:r>
              <a:rPr lang="en-US" dirty="0" err="1"/>
              <a:t>แม้ว่าจะมีการเปลี่ยนแปลงโครงสร้างข้อมูล</a:t>
            </a:r>
            <a:r>
              <a:rPr lang="en-US" dirty="0"/>
              <a:t> </a:t>
            </a:r>
            <a:r>
              <a:rPr lang="en-US" dirty="0" err="1"/>
              <a:t>เช่น</a:t>
            </a:r>
            <a:r>
              <a:rPr lang="en-US" dirty="0"/>
              <a:t> </a:t>
            </a:r>
            <a:r>
              <a:rPr lang="en-US" dirty="0" err="1"/>
              <a:t>การเพิ่มคอลัมน์ในตาราง</a:t>
            </a:r>
            <a:r>
              <a:rPr lang="en-US" dirty="0"/>
              <a:t> </a:t>
            </a:r>
            <a:r>
              <a:rPr lang="en-US" dirty="0" err="1"/>
              <a:t>หรือการสร้างตารางใหม่</a:t>
            </a:r>
            <a:r>
              <a:rPr lang="en-US" dirty="0"/>
              <a:t> </a:t>
            </a:r>
            <a:r>
              <a:rPr lang="en-US" dirty="0" err="1"/>
              <a:t>เป็นต้น</a:t>
            </a:r>
            <a:r>
              <a:rPr lang="en-US" dirty="0"/>
              <a:t> </a:t>
            </a:r>
            <a:r>
              <a:rPr lang="en-US" dirty="0" err="1"/>
              <a:t>การเปลี่ยนแปลงเหล่านั้น</a:t>
            </a:r>
            <a:r>
              <a:rPr lang="en-US" dirty="0"/>
              <a:t> </a:t>
            </a:r>
            <a:r>
              <a:rPr lang="en-US" dirty="0" err="1"/>
              <a:t>จะไม่มีผลกระทบต่อระบบงานของผู้ใช้หรือโปรแกรมต่าง</a:t>
            </a:r>
            <a:r>
              <a:rPr lang="en-US" dirty="0"/>
              <a:t> ๆ </a:t>
            </a:r>
            <a:r>
              <a:rPr lang="en-US" dirty="0" err="1"/>
              <a:t>ที่เขียนไว้ก่อน</a:t>
            </a:r>
            <a:endParaRPr lang="en-US" dirty="0"/>
          </a:p>
        </p:txBody>
      </p:sp>
    </p:spTree>
    <p:extLst>
      <p:ext uri="{BB962C8B-B14F-4D97-AF65-F5344CB8AC3E}">
        <p14:creationId xmlns:p14="http://schemas.microsoft.com/office/powerpoint/2010/main" val="33641503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8F7-0BFC-27DE-3CEE-6829076AA9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FA1742-0A24-2DD3-1676-F329378346B7}"/>
              </a:ext>
            </a:extLst>
          </p:cNvPr>
          <p:cNvSpPr>
            <a:spLocks noGrp="1"/>
          </p:cNvSpPr>
          <p:nvPr>
            <p:ph type="title"/>
          </p:nvPr>
        </p:nvSpPr>
        <p:spPr/>
        <p:txBody>
          <a:bodyPr>
            <a:normAutofit/>
          </a:bodyPr>
          <a:lstStyle/>
          <a:p>
            <a:r>
              <a:rPr lang="en-US" dirty="0" err="1"/>
              <a:t>กฎข้อที่</a:t>
            </a:r>
            <a:r>
              <a:rPr lang="en-US" dirty="0"/>
              <a:t> 10 </a:t>
            </a:r>
            <a:r>
              <a:rPr lang="en-US" dirty="0" err="1"/>
              <a:t>ความเป็นอิสระของ</a:t>
            </a:r>
            <a:r>
              <a:rPr lang="en-US" dirty="0"/>
              <a:t> Integrity (Integrity Independent)</a:t>
            </a:r>
          </a:p>
        </p:txBody>
      </p:sp>
      <p:sp>
        <p:nvSpPr>
          <p:cNvPr id="5" name="Content Placeholder 4">
            <a:extLst>
              <a:ext uri="{FF2B5EF4-FFF2-40B4-BE49-F238E27FC236}">
                <a16:creationId xmlns:a16="http://schemas.microsoft.com/office/drawing/2014/main" id="{CFF6D007-195B-1192-4FE1-577DB33B7F34}"/>
              </a:ext>
            </a:extLst>
          </p:cNvPr>
          <p:cNvSpPr>
            <a:spLocks noGrp="1"/>
          </p:cNvSpPr>
          <p:nvPr>
            <p:ph idx="1"/>
          </p:nvPr>
        </p:nvSpPr>
        <p:spPr/>
        <p:txBody>
          <a:bodyPr>
            <a:normAutofit fontScale="92500" lnSpcReduction="20000"/>
          </a:bodyPr>
          <a:lstStyle/>
          <a:p>
            <a:r>
              <a:rPr lang="en-US" dirty="0" err="1"/>
              <a:t>การกำหนดกฎเกณฑ์ในการควบคุมความคงสภาพของข้อมูล</a:t>
            </a:r>
            <a:r>
              <a:rPr lang="en-US" dirty="0"/>
              <a:t> (Integrity) ควรจะเป็นส่วนหนึ่งของภาษาที่ใช้ในระบบจัดการข้อมูลเชิงสัมพันธ์และเก็บรวบรวมไว้ในระบบแคตาล็อก </a:t>
            </a:r>
            <a:r>
              <a:rPr lang="en-US" dirty="0" err="1"/>
              <a:t>ซึ่งแยกอิสระจากโปรแกรม</a:t>
            </a:r>
            <a:r>
              <a:rPr lang="en-US" dirty="0"/>
              <a:t> </a:t>
            </a:r>
            <a:r>
              <a:rPr lang="en-US" dirty="0" err="1"/>
              <a:t>คือโปรแกรมไม่ต้องเป็นตัวจัดการตรวจสอบ</a:t>
            </a:r>
            <a:r>
              <a:rPr lang="en-US" dirty="0"/>
              <a:t> </a:t>
            </a:r>
            <a:r>
              <a:rPr lang="en-US" dirty="0" err="1"/>
              <a:t>ถ้ายอมให้โปรแกรมตรวจสอบแทน</a:t>
            </a:r>
            <a:r>
              <a:rPr lang="en-US" dirty="0"/>
              <a:t> แล้วหากแต่ละโปรแกรมทำงานไม่ครบถ้วนตามกฎเกณฑ์ก็จะเกิดความไม่สอดคล้องหรือความไม่ถูกต้องของข้อมูลได้ </a:t>
            </a:r>
            <a:r>
              <a:rPr lang="en-US" dirty="0" err="1"/>
              <a:t>ซึ่งไม่ใช่ถูกกำหนดขึ้นจากระดับ</a:t>
            </a:r>
            <a:r>
              <a:rPr lang="en-US" dirty="0"/>
              <a:t> </a:t>
            </a:r>
            <a:r>
              <a:rPr lang="en-US" dirty="0" err="1"/>
              <a:t>ประยุกต์</a:t>
            </a:r>
            <a:endParaRPr lang="en-US" dirty="0"/>
          </a:p>
          <a:p>
            <a:r>
              <a:rPr lang="en-US" dirty="0" err="1"/>
              <a:t>โดยทั่วไปกฎเกณฑ์ความคงสภาพมีอยู่</a:t>
            </a:r>
            <a:r>
              <a:rPr lang="en-US" dirty="0"/>
              <a:t> 2 </a:t>
            </a:r>
            <a:r>
              <a:rPr lang="en-US" dirty="0" err="1"/>
              <a:t>กรณี</a:t>
            </a:r>
            <a:r>
              <a:rPr lang="en-US" dirty="0"/>
              <a:t> </a:t>
            </a:r>
            <a:r>
              <a:rPr lang="en-US" dirty="0" err="1"/>
              <a:t>คือ</a:t>
            </a:r>
            <a:endParaRPr lang="en-US" dirty="0"/>
          </a:p>
          <a:p>
            <a:pPr marL="514350" lvl="0" indent="-514350">
              <a:buFont typeface="+mj-lt"/>
              <a:buAutoNum type="arabicPeriod"/>
            </a:pPr>
            <a:r>
              <a:rPr lang="en-US" dirty="0" err="1"/>
              <a:t>กฎความคงสภาพของ</a:t>
            </a:r>
            <a:r>
              <a:rPr lang="en-US" dirty="0"/>
              <a:t> entity (Entity integrity rule)</a:t>
            </a:r>
            <a:br>
              <a:rPr lang="en-US" dirty="0"/>
            </a:br>
            <a:r>
              <a:rPr lang="en-US" dirty="0" err="1"/>
              <a:t>ซึ่งได้กล่าวว่า</a:t>
            </a:r>
            <a:r>
              <a:rPr lang="en-US" dirty="0"/>
              <a:t> "Attribute </a:t>
            </a:r>
            <a:r>
              <a:rPr lang="en-US" dirty="0" err="1"/>
              <a:t>ทุกตัวที่เป็นส่วนของคีย์หลัก</a:t>
            </a:r>
            <a:r>
              <a:rPr lang="en-US" dirty="0"/>
              <a:t> </a:t>
            </a:r>
            <a:r>
              <a:rPr lang="en-US" dirty="0" err="1"/>
              <a:t>จะไม่อนุญาตให้มีค่าว่าง</a:t>
            </a:r>
            <a:r>
              <a:rPr lang="en-US" dirty="0"/>
              <a:t>" </a:t>
            </a:r>
            <a:r>
              <a:rPr lang="en-US" dirty="0" err="1"/>
              <a:t>คือข้อมูลทุกตัวที่อยู่ในคีย์หลัก</a:t>
            </a:r>
            <a:r>
              <a:rPr lang="en-US" dirty="0"/>
              <a:t> </a:t>
            </a:r>
            <a:r>
              <a:rPr lang="en-US" dirty="0" err="1"/>
              <a:t>จะต้องอยู่ในขอบเขตของโดเมนที่กำหนดไว้เท่านั้น</a:t>
            </a:r>
            <a:r>
              <a:rPr lang="en-US" dirty="0"/>
              <a:t> </a:t>
            </a:r>
            <a:r>
              <a:rPr lang="en-US" dirty="0" err="1"/>
              <a:t>เช่น</a:t>
            </a:r>
            <a:r>
              <a:rPr lang="en-US" dirty="0"/>
              <a:t> </a:t>
            </a:r>
            <a:r>
              <a:rPr lang="en-US" dirty="0" err="1"/>
              <a:t>ให้รหัสลูกจ้างเป็นคีย์หลักของทีมพนักงานลูกจ้าง</a:t>
            </a:r>
            <a:r>
              <a:rPr lang="en-US" dirty="0"/>
              <a:t> </a:t>
            </a:r>
            <a:r>
              <a:rPr lang="en-US" dirty="0" err="1"/>
              <a:t>และกำหนดว่ารหัสนี้จะเป็นตัวเลขจำนวนบวกไม่เกิน</a:t>
            </a:r>
            <a:r>
              <a:rPr lang="en-US" dirty="0"/>
              <a:t> 4 </a:t>
            </a:r>
            <a:r>
              <a:rPr lang="en-US" dirty="0" err="1"/>
              <a:t>หลักและไม่ใช่ศูนย์</a:t>
            </a:r>
            <a:r>
              <a:rPr lang="en-US" dirty="0"/>
              <a:t> </a:t>
            </a:r>
            <a:r>
              <a:rPr lang="en-US" dirty="0" err="1"/>
              <a:t>ดังนั้น</a:t>
            </a:r>
            <a:r>
              <a:rPr lang="en-US" dirty="0"/>
              <a:t> </a:t>
            </a:r>
            <a:r>
              <a:rPr lang="en-US" dirty="0" err="1"/>
              <a:t>ถ้ามีรหัสลูกจ้างใหม่เข้ามาหารหัสลูกจ้าง</a:t>
            </a:r>
            <a:r>
              <a:rPr lang="en-US" dirty="0"/>
              <a:t> จะปล่อยเป็นค่าว่างไม่ได้และต้องระบุว่าบุ่วเป็นตัวเลขเฉพาะที่ไม่ใช้คืนอยู่ด้วย </a:t>
            </a:r>
            <a:r>
              <a:rPr lang="en-US" dirty="0" err="1"/>
              <a:t>จึงจะถูกต้องตามกฎเกณฑ์นี้</a:t>
            </a:r>
            <a:endParaRPr lang="en-US" dirty="0"/>
          </a:p>
          <a:p>
            <a:pPr marL="514350" lvl="0" indent="-514350">
              <a:buFont typeface="+mj-lt"/>
              <a:buAutoNum type="arabicPeriod"/>
            </a:pPr>
            <a:r>
              <a:rPr lang="en-US" dirty="0" err="1"/>
              <a:t>กฎความคงสภาพของการอ้างอิง</a:t>
            </a:r>
            <a:r>
              <a:rPr lang="en-US" dirty="0"/>
              <a:t> (Referential integrity rule)</a:t>
            </a:r>
            <a:br>
              <a:rPr lang="en-US" dirty="0"/>
            </a:br>
            <a:r>
              <a:rPr lang="en-US" dirty="0" err="1"/>
              <a:t>เมื่อมีการอ้างอิงจากคีย์แต่ละหนึ่งไปยังคีย์แต่ละหนึ่ง</a:t>
            </a:r>
            <a:r>
              <a:rPr lang="en-US" dirty="0"/>
              <a:t> </a:t>
            </a:r>
            <a:r>
              <a:rPr lang="en-US" dirty="0" err="1"/>
              <a:t>เราจะต้องประกันว่าข้อมูลในตารางที่</a:t>
            </a:r>
            <a:r>
              <a:rPr lang="en-US" dirty="0"/>
              <a:t> 2 </a:t>
            </a:r>
            <a:r>
              <a:rPr lang="en-US" dirty="0" err="1"/>
              <a:t>มีตัวตนเสมอ</a:t>
            </a:r>
            <a:endParaRPr lang="en-US" dirty="0"/>
          </a:p>
        </p:txBody>
      </p:sp>
    </p:spTree>
    <p:extLst>
      <p:ext uri="{BB962C8B-B14F-4D97-AF65-F5344CB8AC3E}">
        <p14:creationId xmlns:p14="http://schemas.microsoft.com/office/powerpoint/2010/main" val="525597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F1910-F5C8-FFAE-07EB-00A314CB484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623FACF-C672-48F7-C8FB-D3CB35FBD79C}"/>
              </a:ext>
            </a:extLst>
          </p:cNvPr>
          <p:cNvSpPr>
            <a:spLocks noGrp="1"/>
          </p:cNvSpPr>
          <p:nvPr>
            <p:ph type="title"/>
          </p:nvPr>
        </p:nvSpPr>
        <p:spPr/>
        <p:txBody>
          <a:bodyPr>
            <a:normAutofit/>
          </a:bodyPr>
          <a:lstStyle/>
          <a:p>
            <a:r>
              <a:rPr lang="en-US" dirty="0" err="1"/>
              <a:t>กฎข้อที่</a:t>
            </a:r>
            <a:r>
              <a:rPr lang="en-US" dirty="0"/>
              <a:t> 11 </a:t>
            </a:r>
            <a:r>
              <a:rPr lang="en-US" dirty="0" err="1"/>
              <a:t>ความเป็นอิสระของการกระจาย</a:t>
            </a:r>
            <a:r>
              <a:rPr lang="en-US" dirty="0"/>
              <a:t> (Distribution Independent)</a:t>
            </a:r>
          </a:p>
        </p:txBody>
      </p:sp>
      <p:sp>
        <p:nvSpPr>
          <p:cNvPr id="5" name="Content Placeholder 4">
            <a:extLst>
              <a:ext uri="{FF2B5EF4-FFF2-40B4-BE49-F238E27FC236}">
                <a16:creationId xmlns:a16="http://schemas.microsoft.com/office/drawing/2014/main" id="{7E781D25-2F9A-0E21-468E-91AECE68B58C}"/>
              </a:ext>
            </a:extLst>
          </p:cNvPr>
          <p:cNvSpPr>
            <a:spLocks noGrp="1"/>
          </p:cNvSpPr>
          <p:nvPr>
            <p:ph idx="1"/>
          </p:nvPr>
        </p:nvSpPr>
        <p:spPr/>
        <p:txBody>
          <a:bodyPr>
            <a:normAutofit/>
          </a:bodyPr>
          <a:lstStyle/>
          <a:p>
            <a:r>
              <a:rPr lang="en-US" dirty="0" err="1"/>
              <a:t>ผู้ใช้ไม่ต้องสนใจว่าข้อมูลจะจัดเก็บอยู่ส่วนใด</a:t>
            </a:r>
            <a:r>
              <a:rPr lang="en-US" dirty="0"/>
              <a:t> </a:t>
            </a:r>
            <a:r>
              <a:rPr lang="en-US" dirty="0" err="1"/>
              <a:t>หรือใยกย้ายไปยังคอมพิวเตอร์เครื่องอื่นที่เชื่อมโยงกันเป็นระบบ</a:t>
            </a:r>
            <a:endParaRPr lang="en-US" dirty="0"/>
          </a:p>
        </p:txBody>
      </p:sp>
    </p:spTree>
    <p:extLst>
      <p:ext uri="{BB962C8B-B14F-4D97-AF65-F5344CB8AC3E}">
        <p14:creationId xmlns:p14="http://schemas.microsoft.com/office/powerpoint/2010/main" val="17883522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C4E3-45CF-BA4E-4958-8E65EC2F1E8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E003A48-E9EA-AB85-6336-32F898304084}"/>
              </a:ext>
            </a:extLst>
          </p:cNvPr>
          <p:cNvSpPr>
            <a:spLocks noGrp="1"/>
          </p:cNvSpPr>
          <p:nvPr>
            <p:ph type="title"/>
          </p:nvPr>
        </p:nvSpPr>
        <p:spPr/>
        <p:txBody>
          <a:bodyPr>
            <a:normAutofit/>
          </a:bodyPr>
          <a:lstStyle/>
          <a:p>
            <a:r>
              <a:rPr lang="en-US" dirty="0" err="1"/>
              <a:t>กฎข้อที่</a:t>
            </a:r>
            <a:r>
              <a:rPr lang="en-US" dirty="0"/>
              <a:t> 12 </a:t>
            </a:r>
            <a:r>
              <a:rPr lang="en-US" dirty="0" err="1"/>
              <a:t>การไม่ยอมให้ภาษาอื่นทำลายกฎ</a:t>
            </a:r>
            <a:r>
              <a:rPr lang="en-US" dirty="0"/>
              <a:t> (</a:t>
            </a:r>
            <a:r>
              <a:rPr lang="en-US" dirty="0" err="1"/>
              <a:t>Nonsubversion</a:t>
            </a:r>
            <a:r>
              <a:rPr lang="en-US" dirty="0"/>
              <a:t> Rule)</a:t>
            </a:r>
          </a:p>
        </p:txBody>
      </p:sp>
      <p:sp>
        <p:nvSpPr>
          <p:cNvPr id="5" name="Content Placeholder 4">
            <a:extLst>
              <a:ext uri="{FF2B5EF4-FFF2-40B4-BE49-F238E27FC236}">
                <a16:creationId xmlns:a16="http://schemas.microsoft.com/office/drawing/2014/main" id="{5388B96C-3365-942A-F4EC-93E73099AC53}"/>
              </a:ext>
            </a:extLst>
          </p:cNvPr>
          <p:cNvSpPr>
            <a:spLocks noGrp="1"/>
          </p:cNvSpPr>
          <p:nvPr>
            <p:ph idx="1"/>
          </p:nvPr>
        </p:nvSpPr>
        <p:spPr/>
        <p:txBody>
          <a:bodyPr>
            <a:normAutofit/>
          </a:bodyPr>
          <a:lstStyle/>
          <a:p>
            <a:r>
              <a:rPr lang="en-US" dirty="0" err="1"/>
              <a:t>ระบบจัดการฐานข้อมูล</a:t>
            </a:r>
            <a:r>
              <a:rPr lang="en-US" dirty="0"/>
              <a:t> </a:t>
            </a:r>
            <a:r>
              <a:rPr lang="en-US" dirty="0" err="1"/>
              <a:t>จะไม่ยอมให้ภาษาอื่นใด</a:t>
            </a:r>
            <a:r>
              <a:rPr lang="en-US" dirty="0"/>
              <a:t> ๆ </a:t>
            </a:r>
            <a:r>
              <a:rPr lang="en-US" dirty="0" err="1"/>
              <a:t>ไม่ว่าเป็นภาษาต่ำ</a:t>
            </a:r>
            <a:r>
              <a:rPr lang="en-US" dirty="0"/>
              <a:t> </a:t>
            </a:r>
            <a:r>
              <a:rPr lang="en-US" dirty="0" err="1"/>
              <a:t>ก็ตามสามารถทำลายกฎต่าง</a:t>
            </a:r>
            <a:r>
              <a:rPr lang="en-US" dirty="0"/>
              <a:t> ๆ </a:t>
            </a:r>
            <a:r>
              <a:rPr lang="en-US" dirty="0" err="1"/>
              <a:t>ที่กำหนดไว้ในระบบฐานข้อมูล</a:t>
            </a:r>
            <a:r>
              <a:rPr lang="en-US" dirty="0"/>
              <a:t> </a:t>
            </a:r>
            <a:r>
              <a:rPr lang="en-US" dirty="0" err="1"/>
              <a:t>โดยเฉพาะกฎเกณฑ์ความคงสภาพของข้อมูล</a:t>
            </a:r>
            <a:r>
              <a:rPr lang="en-US" dirty="0"/>
              <a:t> (Integrity constraints)</a:t>
            </a:r>
          </a:p>
        </p:txBody>
      </p:sp>
    </p:spTree>
    <p:extLst>
      <p:ext uri="{BB962C8B-B14F-4D97-AF65-F5344CB8AC3E}">
        <p14:creationId xmlns:p14="http://schemas.microsoft.com/office/powerpoint/2010/main" val="22324679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88BBC-B4CF-C6BD-EC80-D73725B96370}"/>
              </a:ext>
            </a:extLst>
          </p:cNvPr>
          <p:cNvSpPr>
            <a:spLocks noGrp="1"/>
          </p:cNvSpPr>
          <p:nvPr>
            <p:ph type="title"/>
          </p:nvPr>
        </p:nvSpPr>
        <p:spPr/>
        <p:txBody>
          <a:bodyPr>
            <a:normAutofit/>
          </a:bodyPr>
          <a:lstStyle/>
          <a:p>
            <a:r>
              <a:rPr lang="th-TH" sz="2800" dirty="0">
                <a:highlight>
                  <a:srgbClr val="FFFF00"/>
                </a:highlight>
              </a:rPr>
              <a:t>กฎของคอดด์ </a:t>
            </a:r>
            <a:r>
              <a:rPr lang="en-US" sz="2800" dirty="0">
                <a:highlight>
                  <a:srgbClr val="FFFF00"/>
                </a:highlight>
              </a:rPr>
              <a:t>(Code’s 12 Relationship Database Rules)</a:t>
            </a:r>
          </a:p>
        </p:txBody>
      </p:sp>
      <p:pic>
        <p:nvPicPr>
          <p:cNvPr id="15" name="Picture 14">
            <a:extLst>
              <a:ext uri="{FF2B5EF4-FFF2-40B4-BE49-F238E27FC236}">
                <a16:creationId xmlns:a16="http://schemas.microsoft.com/office/drawing/2014/main" id="{2DD655FD-7681-294E-B115-D3F59745FB0F}"/>
              </a:ext>
            </a:extLst>
          </p:cNvPr>
          <p:cNvPicPr>
            <a:picLocks noChangeAspect="1"/>
          </p:cNvPicPr>
          <p:nvPr/>
        </p:nvPicPr>
        <p:blipFill>
          <a:blip r:embed="rId2"/>
          <a:stretch>
            <a:fillRect/>
          </a:stretch>
        </p:blipFill>
        <p:spPr>
          <a:xfrm>
            <a:off x="1953123" y="1524000"/>
            <a:ext cx="8248152" cy="1219200"/>
          </a:xfrm>
          <a:prstGeom prst="rect">
            <a:avLst/>
          </a:prstGeom>
        </p:spPr>
      </p:pic>
      <p:pic>
        <p:nvPicPr>
          <p:cNvPr id="17" name="Picture 16">
            <a:extLst>
              <a:ext uri="{FF2B5EF4-FFF2-40B4-BE49-F238E27FC236}">
                <a16:creationId xmlns:a16="http://schemas.microsoft.com/office/drawing/2014/main" id="{7A6DF508-4C4B-A752-7545-250F6804515D}"/>
              </a:ext>
            </a:extLst>
          </p:cNvPr>
          <p:cNvPicPr>
            <a:picLocks noChangeAspect="1"/>
          </p:cNvPicPr>
          <p:nvPr/>
        </p:nvPicPr>
        <p:blipFill>
          <a:blip r:embed="rId3"/>
          <a:stretch>
            <a:fillRect/>
          </a:stretch>
        </p:blipFill>
        <p:spPr>
          <a:xfrm>
            <a:off x="1981200" y="3352801"/>
            <a:ext cx="7924800" cy="943671"/>
          </a:xfrm>
          <a:prstGeom prst="rect">
            <a:avLst/>
          </a:prstGeom>
        </p:spPr>
      </p:pic>
      <p:pic>
        <p:nvPicPr>
          <p:cNvPr id="19" name="Picture 18">
            <a:extLst>
              <a:ext uri="{FF2B5EF4-FFF2-40B4-BE49-F238E27FC236}">
                <a16:creationId xmlns:a16="http://schemas.microsoft.com/office/drawing/2014/main" id="{C4403002-AB4B-F4E5-279D-DCB795523C80}"/>
              </a:ext>
            </a:extLst>
          </p:cNvPr>
          <p:cNvPicPr>
            <a:picLocks noChangeAspect="1"/>
          </p:cNvPicPr>
          <p:nvPr/>
        </p:nvPicPr>
        <p:blipFill>
          <a:blip r:embed="rId4"/>
          <a:stretch>
            <a:fillRect/>
          </a:stretch>
        </p:blipFill>
        <p:spPr>
          <a:xfrm>
            <a:off x="1924549" y="4572000"/>
            <a:ext cx="7487695" cy="1438476"/>
          </a:xfrm>
          <a:prstGeom prst="rect">
            <a:avLst/>
          </a:prstGeom>
        </p:spPr>
      </p:pic>
    </p:spTree>
    <p:extLst>
      <p:ext uri="{BB962C8B-B14F-4D97-AF65-F5344CB8AC3E}">
        <p14:creationId xmlns:p14="http://schemas.microsoft.com/office/powerpoint/2010/main" val="20751077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88BBC-B4CF-C6BD-EC80-D73725B96370}"/>
              </a:ext>
            </a:extLst>
          </p:cNvPr>
          <p:cNvSpPr>
            <a:spLocks noGrp="1"/>
          </p:cNvSpPr>
          <p:nvPr>
            <p:ph type="title"/>
          </p:nvPr>
        </p:nvSpPr>
        <p:spPr/>
        <p:txBody>
          <a:bodyPr>
            <a:normAutofit/>
          </a:bodyPr>
          <a:lstStyle/>
          <a:p>
            <a:r>
              <a:rPr lang="th-TH" sz="2800" dirty="0">
                <a:highlight>
                  <a:srgbClr val="FFFF00"/>
                </a:highlight>
              </a:rPr>
              <a:t>กฎของคอดด์ </a:t>
            </a:r>
            <a:r>
              <a:rPr lang="en-US" sz="2800" dirty="0">
                <a:highlight>
                  <a:srgbClr val="FFFF00"/>
                </a:highlight>
              </a:rPr>
              <a:t>(Code’s 12 Relationship Database Rules)</a:t>
            </a:r>
          </a:p>
        </p:txBody>
      </p:sp>
      <p:pic>
        <p:nvPicPr>
          <p:cNvPr id="6" name="Picture 5">
            <a:extLst>
              <a:ext uri="{FF2B5EF4-FFF2-40B4-BE49-F238E27FC236}">
                <a16:creationId xmlns:a16="http://schemas.microsoft.com/office/drawing/2014/main" id="{BF55C6DE-617E-1CE0-89C5-F64C1BAA7C35}"/>
              </a:ext>
            </a:extLst>
          </p:cNvPr>
          <p:cNvPicPr>
            <a:picLocks noChangeAspect="1"/>
          </p:cNvPicPr>
          <p:nvPr/>
        </p:nvPicPr>
        <p:blipFill>
          <a:blip r:embed="rId2"/>
          <a:stretch>
            <a:fillRect/>
          </a:stretch>
        </p:blipFill>
        <p:spPr>
          <a:xfrm>
            <a:off x="2514601" y="1600200"/>
            <a:ext cx="6897063" cy="1381318"/>
          </a:xfrm>
          <a:prstGeom prst="rect">
            <a:avLst/>
          </a:prstGeom>
        </p:spPr>
      </p:pic>
      <p:pic>
        <p:nvPicPr>
          <p:cNvPr id="8" name="Picture 7">
            <a:extLst>
              <a:ext uri="{FF2B5EF4-FFF2-40B4-BE49-F238E27FC236}">
                <a16:creationId xmlns:a16="http://schemas.microsoft.com/office/drawing/2014/main" id="{9EAED670-2FC2-F3F8-1CBA-62834F087293}"/>
              </a:ext>
            </a:extLst>
          </p:cNvPr>
          <p:cNvPicPr>
            <a:picLocks noChangeAspect="1"/>
          </p:cNvPicPr>
          <p:nvPr/>
        </p:nvPicPr>
        <p:blipFill>
          <a:blip r:embed="rId3"/>
          <a:stretch>
            <a:fillRect/>
          </a:stretch>
        </p:blipFill>
        <p:spPr>
          <a:xfrm>
            <a:off x="2404548" y="3176298"/>
            <a:ext cx="7382905" cy="1400370"/>
          </a:xfrm>
          <a:prstGeom prst="rect">
            <a:avLst/>
          </a:prstGeom>
        </p:spPr>
      </p:pic>
      <p:pic>
        <p:nvPicPr>
          <p:cNvPr id="10" name="Picture 9">
            <a:extLst>
              <a:ext uri="{FF2B5EF4-FFF2-40B4-BE49-F238E27FC236}">
                <a16:creationId xmlns:a16="http://schemas.microsoft.com/office/drawing/2014/main" id="{82F58E52-7E5B-A88D-CCE2-2F0F7CE3C967}"/>
              </a:ext>
            </a:extLst>
          </p:cNvPr>
          <p:cNvPicPr>
            <a:picLocks noChangeAspect="1"/>
          </p:cNvPicPr>
          <p:nvPr/>
        </p:nvPicPr>
        <p:blipFill>
          <a:blip r:embed="rId4"/>
          <a:stretch>
            <a:fillRect/>
          </a:stretch>
        </p:blipFill>
        <p:spPr>
          <a:xfrm>
            <a:off x="2838492" y="4419601"/>
            <a:ext cx="6601746" cy="1238423"/>
          </a:xfrm>
          <a:prstGeom prst="rect">
            <a:avLst/>
          </a:prstGeom>
        </p:spPr>
      </p:pic>
    </p:spTree>
    <p:extLst>
      <p:ext uri="{BB962C8B-B14F-4D97-AF65-F5344CB8AC3E}">
        <p14:creationId xmlns:p14="http://schemas.microsoft.com/office/powerpoint/2010/main" val="22056934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88BBC-B4CF-C6BD-EC80-D73725B96370}"/>
              </a:ext>
            </a:extLst>
          </p:cNvPr>
          <p:cNvSpPr>
            <a:spLocks noGrp="1"/>
          </p:cNvSpPr>
          <p:nvPr>
            <p:ph type="title"/>
          </p:nvPr>
        </p:nvSpPr>
        <p:spPr/>
        <p:txBody>
          <a:bodyPr>
            <a:normAutofit/>
          </a:bodyPr>
          <a:lstStyle/>
          <a:p>
            <a:r>
              <a:rPr lang="th-TH" sz="2800" dirty="0">
                <a:highlight>
                  <a:srgbClr val="FFFF00"/>
                </a:highlight>
              </a:rPr>
              <a:t>กฎของคอดด์ </a:t>
            </a:r>
            <a:r>
              <a:rPr lang="en-US" sz="2800" dirty="0">
                <a:highlight>
                  <a:srgbClr val="FFFF00"/>
                </a:highlight>
              </a:rPr>
              <a:t>(Code’s 12 Relationship Database Rules)</a:t>
            </a:r>
          </a:p>
        </p:txBody>
      </p:sp>
      <p:pic>
        <p:nvPicPr>
          <p:cNvPr id="4" name="Picture 3">
            <a:extLst>
              <a:ext uri="{FF2B5EF4-FFF2-40B4-BE49-F238E27FC236}">
                <a16:creationId xmlns:a16="http://schemas.microsoft.com/office/drawing/2014/main" id="{BC088BD7-6A6F-C974-2E79-30285FF8AEAB}"/>
              </a:ext>
            </a:extLst>
          </p:cNvPr>
          <p:cNvPicPr>
            <a:picLocks noChangeAspect="1"/>
          </p:cNvPicPr>
          <p:nvPr/>
        </p:nvPicPr>
        <p:blipFill>
          <a:blip r:embed="rId2"/>
          <a:stretch>
            <a:fillRect/>
          </a:stretch>
        </p:blipFill>
        <p:spPr>
          <a:xfrm>
            <a:off x="2209800" y="1752601"/>
            <a:ext cx="7162800" cy="782657"/>
          </a:xfrm>
          <a:prstGeom prst="rect">
            <a:avLst/>
          </a:prstGeom>
        </p:spPr>
      </p:pic>
      <p:pic>
        <p:nvPicPr>
          <p:cNvPr id="7" name="Picture 6">
            <a:extLst>
              <a:ext uri="{FF2B5EF4-FFF2-40B4-BE49-F238E27FC236}">
                <a16:creationId xmlns:a16="http://schemas.microsoft.com/office/drawing/2014/main" id="{8F957C73-78AC-2748-30DC-50E69655CB2A}"/>
              </a:ext>
            </a:extLst>
          </p:cNvPr>
          <p:cNvPicPr>
            <a:picLocks noChangeAspect="1"/>
          </p:cNvPicPr>
          <p:nvPr/>
        </p:nvPicPr>
        <p:blipFill>
          <a:blip r:embed="rId3"/>
          <a:stretch>
            <a:fillRect/>
          </a:stretch>
        </p:blipFill>
        <p:spPr>
          <a:xfrm>
            <a:off x="2209800" y="3021117"/>
            <a:ext cx="8360228" cy="990600"/>
          </a:xfrm>
          <a:prstGeom prst="rect">
            <a:avLst/>
          </a:prstGeom>
        </p:spPr>
      </p:pic>
      <p:pic>
        <p:nvPicPr>
          <p:cNvPr id="11" name="Picture 10">
            <a:extLst>
              <a:ext uri="{FF2B5EF4-FFF2-40B4-BE49-F238E27FC236}">
                <a16:creationId xmlns:a16="http://schemas.microsoft.com/office/drawing/2014/main" id="{6C5541A1-568D-8C05-B0BC-A475B038F0F3}"/>
              </a:ext>
            </a:extLst>
          </p:cNvPr>
          <p:cNvPicPr>
            <a:picLocks noChangeAspect="1"/>
          </p:cNvPicPr>
          <p:nvPr/>
        </p:nvPicPr>
        <p:blipFill>
          <a:blip r:embed="rId4"/>
          <a:stretch>
            <a:fillRect/>
          </a:stretch>
        </p:blipFill>
        <p:spPr>
          <a:xfrm>
            <a:off x="2286000" y="4322744"/>
            <a:ext cx="8072335" cy="990600"/>
          </a:xfrm>
          <a:prstGeom prst="rect">
            <a:avLst/>
          </a:prstGeom>
        </p:spPr>
      </p:pic>
    </p:spTree>
    <p:extLst>
      <p:ext uri="{BB962C8B-B14F-4D97-AF65-F5344CB8AC3E}">
        <p14:creationId xmlns:p14="http://schemas.microsoft.com/office/powerpoint/2010/main" val="89566516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88BBC-B4CF-C6BD-EC80-D73725B96370}"/>
              </a:ext>
            </a:extLst>
          </p:cNvPr>
          <p:cNvSpPr>
            <a:spLocks noGrp="1"/>
          </p:cNvSpPr>
          <p:nvPr>
            <p:ph type="title"/>
          </p:nvPr>
        </p:nvSpPr>
        <p:spPr/>
        <p:txBody>
          <a:bodyPr>
            <a:normAutofit/>
          </a:bodyPr>
          <a:lstStyle/>
          <a:p>
            <a:r>
              <a:rPr lang="th-TH" sz="2800" dirty="0">
                <a:highlight>
                  <a:srgbClr val="FFFF00"/>
                </a:highlight>
              </a:rPr>
              <a:t>กฎของคอดด์ </a:t>
            </a:r>
            <a:r>
              <a:rPr lang="en-US" sz="2800" dirty="0">
                <a:highlight>
                  <a:srgbClr val="FFFF00"/>
                </a:highlight>
              </a:rPr>
              <a:t>(Code’s 12 Relationship Database Rules)</a:t>
            </a:r>
          </a:p>
        </p:txBody>
      </p:sp>
      <p:pic>
        <p:nvPicPr>
          <p:cNvPr id="5" name="Picture 4">
            <a:extLst>
              <a:ext uri="{FF2B5EF4-FFF2-40B4-BE49-F238E27FC236}">
                <a16:creationId xmlns:a16="http://schemas.microsoft.com/office/drawing/2014/main" id="{B2E9F0BD-D1B0-3AD5-9D57-22376BE6F2ED}"/>
              </a:ext>
            </a:extLst>
          </p:cNvPr>
          <p:cNvPicPr>
            <a:picLocks noChangeAspect="1"/>
          </p:cNvPicPr>
          <p:nvPr/>
        </p:nvPicPr>
        <p:blipFill>
          <a:blip r:embed="rId2"/>
          <a:stretch>
            <a:fillRect/>
          </a:stretch>
        </p:blipFill>
        <p:spPr>
          <a:xfrm>
            <a:off x="1772651" y="1676400"/>
            <a:ext cx="8646698" cy="1066800"/>
          </a:xfrm>
          <a:prstGeom prst="rect">
            <a:avLst/>
          </a:prstGeom>
        </p:spPr>
      </p:pic>
      <p:pic>
        <p:nvPicPr>
          <p:cNvPr id="8" name="Picture 7">
            <a:extLst>
              <a:ext uri="{FF2B5EF4-FFF2-40B4-BE49-F238E27FC236}">
                <a16:creationId xmlns:a16="http://schemas.microsoft.com/office/drawing/2014/main" id="{E2F0DAAD-12CB-E3EA-573C-4268333BE0E7}"/>
              </a:ext>
            </a:extLst>
          </p:cNvPr>
          <p:cNvPicPr>
            <a:picLocks noChangeAspect="1"/>
          </p:cNvPicPr>
          <p:nvPr/>
        </p:nvPicPr>
        <p:blipFill>
          <a:blip r:embed="rId3"/>
          <a:stretch>
            <a:fillRect/>
          </a:stretch>
        </p:blipFill>
        <p:spPr>
          <a:xfrm>
            <a:off x="1772651" y="3001962"/>
            <a:ext cx="8301938" cy="1722438"/>
          </a:xfrm>
          <a:prstGeom prst="rect">
            <a:avLst/>
          </a:prstGeom>
        </p:spPr>
      </p:pic>
      <p:sp>
        <p:nvSpPr>
          <p:cNvPr id="10" name="TextBox 9">
            <a:extLst>
              <a:ext uri="{FF2B5EF4-FFF2-40B4-BE49-F238E27FC236}">
                <a16:creationId xmlns:a16="http://schemas.microsoft.com/office/drawing/2014/main" id="{23709399-D11F-57ED-A925-86CB50862FE0}"/>
              </a:ext>
            </a:extLst>
          </p:cNvPr>
          <p:cNvSpPr txBox="1"/>
          <p:nvPr/>
        </p:nvSpPr>
        <p:spPr>
          <a:xfrm>
            <a:off x="6705600" y="4355068"/>
            <a:ext cx="3505200" cy="369332"/>
          </a:xfrm>
          <a:prstGeom prst="rect">
            <a:avLst/>
          </a:prstGeom>
          <a:noFill/>
        </p:spPr>
        <p:txBody>
          <a:bodyPr wrap="square">
            <a:spAutoFit/>
          </a:bodyPr>
          <a:lstStyle/>
          <a:p>
            <a:r>
              <a:rPr lang="th-TH" dirty="0"/>
              <a:t>ซึ่งไม่ใช่ถูกกําหนดขึ้นจากระดับ ประยุกต</a:t>
            </a:r>
            <a:endParaRPr lang="en-US" dirty="0"/>
          </a:p>
        </p:txBody>
      </p:sp>
      <p:pic>
        <p:nvPicPr>
          <p:cNvPr id="13" name="Picture 12">
            <a:extLst>
              <a:ext uri="{FF2B5EF4-FFF2-40B4-BE49-F238E27FC236}">
                <a16:creationId xmlns:a16="http://schemas.microsoft.com/office/drawing/2014/main" id="{5741D920-8AD0-43B9-8EA4-41C117AF3B25}"/>
              </a:ext>
            </a:extLst>
          </p:cNvPr>
          <p:cNvPicPr>
            <a:picLocks noChangeAspect="1"/>
          </p:cNvPicPr>
          <p:nvPr/>
        </p:nvPicPr>
        <p:blipFill>
          <a:blip r:embed="rId4"/>
          <a:stretch>
            <a:fillRect/>
          </a:stretch>
        </p:blipFill>
        <p:spPr>
          <a:xfrm>
            <a:off x="4114800" y="4695825"/>
            <a:ext cx="5614126" cy="2110682"/>
          </a:xfrm>
          <a:prstGeom prst="rect">
            <a:avLst/>
          </a:prstGeom>
        </p:spPr>
      </p:pic>
    </p:spTree>
    <p:extLst>
      <p:ext uri="{BB962C8B-B14F-4D97-AF65-F5344CB8AC3E}">
        <p14:creationId xmlns:p14="http://schemas.microsoft.com/office/powerpoint/2010/main" val="33449706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88BBC-B4CF-C6BD-EC80-D73725B96370}"/>
              </a:ext>
            </a:extLst>
          </p:cNvPr>
          <p:cNvSpPr>
            <a:spLocks noGrp="1"/>
          </p:cNvSpPr>
          <p:nvPr>
            <p:ph type="title"/>
          </p:nvPr>
        </p:nvSpPr>
        <p:spPr/>
        <p:txBody>
          <a:bodyPr>
            <a:normAutofit/>
          </a:bodyPr>
          <a:lstStyle/>
          <a:p>
            <a:r>
              <a:rPr lang="th-TH" sz="2800" dirty="0">
                <a:highlight>
                  <a:srgbClr val="FFFF00"/>
                </a:highlight>
              </a:rPr>
              <a:t>กฎของคอดด์ </a:t>
            </a:r>
            <a:r>
              <a:rPr lang="en-US" sz="2800" dirty="0">
                <a:highlight>
                  <a:srgbClr val="FFFF00"/>
                </a:highlight>
              </a:rPr>
              <a:t>(Code’s 12 Relationship Database Rules)</a:t>
            </a:r>
          </a:p>
        </p:txBody>
      </p:sp>
      <p:pic>
        <p:nvPicPr>
          <p:cNvPr id="4" name="Picture 3">
            <a:extLst>
              <a:ext uri="{FF2B5EF4-FFF2-40B4-BE49-F238E27FC236}">
                <a16:creationId xmlns:a16="http://schemas.microsoft.com/office/drawing/2014/main" id="{005E6C66-61E6-AB65-81A1-B67CA6CA91CA}"/>
              </a:ext>
            </a:extLst>
          </p:cNvPr>
          <p:cNvPicPr>
            <a:picLocks noChangeAspect="1"/>
          </p:cNvPicPr>
          <p:nvPr/>
        </p:nvPicPr>
        <p:blipFill>
          <a:blip r:embed="rId2"/>
          <a:stretch>
            <a:fillRect/>
          </a:stretch>
        </p:blipFill>
        <p:spPr>
          <a:xfrm>
            <a:off x="1956542" y="2057400"/>
            <a:ext cx="8482858" cy="762000"/>
          </a:xfrm>
          <a:prstGeom prst="rect">
            <a:avLst/>
          </a:prstGeom>
        </p:spPr>
      </p:pic>
      <p:pic>
        <p:nvPicPr>
          <p:cNvPr id="7" name="Picture 6">
            <a:extLst>
              <a:ext uri="{FF2B5EF4-FFF2-40B4-BE49-F238E27FC236}">
                <a16:creationId xmlns:a16="http://schemas.microsoft.com/office/drawing/2014/main" id="{CBD39381-05B1-FB06-29EE-C56609626547}"/>
              </a:ext>
            </a:extLst>
          </p:cNvPr>
          <p:cNvPicPr>
            <a:picLocks noChangeAspect="1"/>
          </p:cNvPicPr>
          <p:nvPr/>
        </p:nvPicPr>
        <p:blipFill>
          <a:blip r:embed="rId3"/>
          <a:stretch>
            <a:fillRect/>
          </a:stretch>
        </p:blipFill>
        <p:spPr>
          <a:xfrm>
            <a:off x="1828801" y="3352800"/>
            <a:ext cx="7945435" cy="990600"/>
          </a:xfrm>
          <a:prstGeom prst="rect">
            <a:avLst/>
          </a:prstGeom>
        </p:spPr>
      </p:pic>
    </p:spTree>
    <p:extLst>
      <p:ext uri="{BB962C8B-B14F-4D97-AF65-F5344CB8AC3E}">
        <p14:creationId xmlns:p14="http://schemas.microsoft.com/office/powerpoint/2010/main" val="28056525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1168</TotalTime>
  <Words>5579</Words>
  <Application>Microsoft Office PowerPoint</Application>
  <PresentationFormat>Widescreen</PresentationFormat>
  <Paragraphs>442</Paragraphs>
  <Slides>47</Slides>
  <Notes>20</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47</vt:i4>
      </vt:variant>
    </vt:vector>
  </HeadingPairs>
  <TitlesOfParts>
    <vt:vector size="56" baseType="lpstr">
      <vt:lpstr>SimSun</vt:lpstr>
      <vt:lpstr>Aptos</vt:lpstr>
      <vt:lpstr>Aptos Display</vt:lpstr>
      <vt:lpstr>Arial</vt:lpstr>
      <vt:lpstr>Arial Unicode MS</vt:lpstr>
      <vt:lpstr>Calibri</vt:lpstr>
      <vt:lpstr>Courier New</vt:lpstr>
      <vt:lpstr>Wingdings</vt:lpstr>
      <vt:lpstr>Office Theme</vt:lpstr>
      <vt:lpstr>Database</vt:lpstr>
      <vt:lpstr>The Relational Data Model Concepts</vt:lpstr>
      <vt:lpstr>The Relational Data Model Concepts</vt:lpstr>
      <vt:lpstr>The Relational Data Model Concepts</vt:lpstr>
      <vt:lpstr>The Relational Data Model Concepts</vt:lpstr>
      <vt:lpstr>Relational Model Constraints</vt:lpstr>
      <vt:lpstr>Relational Model Constraints</vt:lpstr>
      <vt:lpstr>Relational Model Constraints</vt:lpstr>
      <vt:lpstr>A Referential Integrity Constraint</vt:lpstr>
      <vt:lpstr>ความสำคัญของ A Referential Integrity Constraint</vt:lpstr>
      <vt:lpstr>การเกิด "orphan" records </vt:lpstr>
      <vt:lpstr>การเกิด "orphan" records </vt:lpstr>
      <vt:lpstr>วิธีการป้องกัน</vt:lpstr>
      <vt:lpstr>กระบวนการป้องกัน</vt:lpstr>
      <vt:lpstr>PowerPoint Presentation</vt:lpstr>
      <vt:lpstr>REFERENTIAL INTEGRITY OPTIONS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กฎของคอดด์ (Code's 12 Relationship Database Rules)</vt:lpstr>
      <vt:lpstr>กฎข้อที่ 1 กฎข่าวสาร (Information Rule)</vt:lpstr>
      <vt:lpstr>กฎข้อที่ 2 กฎการประกันการเข้าถึงข้อมูล (Guaranteed Access Rule)</vt:lpstr>
      <vt:lpstr>กฎข้อที่ 3 วิธีแสดงข้อมูลบางรายการที่ยังไม่พร้อมหรือยังไม่มีค่า (Systematic Treatment of Null Values)</vt:lpstr>
      <vt:lpstr>กฎข้อที่ 4. กฎการออนไลน์แคตาล็อกแบบไดนามิกที่ต้องอยู่บนพื้นฐานของแบบจำลองเชิงสัมพันธ์ (Dynamic On-Line Catalog Based on the Relational Model)</vt:lpstr>
      <vt:lpstr>กฎข้อที่ 5 กฎการใช้ภาษา (Comprehensive Data Sublanguage Rule)</vt:lpstr>
      <vt:lpstr>กฎข้อที่ 6. กฎการปรับปรุงวิว (View Updating)</vt:lpstr>
      <vt:lpstr>กฎข้อที่ 7 ความสามารถในการเพิ่ม ลด และแก้ไขข้อมูล (High-level Insert, Update and Delete)</vt:lpstr>
      <vt:lpstr>กฎข้อที่ 8 ความเป็นอิสระของข้อมูลในระดับกายภาพ (Physical Data Independent)</vt:lpstr>
      <vt:lpstr>กฎข้อที่ 9 ความเป็นอิสระของข้อมูลในระดับตรรกะ (Logic Data Independent)</vt:lpstr>
      <vt:lpstr>กฎข้อที่ 10 ความเป็นอิสระของ Integrity (Integrity Independent)</vt:lpstr>
      <vt:lpstr>กฎข้อที่ 11 ความเป็นอิสระของการกระจาย (Distribution Independent)</vt:lpstr>
      <vt:lpstr>กฎข้อที่ 12 การไม่ยอมให้ภาษาอื่นทำลายกฎ (Nonsubversion Rule)</vt:lpstr>
      <vt:lpstr>กฎของคอดด์ (Code’s 12 Relationship Database Rules)</vt:lpstr>
      <vt:lpstr>กฎของคอดด์ (Code’s 12 Relationship Database Rules)</vt:lpstr>
      <vt:lpstr>กฎของคอดด์ (Code’s 12 Relationship Database Rules)</vt:lpstr>
      <vt:lpstr>กฎของคอดด์ (Code’s 12 Relationship Database Rules)</vt:lpstr>
      <vt:lpstr>กฎของคอดด์ (Code’s 12 Relationship Database Rules)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Krit Chomaitong</dc:creator>
  <cp:lastModifiedBy>Krit Chomaitong</cp:lastModifiedBy>
  <cp:revision>27</cp:revision>
  <dcterms:created xsi:type="dcterms:W3CDTF">2025-12-03T07:45:12Z</dcterms:created>
  <dcterms:modified xsi:type="dcterms:W3CDTF">2026-08-25T17:46:49Z</dcterms:modified>
</cp:coreProperties>
</file>